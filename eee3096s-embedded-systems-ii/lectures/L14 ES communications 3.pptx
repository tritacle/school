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0" r:id="rId2"/>
    <p:sldId id="329" r:id="rId3"/>
    <p:sldId id="317" r:id="rId4"/>
    <p:sldId id="331" r:id="rId5"/>
    <p:sldId id="344" r:id="rId6"/>
    <p:sldId id="345" r:id="rId7"/>
    <p:sldId id="346" r:id="rId8"/>
    <p:sldId id="373" r:id="rId9"/>
    <p:sldId id="347" r:id="rId10"/>
    <p:sldId id="372" r:id="rId11"/>
    <p:sldId id="350" r:id="rId12"/>
    <p:sldId id="351" r:id="rId13"/>
    <p:sldId id="354" r:id="rId14"/>
    <p:sldId id="356" r:id="rId15"/>
    <p:sldId id="357" r:id="rId16"/>
    <p:sldId id="358" r:id="rId17"/>
    <p:sldId id="359" r:id="rId18"/>
    <p:sldId id="360" r:id="rId19"/>
    <p:sldId id="361" r:id="rId20"/>
    <p:sldId id="362" r:id="rId21"/>
    <p:sldId id="364" r:id="rId22"/>
    <p:sldId id="365" r:id="rId23"/>
    <p:sldId id="366" r:id="rId24"/>
    <p:sldId id="367" r:id="rId25"/>
    <p:sldId id="368" r:id="rId26"/>
    <p:sldId id="369" r:id="rId27"/>
    <p:sldId id="370" r:id="rId28"/>
    <p:sldId id="371" r:id="rId29"/>
    <p:sldId id="353" r:id="rId30"/>
    <p:sldId id="35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5A06"/>
    <a:srgbClr val="006600"/>
    <a:srgbClr val="009900"/>
    <a:srgbClr val="002060"/>
    <a:srgbClr val="843F06"/>
    <a:srgbClr val="FFFF99"/>
    <a:srgbClr val="7ABC32"/>
    <a:srgbClr val="FF6600"/>
    <a:srgbClr val="A56303"/>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EC8CA-F78F-4803-BC7F-314E5359DB31}" v="12" dt="2025-09-15T21:25:02.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277" autoAdjust="0"/>
  </p:normalViewPr>
  <p:slideViewPr>
    <p:cSldViewPr>
      <p:cViewPr varScale="1">
        <p:scale>
          <a:sx n="78" d="100"/>
          <a:sy n="78" d="100"/>
        </p:scale>
        <p:origin x="1531" y="48"/>
      </p:cViewPr>
      <p:guideLst>
        <p:guide orient="horz" pos="2160"/>
        <p:guide pos="2880"/>
      </p:guideLst>
    </p:cSldViewPr>
  </p:slideViewPr>
  <p:notesTextViewPr>
    <p:cViewPr>
      <p:scale>
        <a:sx n="3" d="2"/>
        <a:sy n="3" d="2"/>
      </p:scale>
      <p:origin x="0" y="-624"/>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st Nkhumeleni" userId="b300e668-787d-4599-876b-43d08ebe587e" providerId="ADAL" clId="{0916B446-E069-44F4-AB94-DF6427CE7736}"/>
    <pc:docChg chg="undo custSel addSld delSld modSld">
      <pc:chgData name="Best Nkhumeleni" userId="b300e668-787d-4599-876b-43d08ebe587e" providerId="ADAL" clId="{0916B446-E069-44F4-AB94-DF6427CE7736}" dt="2025-09-15T21:25:01.754" v="570" actId="20577"/>
      <pc:docMkLst>
        <pc:docMk/>
      </pc:docMkLst>
      <pc:sldChg chg="del">
        <pc:chgData name="Best Nkhumeleni" userId="b300e668-787d-4599-876b-43d08ebe587e" providerId="ADAL" clId="{0916B446-E069-44F4-AB94-DF6427CE7736}" dt="2025-09-15T21:22:28.889" v="567" actId="47"/>
        <pc:sldMkLst>
          <pc:docMk/>
          <pc:sldMk cId="1669290871" sldId="321"/>
        </pc:sldMkLst>
      </pc:sldChg>
      <pc:sldChg chg="modSp mod">
        <pc:chgData name="Best Nkhumeleni" userId="b300e668-787d-4599-876b-43d08ebe587e" providerId="ADAL" clId="{0916B446-E069-44F4-AB94-DF6427CE7736}" dt="2025-09-15T19:45:08.474" v="28" actId="20577"/>
        <pc:sldMkLst>
          <pc:docMk/>
          <pc:sldMk cId="2026057515" sldId="347"/>
        </pc:sldMkLst>
        <pc:spChg chg="mod">
          <ac:chgData name="Best Nkhumeleni" userId="b300e668-787d-4599-876b-43d08ebe587e" providerId="ADAL" clId="{0916B446-E069-44F4-AB94-DF6427CE7736}" dt="2025-09-15T19:45:08.474" v="28" actId="20577"/>
          <ac:spMkLst>
            <pc:docMk/>
            <pc:sldMk cId="2026057515" sldId="347"/>
            <ac:spMk id="4" creationId="{0AF543A8-7F5B-D93D-A6F8-6B3829F84FC9}"/>
          </ac:spMkLst>
        </pc:spChg>
        <pc:spChg chg="mod">
          <ac:chgData name="Best Nkhumeleni" userId="b300e668-787d-4599-876b-43d08ebe587e" providerId="ADAL" clId="{0916B446-E069-44F4-AB94-DF6427CE7736}" dt="2025-09-15T19:44:56.371" v="22" actId="20577"/>
          <ac:spMkLst>
            <pc:docMk/>
            <pc:sldMk cId="2026057515" sldId="347"/>
            <ac:spMk id="12" creationId="{DDEB97B5-6CC0-4EFB-6777-9EA40EFFE456}"/>
          </ac:spMkLst>
        </pc:spChg>
      </pc:sldChg>
      <pc:sldChg chg="del">
        <pc:chgData name="Best Nkhumeleni" userId="b300e668-787d-4599-876b-43d08ebe587e" providerId="ADAL" clId="{0916B446-E069-44F4-AB94-DF6427CE7736}" dt="2025-09-15T19:46:51.586" v="29" actId="47"/>
        <pc:sldMkLst>
          <pc:docMk/>
          <pc:sldMk cId="2167213527" sldId="348"/>
        </pc:sldMkLst>
      </pc:sldChg>
      <pc:sldChg chg="addSp delSp modSp del mod modNotesTx">
        <pc:chgData name="Best Nkhumeleni" userId="b300e668-787d-4599-876b-43d08ebe587e" providerId="ADAL" clId="{0916B446-E069-44F4-AB94-DF6427CE7736}" dt="2025-09-15T20:33:53.903" v="509" actId="47"/>
        <pc:sldMkLst>
          <pc:docMk/>
          <pc:sldMk cId="1677855483" sldId="349"/>
        </pc:sldMkLst>
        <pc:picChg chg="add mod modCrop">
          <ac:chgData name="Best Nkhumeleni" userId="b300e668-787d-4599-876b-43d08ebe587e" providerId="ADAL" clId="{0916B446-E069-44F4-AB94-DF6427CE7736}" dt="2025-09-15T20:33:39.459" v="507" actId="1076"/>
          <ac:picMkLst>
            <pc:docMk/>
            <pc:sldMk cId="1677855483" sldId="349"/>
            <ac:picMk id="4" creationId="{67755A03-9EF3-0FAC-D4C0-60F3D0C29CB0}"/>
          </ac:picMkLst>
        </pc:picChg>
        <pc:picChg chg="mod modCrop">
          <ac:chgData name="Best Nkhumeleni" userId="b300e668-787d-4599-876b-43d08ebe587e" providerId="ADAL" clId="{0916B446-E069-44F4-AB94-DF6427CE7736}" dt="2025-09-15T20:33:38.718" v="505" actId="732"/>
          <ac:picMkLst>
            <pc:docMk/>
            <pc:sldMk cId="1677855483" sldId="349"/>
            <ac:picMk id="6" creationId="{C3CE9B8C-088E-B91B-FBBB-E00A1CFE9F6F}"/>
          </ac:picMkLst>
        </pc:picChg>
        <pc:picChg chg="add del">
          <ac:chgData name="Best Nkhumeleni" userId="b300e668-787d-4599-876b-43d08ebe587e" providerId="ADAL" clId="{0916B446-E069-44F4-AB94-DF6427CE7736}" dt="2025-09-15T20:33:40.775" v="508" actId="478"/>
          <ac:picMkLst>
            <pc:docMk/>
            <pc:sldMk cId="1677855483" sldId="349"/>
            <ac:picMk id="8" creationId="{1594FCB5-5120-229B-FFFA-671FB73220CF}"/>
          </ac:picMkLst>
        </pc:picChg>
      </pc:sldChg>
      <pc:sldChg chg="addSp delSp modSp mod addAnim delAnim">
        <pc:chgData name="Best Nkhumeleni" userId="b300e668-787d-4599-876b-43d08ebe587e" providerId="ADAL" clId="{0916B446-E069-44F4-AB94-DF6427CE7736}" dt="2025-09-15T21:12:27.713" v="556" actId="1036"/>
        <pc:sldMkLst>
          <pc:docMk/>
          <pc:sldMk cId="2469174045" sldId="358"/>
        </pc:sldMkLst>
        <pc:spChg chg="add del mod">
          <ac:chgData name="Best Nkhumeleni" userId="b300e668-787d-4599-876b-43d08ebe587e" providerId="ADAL" clId="{0916B446-E069-44F4-AB94-DF6427CE7736}" dt="2025-09-15T21:12:27.713" v="556" actId="1036"/>
          <ac:spMkLst>
            <pc:docMk/>
            <pc:sldMk cId="2469174045" sldId="358"/>
            <ac:spMk id="33" creationId="{C3809341-DC24-23AE-4E1F-89D4771B3E66}"/>
          </ac:spMkLst>
        </pc:spChg>
      </pc:sldChg>
      <pc:sldChg chg="modSp mod">
        <pc:chgData name="Best Nkhumeleni" userId="b300e668-787d-4599-876b-43d08ebe587e" providerId="ADAL" clId="{0916B446-E069-44F4-AB94-DF6427CE7736}" dt="2025-09-15T21:13:51.227" v="565" actId="20577"/>
        <pc:sldMkLst>
          <pc:docMk/>
          <pc:sldMk cId="3948700376" sldId="359"/>
        </pc:sldMkLst>
        <pc:spChg chg="mod">
          <ac:chgData name="Best Nkhumeleni" userId="b300e668-787d-4599-876b-43d08ebe587e" providerId="ADAL" clId="{0916B446-E069-44F4-AB94-DF6427CE7736}" dt="2025-09-15T21:13:51.227" v="565" actId="20577"/>
          <ac:spMkLst>
            <pc:docMk/>
            <pc:sldMk cId="3948700376" sldId="359"/>
            <ac:spMk id="2" creationId="{2675505E-0003-0249-E32D-FDA531C8DDA1}"/>
          </ac:spMkLst>
        </pc:spChg>
      </pc:sldChg>
      <pc:sldChg chg="del">
        <pc:chgData name="Best Nkhumeleni" userId="b300e668-787d-4599-876b-43d08ebe587e" providerId="ADAL" clId="{0916B446-E069-44F4-AB94-DF6427CE7736}" dt="2025-09-15T21:16:55.830" v="566" actId="47"/>
        <pc:sldMkLst>
          <pc:docMk/>
          <pc:sldMk cId="2696388508" sldId="363"/>
        </pc:sldMkLst>
      </pc:sldChg>
      <pc:sldChg chg="modNotesTx">
        <pc:chgData name="Best Nkhumeleni" userId="b300e668-787d-4599-876b-43d08ebe587e" providerId="ADAL" clId="{0916B446-E069-44F4-AB94-DF6427CE7736}" dt="2025-09-15T21:25:01.754" v="570" actId="20577"/>
        <pc:sldMkLst>
          <pc:docMk/>
          <pc:sldMk cId="2425890057" sldId="370"/>
        </pc:sldMkLst>
      </pc:sldChg>
      <pc:sldChg chg="addSp modSp new mod modClrScheme chgLayout modNotesTx">
        <pc:chgData name="Best Nkhumeleni" userId="b300e668-787d-4599-876b-43d08ebe587e" providerId="ADAL" clId="{0916B446-E069-44F4-AB94-DF6427CE7736}" dt="2025-09-15T20:31:58.846" v="499" actId="20577"/>
        <pc:sldMkLst>
          <pc:docMk/>
          <pc:sldMk cId="2570636495" sldId="372"/>
        </pc:sldMkLst>
        <pc:spChg chg="mod ord">
          <ac:chgData name="Best Nkhumeleni" userId="b300e668-787d-4599-876b-43d08ebe587e" providerId="ADAL" clId="{0916B446-E069-44F4-AB94-DF6427CE7736}" dt="2025-09-15T20:22:11.184" v="308" actId="26606"/>
          <ac:spMkLst>
            <pc:docMk/>
            <pc:sldMk cId="2570636495" sldId="372"/>
            <ac:spMk id="2" creationId="{99D40BD6-CBCF-1AB7-8363-19BBFD97EF57}"/>
          </ac:spMkLst>
        </pc:spChg>
        <pc:spChg chg="add mod">
          <ac:chgData name="Best Nkhumeleni" userId="b300e668-787d-4599-876b-43d08ebe587e" providerId="ADAL" clId="{0916B446-E069-44F4-AB94-DF6427CE7736}" dt="2025-09-15T20:31:58.846" v="499" actId="20577"/>
          <ac:spMkLst>
            <pc:docMk/>
            <pc:sldMk cId="2570636495" sldId="372"/>
            <ac:spMk id="3" creationId="{9824A5F3-D10A-BEEC-4E5A-26957505568A}"/>
          </ac:spMkLst>
        </pc:spChg>
        <pc:picChg chg="add mod ord">
          <ac:chgData name="Best Nkhumeleni" userId="b300e668-787d-4599-876b-43d08ebe587e" providerId="ADAL" clId="{0916B446-E069-44F4-AB94-DF6427CE7736}" dt="2025-09-15T20:22:11.184" v="308" actId="26606"/>
          <ac:picMkLst>
            <pc:docMk/>
            <pc:sldMk cId="2570636495" sldId="372"/>
            <ac:picMk id="1026" creationId="{54183543-3504-7BDA-2E65-0005D6F8FE66}"/>
          </ac:picMkLst>
        </pc:picChg>
      </pc:sldChg>
      <pc:sldChg chg="addSp delSp modSp new mod modClrScheme chgLayout">
        <pc:chgData name="Best Nkhumeleni" userId="b300e668-787d-4599-876b-43d08ebe587e" providerId="ADAL" clId="{0916B446-E069-44F4-AB94-DF6427CE7736}" dt="2025-09-15T20:44:19.305" v="551" actId="26606"/>
        <pc:sldMkLst>
          <pc:docMk/>
          <pc:sldMk cId="1838600472" sldId="373"/>
        </pc:sldMkLst>
        <pc:spChg chg="mod ord">
          <ac:chgData name="Best Nkhumeleni" userId="b300e668-787d-4599-876b-43d08ebe587e" providerId="ADAL" clId="{0916B446-E069-44F4-AB94-DF6427CE7736}" dt="2025-09-15T20:44:19.305" v="551" actId="26606"/>
          <ac:spMkLst>
            <pc:docMk/>
            <pc:sldMk cId="1838600472" sldId="373"/>
            <ac:spMk id="2" creationId="{701B703F-DDCF-F177-9EB9-70FFF005E069}"/>
          </ac:spMkLst>
        </pc:spChg>
        <pc:picChg chg="add del mod">
          <ac:chgData name="Best Nkhumeleni" userId="b300e668-787d-4599-876b-43d08ebe587e" providerId="ADAL" clId="{0916B446-E069-44F4-AB94-DF6427CE7736}" dt="2025-09-15T20:44:12.141" v="549" actId="478"/>
          <ac:picMkLst>
            <pc:docMk/>
            <pc:sldMk cId="1838600472" sldId="373"/>
            <ac:picMk id="2050" creationId="{A8BFFB6B-0FD6-27C4-2C5E-52E8353B8E1E}"/>
          </ac:picMkLst>
        </pc:picChg>
        <pc:picChg chg="add mod">
          <ac:chgData name="Best Nkhumeleni" userId="b300e668-787d-4599-876b-43d08ebe587e" providerId="ADAL" clId="{0916B446-E069-44F4-AB94-DF6427CE7736}" dt="2025-09-15T20:44:19.305" v="551" actId="26606"/>
          <ac:picMkLst>
            <pc:docMk/>
            <pc:sldMk cId="1838600472" sldId="373"/>
            <ac:picMk id="2052" creationId="{EA040A7F-BEC0-DB84-32E0-D27D06CD43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E8575-32E8-47C1-A317-B277AE278254}" type="datetimeFigureOut">
              <a:rPr lang="en-ZA" smtClean="0"/>
              <a:t>2025/09/15</a:t>
            </a:fld>
            <a:endParaRPr lang="en-Z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D4CD1D-11D4-44B3-97CF-91828C00CDF1}" type="slidenum">
              <a:rPr lang="en-ZA" smtClean="0"/>
              <a:t>‹#›</a:t>
            </a:fld>
            <a:endParaRPr lang="en-ZA"/>
          </a:p>
        </p:txBody>
      </p:sp>
    </p:spTree>
    <p:extLst>
      <p:ext uri="{BB962C8B-B14F-4D97-AF65-F5344CB8AC3E}">
        <p14:creationId xmlns:p14="http://schemas.microsoft.com/office/powerpoint/2010/main" val="1008543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CPOL – clock polarity</a:t>
            </a:r>
          </a:p>
          <a:p>
            <a:r>
              <a:rPr lang="en-ZA" dirty="0"/>
              <a:t>If its 1, the clock pol flips, and rising edges become falling edges</a:t>
            </a:r>
          </a:p>
        </p:txBody>
      </p:sp>
      <p:sp>
        <p:nvSpPr>
          <p:cNvPr id="4" name="Slide Number Placeholder 3"/>
          <p:cNvSpPr>
            <a:spLocks noGrp="1"/>
          </p:cNvSpPr>
          <p:nvPr>
            <p:ph type="sldNum" sz="quarter" idx="5"/>
          </p:nvPr>
        </p:nvSpPr>
        <p:spPr/>
        <p:txBody>
          <a:bodyPr/>
          <a:lstStyle/>
          <a:p>
            <a:fld id="{9CD4CD1D-11D4-44B3-97CF-91828C00CDF1}" type="slidenum">
              <a:rPr lang="en-ZA" smtClean="0"/>
              <a:t>10</a:t>
            </a:fld>
            <a:endParaRPr lang="en-ZA"/>
          </a:p>
        </p:txBody>
      </p:sp>
    </p:spTree>
    <p:extLst>
      <p:ext uri="{BB962C8B-B14F-4D97-AF65-F5344CB8AC3E}">
        <p14:creationId xmlns:p14="http://schemas.microsoft.com/office/powerpoint/2010/main" val="318514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MAX232 is an integrated circuit by Maxim Integrated Products, now a subsidiary of Analog Devices, that converts signals from a TIA-232 (RS-232) serial port to signals suitable for use in TTL-compatible digital logic circuits.</a:t>
            </a:r>
            <a:endParaRPr lang="en-ZA" dirty="0"/>
          </a:p>
        </p:txBody>
      </p:sp>
      <p:sp>
        <p:nvSpPr>
          <p:cNvPr id="4" name="Slide Number Placeholder 3"/>
          <p:cNvSpPr>
            <a:spLocks noGrp="1"/>
          </p:cNvSpPr>
          <p:nvPr>
            <p:ph type="sldNum" sz="quarter" idx="5"/>
          </p:nvPr>
        </p:nvSpPr>
        <p:spPr/>
        <p:txBody>
          <a:bodyPr/>
          <a:lstStyle/>
          <a:p>
            <a:fld id="{9CD4CD1D-11D4-44B3-97CF-91828C00CDF1}" type="slidenum">
              <a:rPr lang="en-ZA" smtClean="0"/>
              <a:t>16</a:t>
            </a:fld>
            <a:endParaRPr lang="en-ZA"/>
          </a:p>
        </p:txBody>
      </p:sp>
    </p:spTree>
    <p:extLst>
      <p:ext uri="{BB962C8B-B14F-4D97-AF65-F5344CB8AC3E}">
        <p14:creationId xmlns:p14="http://schemas.microsoft.com/office/powerpoint/2010/main" val="2880043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RS-232 is an unbalanced protocol, meaning </a:t>
            </a:r>
            <a:r>
              <a:rPr lang="en-US" dirty="0"/>
              <a:t>it uses a single conductor for each signal and a common ground reference, making signals susceptible to noise and limiting effective communication distance to around 15 meters</a:t>
            </a:r>
            <a:br>
              <a:rPr lang="en-US" dirty="0"/>
            </a:br>
            <a:endParaRPr lang="en-US" dirty="0"/>
          </a:p>
          <a:p>
            <a:r>
              <a:rPr lang="en-US" sz="1200" b="0" i="0" kern="1200">
                <a:solidFill>
                  <a:schemeClr val="tx1"/>
                </a:solidFill>
                <a:effectLst/>
                <a:latin typeface="+mn-lt"/>
                <a:ea typeface="+mn-ea"/>
                <a:cs typeface="+mn-cs"/>
              </a:rPr>
              <a:t>RS-485 is a serial communication standard that </a:t>
            </a:r>
            <a:r>
              <a:rPr lang="en-US"/>
              <a:t>uses a balanced, differential transmission method over a twisted-pair cable to achieve long-distance, noise-resistant data transfer</a:t>
            </a:r>
            <a:br>
              <a:rPr lang="en-US"/>
            </a:br>
            <a:endParaRPr lang="en-ZA" dirty="0"/>
          </a:p>
        </p:txBody>
      </p:sp>
      <p:sp>
        <p:nvSpPr>
          <p:cNvPr id="4" name="Slide Number Placeholder 3"/>
          <p:cNvSpPr>
            <a:spLocks noGrp="1"/>
          </p:cNvSpPr>
          <p:nvPr>
            <p:ph type="sldNum" sz="quarter" idx="5"/>
          </p:nvPr>
        </p:nvSpPr>
        <p:spPr/>
        <p:txBody>
          <a:bodyPr/>
          <a:lstStyle/>
          <a:p>
            <a:fld id="{9CD4CD1D-11D4-44B3-97CF-91828C00CDF1}" type="slidenum">
              <a:rPr lang="en-ZA" smtClean="0"/>
              <a:t>27</a:t>
            </a:fld>
            <a:endParaRPr lang="en-ZA"/>
          </a:p>
        </p:txBody>
      </p:sp>
    </p:spTree>
    <p:extLst>
      <p:ext uri="{BB962C8B-B14F-4D97-AF65-F5344CB8AC3E}">
        <p14:creationId xmlns:p14="http://schemas.microsoft.com/office/powerpoint/2010/main" val="142705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557313" cy="7167985"/>
          </a:xfrm>
          <a:prstGeom prst="rect">
            <a:avLst/>
          </a:prstGeom>
          <a:effectLst>
            <a:glow rad="127000">
              <a:schemeClr val="accent1"/>
            </a:glow>
          </a:effectLst>
        </p:spPr>
      </p:pic>
      <p:sp>
        <p:nvSpPr>
          <p:cNvPr id="2" name="Title 1"/>
          <p:cNvSpPr>
            <a:spLocks noGrp="1"/>
          </p:cNvSpPr>
          <p:nvPr>
            <p:ph type="ctrTitle"/>
          </p:nvPr>
        </p:nvSpPr>
        <p:spPr>
          <a:xfrm>
            <a:off x="601670" y="3734410"/>
            <a:ext cx="7329840" cy="1527050"/>
          </a:xfrm>
          <a:effectLst/>
        </p:spPr>
        <p:txBody>
          <a:bodyPr>
            <a:normAutofit/>
          </a:bodyPr>
          <a:lstStyle>
            <a:lvl1pPr algn="l">
              <a:defRPr sz="4400" b="1">
                <a:ln>
                  <a:solidFill>
                    <a:schemeClr val="tx1"/>
                  </a:solidFill>
                </a:ln>
                <a:solidFill>
                  <a:schemeClr val="bg1"/>
                </a:solidFill>
              </a:defRPr>
            </a:lvl1pPr>
          </a:lstStyle>
          <a:p>
            <a:endParaRPr lang="en-US" dirty="0"/>
          </a:p>
        </p:txBody>
      </p:sp>
      <p:sp>
        <p:nvSpPr>
          <p:cNvPr id="3" name="Subtitle 2"/>
          <p:cNvSpPr>
            <a:spLocks noGrp="1"/>
          </p:cNvSpPr>
          <p:nvPr>
            <p:ph type="subTitle" idx="1" hasCustomPrompt="1"/>
          </p:nvPr>
        </p:nvSpPr>
        <p:spPr>
          <a:xfrm>
            <a:off x="601670" y="5414165"/>
            <a:ext cx="7329840" cy="458115"/>
          </a:xfrm>
        </p:spPr>
        <p:txBody>
          <a:bodyPr>
            <a:normAutofit/>
          </a:bodyPr>
          <a:lstStyle>
            <a:lvl1pPr marL="0" indent="0" algn="l">
              <a:buNone/>
              <a:defRPr sz="2800">
                <a:solidFill>
                  <a:schemeClr val="accent5">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Lecture Number</a:t>
            </a:r>
          </a:p>
        </p:txBody>
      </p:sp>
      <p:sp>
        <p:nvSpPr>
          <p:cNvPr id="8" name="Rectangle 7"/>
          <p:cNvSpPr/>
          <p:nvPr userDrawn="1"/>
        </p:nvSpPr>
        <p:spPr>
          <a:xfrm>
            <a:off x="1663706" y="4940778"/>
            <a:ext cx="6279284"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Embedded Systems II</a:t>
            </a:r>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25317" y="1063256"/>
            <a:ext cx="8076895" cy="5092995"/>
          </a:xfrm>
        </p:spPr>
        <p:txBody>
          <a:bodyPr>
            <a:normAutofit/>
          </a:bodyPr>
          <a:lstStyle>
            <a:lvl1pPr>
              <a:defRPr sz="3200">
                <a:solidFill>
                  <a:srgbClr val="002060"/>
                </a:solidFill>
              </a:defRPr>
            </a:lvl1pPr>
            <a:lvl2pPr>
              <a:defRPr sz="3200">
                <a:solidFill>
                  <a:srgbClr val="002060"/>
                </a:solidFill>
              </a:defRPr>
            </a:lvl2pPr>
            <a:lvl3pPr>
              <a:defRPr sz="2800">
                <a:solidFill>
                  <a:srgbClr val="002060"/>
                </a:solidFill>
              </a:defRPr>
            </a:lvl3pPr>
            <a:lvl4pPr>
              <a:defRPr sz="2400">
                <a:solidFill>
                  <a:srgbClr val="002060"/>
                </a:solidFill>
              </a:defRPr>
            </a:lvl4pPr>
            <a:lvl5pPr>
              <a:defRPr sz="24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2" name="Title 1"/>
          <p:cNvSpPr>
            <a:spLocks noGrp="1"/>
          </p:cNvSpPr>
          <p:nvPr>
            <p:ph type="title"/>
          </p:nvPr>
        </p:nvSpPr>
        <p:spPr>
          <a:xfrm>
            <a:off x="510362" y="265814"/>
            <a:ext cx="8123275" cy="709272"/>
          </a:xfrm>
          <a:solidFill>
            <a:schemeClr val="tx2">
              <a:lumMod val="75000"/>
            </a:schemeClr>
          </a:solidFill>
        </p:spPr>
        <p:txBody>
          <a:bodyPr>
            <a:normAutofit/>
          </a:bodyPr>
          <a:lstStyle>
            <a:lvl1pPr algn="l">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670" y="374901"/>
            <a:ext cx="7932424" cy="610820"/>
          </a:xfrm>
          <a:solidFill>
            <a:schemeClr val="tx2">
              <a:lumMod val="75000"/>
            </a:schemeClr>
          </a:solidFill>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601671" y="1138425"/>
            <a:ext cx="4733854" cy="4886560"/>
          </a:xfrm>
        </p:spPr>
        <p:txBody>
          <a:bodyPr/>
          <a:lstStyle>
            <a:lvl1pPr>
              <a:defRPr sz="2800">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r>
              <a:rPr lang="en-US" dirty="0"/>
              <a:t>Embedded Systems II</a:t>
            </a:r>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Rectangle 6"/>
          <p:cNvSpPr/>
          <p:nvPr userDrawn="1"/>
        </p:nvSpPr>
        <p:spPr>
          <a:xfrm>
            <a:off x="4724705" y="1138425"/>
            <a:ext cx="3809389" cy="5039265"/>
          </a:xfrm>
          <a:prstGeom prst="rect">
            <a:avLst/>
          </a:prstGeom>
          <a:solidFill>
            <a:schemeClr val="bg1"/>
          </a:solidFill>
          <a:ln>
            <a:solidFill>
              <a:schemeClr val="tx2">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803345"/>
            <a:ext cx="7772400" cy="1362075"/>
          </a:xfrm>
        </p:spPr>
        <p:txBody>
          <a:bodyPr anchor="t"/>
          <a:lstStyle>
            <a:lvl1pPr algn="l">
              <a:defRPr sz="4000" b="1" cap="all"/>
            </a:lvl1pPr>
          </a:lstStyle>
          <a:p>
            <a:endParaRPr lang="en-US" dirty="0"/>
          </a:p>
        </p:txBody>
      </p:sp>
      <p:sp>
        <p:nvSpPr>
          <p:cNvPr id="3" name="Text Placeholder 2"/>
          <p:cNvSpPr>
            <a:spLocks noGrp="1"/>
          </p:cNvSpPr>
          <p:nvPr>
            <p:ph type="body" idx="1"/>
          </p:nvPr>
        </p:nvSpPr>
        <p:spPr>
          <a:xfrm>
            <a:off x="722313" y="3303158"/>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Rectangle 6"/>
          <p:cNvSpPr/>
          <p:nvPr userDrawn="1"/>
        </p:nvSpPr>
        <p:spPr>
          <a:xfrm>
            <a:off x="2128720" y="5971330"/>
            <a:ext cx="4700196" cy="707886"/>
          </a:xfrm>
          <a:prstGeom prst="rect">
            <a:avLst/>
          </a:prstGeom>
          <a:noFill/>
        </p:spPr>
        <p:txBody>
          <a:bodyPr wrap="non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Embedded Systems II</a:t>
            </a:r>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20995" y="273501"/>
            <a:ext cx="8091378" cy="651532"/>
          </a:xfrm>
          <a:solidFill>
            <a:schemeClr val="tx2">
              <a:lumMod val="75000"/>
            </a:schemeClr>
          </a:solidFill>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78466" y="1138425"/>
            <a:ext cx="4038600" cy="488656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6934" y="1138425"/>
            <a:ext cx="4038600" cy="488656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222194"/>
            <a:ext cx="8229600" cy="565205"/>
          </a:xfrm>
          <a:solidFill>
            <a:schemeClr val="tx2">
              <a:lumMod val="75000"/>
            </a:schemeClr>
          </a:solidFill>
        </p:spPr>
        <p:txBody>
          <a:bodyPr lIns="126000" rIns="126000">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48965" y="835454"/>
            <a:ext cx="4040188" cy="63976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48965" y="1465316"/>
            <a:ext cx="4040188" cy="3490733"/>
          </a:xfrm>
        </p:spPr>
        <p:txBody>
          <a:bodyPr/>
          <a:lstStyle>
            <a:lvl1pPr>
              <a:defRPr sz="2400">
                <a:solidFill>
                  <a:srgbClr val="002060"/>
                </a:solidFill>
              </a:defRPr>
            </a:lvl1pPr>
            <a:lvl2pPr>
              <a:defRPr sz="2000">
                <a:solidFill>
                  <a:srgbClr val="002060"/>
                </a:solidFill>
              </a:defRPr>
            </a:lvl2pPr>
            <a:lvl3pPr>
              <a:defRPr sz="1800">
                <a:solidFill>
                  <a:srgbClr val="002060"/>
                </a:solidFill>
              </a:defRPr>
            </a:lvl3pPr>
            <a:lvl4pPr>
              <a:defRPr sz="1600">
                <a:solidFill>
                  <a:srgbClr val="002060"/>
                </a:solidFill>
              </a:defRPr>
            </a:lvl4pPr>
            <a:lvl5pP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36790" y="835454"/>
            <a:ext cx="4041775" cy="63976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36790" y="1465316"/>
            <a:ext cx="4041775" cy="3490733"/>
          </a:xfrm>
        </p:spPr>
        <p:txBody>
          <a:bodyPr/>
          <a:lstStyle>
            <a:lvl1pPr>
              <a:defRPr sz="2400">
                <a:solidFill>
                  <a:srgbClr val="002060"/>
                </a:solidFill>
              </a:defRPr>
            </a:lvl1pPr>
            <a:lvl2pPr>
              <a:defRPr sz="2000">
                <a:solidFill>
                  <a:srgbClr val="002060"/>
                </a:solidFill>
              </a:defRPr>
            </a:lvl2pPr>
            <a:lvl3pPr>
              <a:defRPr sz="1800">
                <a:solidFill>
                  <a:srgbClr val="002060"/>
                </a:solidFill>
              </a:defRPr>
            </a:lvl3pPr>
            <a:lvl4pPr>
              <a:defRPr sz="1600">
                <a:solidFill>
                  <a:srgbClr val="002060"/>
                </a:solidFill>
              </a:defRPr>
            </a:lvl4pPr>
            <a:lvl5pP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0362" y="276448"/>
            <a:ext cx="8123276" cy="733646"/>
          </a:xfrm>
          <a:solidFill>
            <a:schemeClr val="tx2">
              <a:lumMod val="75000"/>
            </a:schemeClr>
          </a:solidFill>
        </p:spPr>
        <p:txBody>
          <a:bodyPr/>
          <a:lstStyle>
            <a:lvl1pPr>
              <a:defRPr>
                <a:solidFill>
                  <a:schemeClr val="bg1"/>
                </a:solidFill>
              </a:defRPr>
            </a:lvl1pPr>
          </a:lstStyle>
          <a:p>
            <a:r>
              <a:rPr lang="en-US" dirty="0"/>
              <a:t>Click to edit Master title style</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519082"/>
            <a:ext cx="2133600" cy="365125"/>
          </a:xfrm>
          <a:prstGeom prst="rect">
            <a:avLst/>
          </a:prstGeom>
        </p:spPr>
        <p:txBody>
          <a:bodyPr/>
          <a:lstStyle/>
          <a:p>
            <a:fld id="{53074F12-AA26-4AC8-9962-C36BB8F32554}"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20995" y="274638"/>
            <a:ext cx="8102010" cy="777985"/>
          </a:xfrm>
          <a:solidFill>
            <a:schemeClr val="tx2">
              <a:lumMod val="75000"/>
            </a:schemeClr>
          </a:solidFill>
        </p:spPr>
        <p:txBody>
          <a:bodyPr/>
          <a:lstStyle>
            <a:lvl1pPr>
              <a:defRPr>
                <a:solidFill>
                  <a:schemeClr val="bg1"/>
                </a:solidFill>
              </a:defRPr>
            </a:lvl1pPr>
          </a:lstStyle>
          <a:p>
            <a:r>
              <a:rPr lang="en-US" dirty="0"/>
              <a:t>Click to edit Master title style</a:t>
            </a:r>
          </a:p>
        </p:txBody>
      </p:sp>
      <p:sp>
        <p:nvSpPr>
          <p:cNvPr id="3" name="Vertical Text Placeholder 2"/>
          <p:cNvSpPr>
            <a:spLocks noGrp="1"/>
          </p:cNvSpPr>
          <p:nvPr>
            <p:ph type="body" orient="vert" idx="1"/>
          </p:nvPr>
        </p:nvSpPr>
        <p:spPr>
          <a:xfrm>
            <a:off x="520994" y="1201479"/>
            <a:ext cx="8102011" cy="52816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78726" y="274638"/>
            <a:ext cx="733642" cy="6317548"/>
          </a:xfrm>
          <a:solidFill>
            <a:schemeClr val="tx2">
              <a:lumMod val="75000"/>
            </a:schemeClr>
          </a:solidFill>
        </p:spPr>
        <p:txBody>
          <a:bodyPr vert="eaVert"/>
          <a:lstStyle>
            <a:lvl1pPr>
              <a:defRPr>
                <a:solidFill>
                  <a:schemeClr val="bg1"/>
                </a:solidFill>
              </a:defRPr>
            </a:lvl1pPr>
          </a:lstStyle>
          <a:p>
            <a:endParaRPr lang="en-US" dirty="0"/>
          </a:p>
        </p:txBody>
      </p:sp>
      <p:sp>
        <p:nvSpPr>
          <p:cNvPr id="3" name="Vertical Text Placeholder 2"/>
          <p:cNvSpPr>
            <a:spLocks noGrp="1"/>
          </p:cNvSpPr>
          <p:nvPr>
            <p:ph type="body" orient="vert" idx="1"/>
          </p:nvPr>
        </p:nvSpPr>
        <p:spPr>
          <a:xfrm>
            <a:off x="542260" y="274638"/>
            <a:ext cx="7236544" cy="606845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519082"/>
            <a:ext cx="2133600" cy="365125"/>
          </a:xfrm>
          <a:prstGeom prst="rect">
            <a:avLst/>
          </a:prstGeom>
        </p:spPr>
        <p:txBody>
          <a:bodyPr/>
          <a:lstStyle/>
          <a:p>
            <a:fld id="{53074F12-AA26-4AC8-9962-C36BB8F32554}"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60258" y="-14515"/>
            <a:ext cx="9218395" cy="6917141"/>
          </a:xfrm>
          <a:prstGeom prst="rect">
            <a:avLst/>
          </a:prstGeom>
        </p:spPr>
      </p:pic>
      <p:sp>
        <p:nvSpPr>
          <p:cNvPr id="18" name="Rectangle 17"/>
          <p:cNvSpPr/>
          <p:nvPr userDrawn="1"/>
        </p:nvSpPr>
        <p:spPr>
          <a:xfrm>
            <a:off x="457200" y="222195"/>
            <a:ext cx="8229600" cy="64270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Text Placeholder 2"/>
          <p:cNvSpPr>
            <a:spLocks noGrp="1"/>
          </p:cNvSpPr>
          <p:nvPr>
            <p:ph type="body" idx="1"/>
          </p:nvPr>
        </p:nvSpPr>
        <p:spPr>
          <a:xfrm>
            <a:off x="457200" y="1600200"/>
            <a:ext cx="8229600" cy="48829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5" name="Footer Placeholder 4"/>
          <p:cNvSpPr>
            <a:spLocks noGrp="1"/>
          </p:cNvSpPr>
          <p:nvPr>
            <p:ph type="ftr" sz="quarter" idx="3"/>
          </p:nvPr>
        </p:nvSpPr>
        <p:spPr>
          <a:xfrm>
            <a:off x="457200" y="6343095"/>
            <a:ext cx="5562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7013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gif"/><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RS-232"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Serial_Peripheral_InterfaceF" TargetMode="External"/><Relationship Id="rId2" Type="http://schemas.openxmlformats.org/officeDocument/2006/relationships/hyperlink" Target="https://www.ti.com/lit/an/slva704/slva704.pdf" TargetMode="External"/><Relationship Id="rId1" Type="http://schemas.openxmlformats.org/officeDocument/2006/relationships/slideLayout" Target="../slideLayouts/slideLayout2.xml"/><Relationship Id="rId5" Type="http://schemas.openxmlformats.org/officeDocument/2006/relationships/hyperlink" Target="http://download.mikroe.com/documents/compilers/mikroc/arm/help/spi_library.htm" TargetMode="External"/><Relationship Id="rId4" Type="http://schemas.openxmlformats.org/officeDocument/2006/relationships/hyperlink" Target="https://hsel.co.uk/2014/08/13/stm32f0-mini-tutorial-using-the-i2c-peripheral-to-communicate-with-a-hmc5883l-digital-compass-ic/" TargetMode="External"/></Relationships>
</file>

<file path=ppt/slides/_rels/slide30.xml.rels><?xml version="1.0" encoding="UTF-8" standalone="yes"?>
<Relationships xmlns="http://schemas.openxmlformats.org/package/2006/relationships"><Relationship Id="rId2" Type="http://schemas.openxmlformats.org/officeDocument/2006/relationships/hyperlink" Target="https://embeddedartistry.com/blog/2021/08/02/resolving-i2c-address-conflic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text, clipart&#10;&#10;Description automatically generated">
            <a:extLst>
              <a:ext uri="{FF2B5EF4-FFF2-40B4-BE49-F238E27FC236}">
                <a16:creationId xmlns:a16="http://schemas.microsoft.com/office/drawing/2014/main" id="{BD3C5529-7A52-73E7-3E69-6F3C4935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6772" y="3265800"/>
            <a:ext cx="2095500" cy="981075"/>
          </a:xfrm>
          <a:prstGeom prst="rect">
            <a:avLst/>
          </a:prstGeom>
        </p:spPr>
      </p:pic>
      <p:sp>
        <p:nvSpPr>
          <p:cNvPr id="6" name="Rectangle 5"/>
          <p:cNvSpPr/>
          <p:nvPr/>
        </p:nvSpPr>
        <p:spPr>
          <a:xfrm>
            <a:off x="2281425" y="5872280"/>
            <a:ext cx="3691460" cy="587574"/>
          </a:xfrm>
          <a:prstGeom prst="rect">
            <a:avLst/>
          </a:prstGeom>
          <a:noFill/>
        </p:spPr>
        <p:txBody>
          <a:bodyPr wrap="none" lIns="91440" tIns="45720" rIns="91440" bIns="45720">
            <a:spAutoFit/>
          </a:bodyPr>
          <a:lstStyle/>
          <a:p>
            <a:pPr algn="ctr"/>
            <a:r>
              <a:rPr lang="en-US" sz="3600" b="1" cap="none" spc="0" dirty="0" err="1">
                <a:ln w="9525">
                  <a:solidFill>
                    <a:schemeClr val="tx1"/>
                  </a:solidFill>
                  <a:prstDash val="solid"/>
                </a:ln>
                <a:solidFill>
                  <a:schemeClr val="accent1">
                    <a:lumMod val="60000"/>
                    <a:lumOff val="40000"/>
                  </a:schemeClr>
                </a:solidFill>
                <a:effectLst>
                  <a:outerShdw blurRad="12700" dist="38100" dir="2700000" algn="tl" rotWithShape="0">
                    <a:schemeClr val="accent5">
                      <a:lumMod val="60000"/>
                      <a:lumOff val="40000"/>
                    </a:schemeClr>
                  </a:outerShdw>
                </a:effectLst>
              </a:rPr>
              <a:t>Dr</a:t>
            </a:r>
            <a:r>
              <a:rPr lang="en-US" sz="3600" b="1" cap="none" spc="0" dirty="0">
                <a:ln w="9525">
                  <a:solidFill>
                    <a:schemeClr val="tx1"/>
                  </a:solidFill>
                  <a:prstDash val="solid"/>
                </a:ln>
                <a:solidFill>
                  <a:schemeClr val="accent1">
                    <a:lumMod val="60000"/>
                    <a:lumOff val="40000"/>
                  </a:schemeClr>
                </a:solidFill>
                <a:effectLst>
                  <a:outerShdw blurRad="12700" dist="38100" dir="2700000" algn="tl" rotWithShape="0">
                    <a:schemeClr val="accent5">
                      <a:lumMod val="60000"/>
                      <a:lumOff val="40000"/>
                    </a:schemeClr>
                  </a:outerShdw>
                </a:effectLst>
              </a:rPr>
              <a:t> Simon Winberg</a:t>
            </a: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8492" y="5728038"/>
            <a:ext cx="1085871" cy="1108031"/>
          </a:xfrm>
          <a:prstGeom prst="rect">
            <a:avLst/>
          </a:prstGeom>
        </p:spPr>
      </p:pic>
      <p:sp>
        <p:nvSpPr>
          <p:cNvPr id="10" name="TextBox 9"/>
          <p:cNvSpPr txBox="1"/>
          <p:nvPr/>
        </p:nvSpPr>
        <p:spPr>
          <a:xfrm>
            <a:off x="7170703" y="5967102"/>
            <a:ext cx="1945725" cy="523220"/>
          </a:xfrm>
          <a:prstGeom prst="rect">
            <a:avLst/>
          </a:prstGeom>
          <a:noFill/>
        </p:spPr>
        <p:txBody>
          <a:bodyPr wrap="none" rtlCol="0">
            <a:spAutoFit/>
          </a:bodyPr>
          <a:lstStyle/>
          <a:p>
            <a:r>
              <a:rPr lang="en-ZA" sz="1400" dirty="0">
                <a:solidFill>
                  <a:schemeClr val="accent5">
                    <a:lumMod val="40000"/>
                    <a:lumOff val="60000"/>
                  </a:schemeClr>
                </a:solidFill>
              </a:rPr>
              <a:t>Electrical Engineering</a:t>
            </a:r>
          </a:p>
          <a:p>
            <a:r>
              <a:rPr lang="en-ZA" sz="1400" dirty="0">
                <a:solidFill>
                  <a:schemeClr val="accent5">
                    <a:lumMod val="40000"/>
                    <a:lumOff val="60000"/>
                  </a:schemeClr>
                </a:solidFill>
              </a:rPr>
              <a:t>University of Cape Town</a:t>
            </a:r>
          </a:p>
        </p:txBody>
      </p:sp>
      <p:sp>
        <p:nvSpPr>
          <p:cNvPr id="11" name="Title 10"/>
          <p:cNvSpPr>
            <a:spLocks noGrp="1"/>
          </p:cNvSpPr>
          <p:nvPr>
            <p:ph type="ctrTitle"/>
          </p:nvPr>
        </p:nvSpPr>
        <p:spPr>
          <a:xfrm>
            <a:off x="601671" y="3714890"/>
            <a:ext cx="7940660" cy="1527050"/>
          </a:xfrm>
        </p:spPr>
        <p:txBody>
          <a:bodyPr>
            <a:normAutofit/>
          </a:bodyPr>
          <a:lstStyle/>
          <a:p>
            <a:r>
              <a:rPr lang="en-ZA" dirty="0"/>
              <a:t>Embedded Communications 3/3</a:t>
            </a:r>
            <a:endParaRPr lang="en-ZA" i="1" dirty="0"/>
          </a:p>
        </p:txBody>
      </p:sp>
      <p:sp>
        <p:nvSpPr>
          <p:cNvPr id="12" name="Subtitle 11"/>
          <p:cNvSpPr>
            <a:spLocks noGrp="1"/>
          </p:cNvSpPr>
          <p:nvPr>
            <p:ph type="subTitle" idx="1"/>
          </p:nvPr>
        </p:nvSpPr>
        <p:spPr/>
        <p:txBody>
          <a:bodyPr>
            <a:normAutofit fontScale="92500" lnSpcReduction="10000"/>
          </a:bodyPr>
          <a:lstStyle/>
          <a:p>
            <a:r>
              <a:rPr lang="en-ZA" dirty="0"/>
              <a:t>L11</a:t>
            </a:r>
          </a:p>
        </p:txBody>
      </p:sp>
      <p:pic>
        <p:nvPicPr>
          <p:cNvPr id="2" name="Picture 1">
            <a:extLst>
              <a:ext uri="{FF2B5EF4-FFF2-40B4-BE49-F238E27FC236}">
                <a16:creationId xmlns:a16="http://schemas.microsoft.com/office/drawing/2014/main" id="{D9A126EC-5845-64CF-E557-01C69832719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57322" y="350093"/>
            <a:ext cx="1657628" cy="1391223"/>
          </a:xfrm>
          <a:prstGeom prst="rect">
            <a:avLst/>
          </a:prstGeom>
        </p:spPr>
      </p:pic>
      <p:sp>
        <p:nvSpPr>
          <p:cNvPr id="4" name="TextBox 3">
            <a:extLst>
              <a:ext uri="{FF2B5EF4-FFF2-40B4-BE49-F238E27FC236}">
                <a16:creationId xmlns:a16="http://schemas.microsoft.com/office/drawing/2014/main" id="{BB960508-0A56-DB8F-FBC1-E8D43F7DA3A9}"/>
              </a:ext>
            </a:extLst>
          </p:cNvPr>
          <p:cNvSpPr txBox="1"/>
          <p:nvPr/>
        </p:nvSpPr>
        <p:spPr>
          <a:xfrm>
            <a:off x="160546" y="1770971"/>
            <a:ext cx="1777719" cy="646331"/>
          </a:xfrm>
          <a:prstGeom prst="rect">
            <a:avLst/>
          </a:prstGeom>
          <a:noFill/>
        </p:spPr>
        <p:txBody>
          <a:bodyPr wrap="square">
            <a:spAutoFit/>
          </a:bodyPr>
          <a:lstStyle/>
          <a:p>
            <a:pPr algn="ctr"/>
            <a:r>
              <a:rPr lang="en-US" b="1" cap="none" spc="0" dirty="0">
                <a:ln w="9525">
                  <a:solidFill>
                    <a:schemeClr val="tx2">
                      <a:lumMod val="75000"/>
                    </a:schemeClr>
                  </a:solidFill>
                  <a:prstDash val="solid"/>
                </a:ln>
                <a:solidFill>
                  <a:srgbClr val="FF0000"/>
                </a:solidFill>
                <a:effectLst>
                  <a:outerShdw blurRad="12700" dist="38100" dir="2700000" algn="tl" rotWithShape="0">
                    <a:schemeClr val="accent5">
                      <a:lumMod val="60000"/>
                      <a:lumOff val="40000"/>
                    </a:schemeClr>
                  </a:outerShdw>
                </a:effectLst>
                <a:latin typeface="Arial Black" panose="020B0A04020102020204" pitchFamily="34" charset="0"/>
              </a:rPr>
              <a:t>Embedded </a:t>
            </a:r>
          </a:p>
          <a:p>
            <a:pPr algn="ctr"/>
            <a:r>
              <a:rPr lang="en-US" b="1" cap="none" spc="0" dirty="0">
                <a:ln w="9525">
                  <a:solidFill>
                    <a:schemeClr val="tx2">
                      <a:lumMod val="75000"/>
                    </a:schemeClr>
                  </a:solidFill>
                  <a:prstDash val="solid"/>
                </a:ln>
                <a:solidFill>
                  <a:srgbClr val="FF0000"/>
                </a:solidFill>
                <a:effectLst>
                  <a:outerShdw blurRad="12700" dist="38100" dir="2700000" algn="tl" rotWithShape="0">
                    <a:schemeClr val="accent5">
                      <a:lumMod val="60000"/>
                      <a:lumOff val="40000"/>
                    </a:schemeClr>
                  </a:outerShdw>
                </a:effectLst>
                <a:latin typeface="Arial Black" panose="020B0A04020102020204" pitchFamily="34" charset="0"/>
              </a:rPr>
              <a:t>Systems II</a:t>
            </a:r>
            <a:endParaRPr lang="en-ZA" dirty="0">
              <a:ln>
                <a:solidFill>
                  <a:schemeClr val="tx2">
                    <a:lumMod val="75000"/>
                  </a:schemeClr>
                </a:solidFill>
              </a:ln>
              <a:solidFill>
                <a:srgbClr val="FF0000"/>
              </a:solidFill>
              <a:latin typeface="Arial Black" panose="020B0A04020102020204" pitchFamily="34" charset="0"/>
            </a:endParaRPr>
          </a:p>
        </p:txBody>
      </p:sp>
      <p:grpSp>
        <p:nvGrpSpPr>
          <p:cNvPr id="15" name="Group 14">
            <a:extLst>
              <a:ext uri="{FF2B5EF4-FFF2-40B4-BE49-F238E27FC236}">
                <a16:creationId xmlns:a16="http://schemas.microsoft.com/office/drawing/2014/main" id="{563A9D01-B61D-2EE8-BCC2-EBA5D65BDFF5}"/>
              </a:ext>
            </a:extLst>
          </p:cNvPr>
          <p:cNvGrpSpPr/>
          <p:nvPr/>
        </p:nvGrpSpPr>
        <p:grpSpPr>
          <a:xfrm>
            <a:off x="1462751" y="1068842"/>
            <a:ext cx="3745770" cy="2769194"/>
            <a:chOff x="1462751" y="1068842"/>
            <a:chExt cx="3745770" cy="2769194"/>
          </a:xfrm>
        </p:grpSpPr>
        <p:pic>
          <p:nvPicPr>
            <p:cNvPr id="14" name="Picture 13" descr="A picture containing rectangle&#10;&#10;Description automatically generated">
              <a:extLst>
                <a:ext uri="{FF2B5EF4-FFF2-40B4-BE49-F238E27FC236}">
                  <a16:creationId xmlns:a16="http://schemas.microsoft.com/office/drawing/2014/main" id="{EDFA3C2F-99CE-62D4-A3D7-0DCD589130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072267">
              <a:off x="1462751" y="1068842"/>
              <a:ext cx="3745770" cy="2769194"/>
            </a:xfrm>
            <a:prstGeom prst="rect">
              <a:avLst/>
            </a:prstGeom>
          </p:spPr>
        </p:pic>
        <p:sp>
          <p:nvSpPr>
            <p:cNvPr id="5" name="Rectangle 4">
              <a:extLst>
                <a:ext uri="{FF2B5EF4-FFF2-40B4-BE49-F238E27FC236}">
                  <a16:creationId xmlns:a16="http://schemas.microsoft.com/office/drawing/2014/main" id="{DFACB953-3132-3EDD-4290-3BC4F5A26ACE}"/>
                </a:ext>
              </a:extLst>
            </p:cNvPr>
            <p:cNvSpPr/>
            <p:nvPr/>
          </p:nvSpPr>
          <p:spPr>
            <a:xfrm rot="20383774">
              <a:off x="2552849" y="2520017"/>
              <a:ext cx="1087157"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I2C</a:t>
              </a:r>
            </a:p>
          </p:txBody>
        </p:sp>
      </p:grpSp>
      <p:grpSp>
        <p:nvGrpSpPr>
          <p:cNvPr id="19" name="Group 18">
            <a:extLst>
              <a:ext uri="{FF2B5EF4-FFF2-40B4-BE49-F238E27FC236}">
                <a16:creationId xmlns:a16="http://schemas.microsoft.com/office/drawing/2014/main" id="{AC215AC8-5249-6FBB-3B3E-71343F6FA5B1}"/>
              </a:ext>
            </a:extLst>
          </p:cNvPr>
          <p:cNvGrpSpPr/>
          <p:nvPr/>
        </p:nvGrpSpPr>
        <p:grpSpPr>
          <a:xfrm>
            <a:off x="4266554" y="1413908"/>
            <a:ext cx="3553099" cy="2626755"/>
            <a:chOff x="4266554" y="1413908"/>
            <a:chExt cx="3553099" cy="2626755"/>
          </a:xfrm>
        </p:grpSpPr>
        <p:pic>
          <p:nvPicPr>
            <p:cNvPr id="17" name="Picture 16" descr="A picture containing icon&#10;&#10;Description automatically generated">
              <a:extLst>
                <a:ext uri="{FF2B5EF4-FFF2-40B4-BE49-F238E27FC236}">
                  <a16:creationId xmlns:a16="http://schemas.microsoft.com/office/drawing/2014/main" id="{F2B22414-8725-B5F1-4CCB-C167D07B3F6C}"/>
                </a:ext>
              </a:extLst>
            </p:cNvPr>
            <p:cNvPicPr>
              <a:picLocks noChangeAspect="1"/>
            </p:cNvPicPr>
            <p:nvPr/>
          </p:nvPicPr>
          <p:blipFill>
            <a:blip r:embed="rId6">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1163860">
              <a:off x="4266554" y="1413908"/>
              <a:ext cx="3553099" cy="2626755"/>
            </a:xfrm>
            <a:prstGeom prst="rect">
              <a:avLst/>
            </a:prstGeom>
          </p:spPr>
        </p:pic>
        <p:sp>
          <p:nvSpPr>
            <p:cNvPr id="18" name="Rectangle 17">
              <a:extLst>
                <a:ext uri="{FF2B5EF4-FFF2-40B4-BE49-F238E27FC236}">
                  <a16:creationId xmlns:a16="http://schemas.microsoft.com/office/drawing/2014/main" id="{32080DCC-317F-E14B-9E00-A81B9B74C424}"/>
                </a:ext>
              </a:extLst>
            </p:cNvPr>
            <p:cNvSpPr/>
            <p:nvPr/>
          </p:nvSpPr>
          <p:spPr>
            <a:xfrm rot="1544292">
              <a:off x="5089508" y="2449244"/>
              <a:ext cx="1064715"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SPI</a:t>
              </a:r>
            </a:p>
          </p:txBody>
        </p:sp>
      </p:grpSp>
      <p:pic>
        <p:nvPicPr>
          <p:cNvPr id="8" name="Picture 7">
            <a:extLst>
              <a:ext uri="{FF2B5EF4-FFF2-40B4-BE49-F238E27FC236}">
                <a16:creationId xmlns:a16="http://schemas.microsoft.com/office/drawing/2014/main" id="{1343773C-40DF-40FD-5A6E-42DBCA30182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21139438">
            <a:off x="5791782" y="1698725"/>
            <a:ext cx="2252816" cy="2695333"/>
          </a:xfrm>
          <a:prstGeom prst="rect">
            <a:avLst/>
          </a:prstGeom>
        </p:spPr>
      </p:pic>
    </p:spTree>
    <p:extLst>
      <p:ext uri="{BB962C8B-B14F-4D97-AF65-F5344CB8AC3E}">
        <p14:creationId xmlns:p14="http://schemas.microsoft.com/office/powerpoint/2010/main" val="1931454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2EBBBF-0867-8A83-573C-CCFA35D43BEA}"/>
              </a:ext>
            </a:extLst>
          </p:cNvPr>
          <p:cNvSpPr>
            <a:spLocks noGrp="1"/>
          </p:cNvSpPr>
          <p:nvPr>
            <p:ph idx="1"/>
          </p:nvPr>
        </p:nvSpPr>
        <p:spPr/>
        <p:txBody>
          <a:bodyPr>
            <a:normAutofit fontScale="85000" lnSpcReduction="20000"/>
          </a:bodyPr>
          <a:lstStyle/>
          <a:p>
            <a:r>
              <a:rPr lang="en-ZA" dirty="0">
                <a:solidFill>
                  <a:schemeClr val="tx1">
                    <a:lumMod val="50000"/>
                    <a:lumOff val="50000"/>
                  </a:schemeClr>
                </a:solidFill>
              </a:rPr>
              <a:t>Comms 1: </a:t>
            </a:r>
          </a:p>
          <a:p>
            <a:pPr lvl="1"/>
            <a:r>
              <a:rPr lang="en-ZA" dirty="0">
                <a:solidFill>
                  <a:schemeClr val="tx1">
                    <a:lumMod val="50000"/>
                    <a:lumOff val="50000"/>
                  </a:schemeClr>
                </a:solidFill>
              </a:rPr>
              <a:t>Intro: Serial vs </a:t>
            </a:r>
            <a:r>
              <a:rPr lang="en-ZA" dirty="0" err="1">
                <a:solidFill>
                  <a:schemeClr val="tx1">
                    <a:lumMod val="50000"/>
                    <a:lumOff val="50000"/>
                  </a:schemeClr>
                </a:solidFill>
              </a:rPr>
              <a:t>Parallal</a:t>
            </a:r>
            <a:r>
              <a:rPr lang="en-ZA" dirty="0">
                <a:solidFill>
                  <a:schemeClr val="tx1">
                    <a:lumMod val="50000"/>
                    <a:lumOff val="50000"/>
                  </a:schemeClr>
                </a:solidFill>
              </a:rPr>
              <a:t>, Synch/</a:t>
            </a:r>
            <a:r>
              <a:rPr lang="en-ZA" dirty="0" err="1">
                <a:solidFill>
                  <a:schemeClr val="tx1">
                    <a:lumMod val="50000"/>
                    <a:lumOff val="50000"/>
                  </a:schemeClr>
                </a:solidFill>
              </a:rPr>
              <a:t>Asynch</a:t>
            </a:r>
            <a:endParaRPr lang="en-ZA" dirty="0">
              <a:solidFill>
                <a:schemeClr val="tx1">
                  <a:lumMod val="50000"/>
                  <a:lumOff val="50000"/>
                </a:schemeClr>
              </a:solidFill>
            </a:endParaRPr>
          </a:p>
          <a:p>
            <a:r>
              <a:rPr lang="en-ZA" dirty="0"/>
              <a:t>Comms 2:</a:t>
            </a:r>
          </a:p>
          <a:p>
            <a:pPr lvl="1"/>
            <a:r>
              <a:rPr lang="en-ZA" dirty="0">
                <a:solidFill>
                  <a:schemeClr val="bg1">
                    <a:lumMod val="50000"/>
                  </a:schemeClr>
                </a:solidFill>
              </a:rPr>
              <a:t>I2C &amp; </a:t>
            </a:r>
            <a:r>
              <a:rPr lang="en-ZA" dirty="0"/>
              <a:t>SPI</a:t>
            </a:r>
            <a:r>
              <a:rPr lang="en-ZA" dirty="0">
                <a:solidFill>
                  <a:schemeClr val="bg1">
                    <a:lumMod val="50000"/>
                  </a:schemeClr>
                </a:solidFill>
              </a:rPr>
              <a:t> </a:t>
            </a:r>
          </a:p>
          <a:p>
            <a:pPr lvl="1"/>
            <a:r>
              <a:rPr lang="en-ZA" dirty="0"/>
              <a:t>UART</a:t>
            </a:r>
          </a:p>
          <a:p>
            <a:pPr lvl="1"/>
            <a:r>
              <a:rPr lang="en-ZA" dirty="0"/>
              <a:t>RS232 &amp; RS485</a:t>
            </a:r>
            <a:endParaRPr lang="en-ZA" dirty="0">
              <a:solidFill>
                <a:schemeClr val="bg1">
                  <a:lumMod val="50000"/>
                </a:schemeClr>
              </a:solidFill>
            </a:endParaRPr>
          </a:p>
          <a:p>
            <a:pPr lvl="1"/>
            <a:r>
              <a:rPr lang="en-ZA" dirty="0">
                <a:solidFill>
                  <a:schemeClr val="bg1">
                    <a:lumMod val="50000"/>
                  </a:schemeClr>
                </a:solidFill>
              </a:rPr>
              <a:t>PWMs &amp; Peripherals (not used yet in Prac2)</a:t>
            </a:r>
          </a:p>
          <a:p>
            <a:r>
              <a:rPr lang="en-ZA" dirty="0"/>
              <a:t>Comms 3:</a:t>
            </a:r>
          </a:p>
          <a:p>
            <a:pPr lvl="1"/>
            <a:r>
              <a:rPr lang="en-ZA" dirty="0"/>
              <a:t>Timers</a:t>
            </a:r>
          </a:p>
          <a:p>
            <a:pPr lvl="1"/>
            <a:r>
              <a:rPr lang="en-ZA" dirty="0"/>
              <a:t>Brieﬂy, some other interface protocols</a:t>
            </a:r>
          </a:p>
          <a:p>
            <a:pPr lvl="1"/>
            <a:r>
              <a:rPr lang="en-ZA" dirty="0"/>
              <a:t>{Brief Introduction to Wireless Communications – if time permits}</a:t>
            </a:r>
          </a:p>
        </p:txBody>
      </p:sp>
      <p:sp>
        <p:nvSpPr>
          <p:cNvPr id="3" name="Title 2">
            <a:extLst>
              <a:ext uri="{FF2B5EF4-FFF2-40B4-BE49-F238E27FC236}">
                <a16:creationId xmlns:a16="http://schemas.microsoft.com/office/drawing/2014/main" id="{B545D61A-4AD9-08E7-431A-8DA41B4BAA57}"/>
              </a:ext>
            </a:extLst>
          </p:cNvPr>
          <p:cNvSpPr>
            <a:spLocks noGrp="1"/>
          </p:cNvSpPr>
          <p:nvPr>
            <p:ph type="title"/>
          </p:nvPr>
        </p:nvSpPr>
        <p:spPr/>
        <p:txBody>
          <a:bodyPr/>
          <a:lstStyle/>
          <a:p>
            <a:r>
              <a:rPr lang="en-ZA" dirty="0"/>
              <a:t>ES Communications Training Plan</a:t>
            </a:r>
          </a:p>
        </p:txBody>
      </p:sp>
      <p:cxnSp>
        <p:nvCxnSpPr>
          <p:cNvPr id="5" name="Straight Arrow Connector 4">
            <a:extLst>
              <a:ext uri="{FF2B5EF4-FFF2-40B4-BE49-F238E27FC236}">
                <a16:creationId xmlns:a16="http://schemas.microsoft.com/office/drawing/2014/main" id="{A8B086FC-F424-1C01-2F72-7804943989BF}"/>
              </a:ext>
            </a:extLst>
          </p:cNvPr>
          <p:cNvCxnSpPr>
            <a:cxnSpLocks/>
          </p:cNvCxnSpPr>
          <p:nvPr/>
        </p:nvCxnSpPr>
        <p:spPr>
          <a:xfrm flipH="1">
            <a:off x="2787665" y="2350440"/>
            <a:ext cx="234666" cy="144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C1B3D9E-D7B7-AF2B-B2FE-2FFA37B77CE3}"/>
              </a:ext>
            </a:extLst>
          </p:cNvPr>
          <p:cNvCxnSpPr>
            <a:cxnSpLocks/>
          </p:cNvCxnSpPr>
          <p:nvPr/>
        </p:nvCxnSpPr>
        <p:spPr>
          <a:xfrm flipH="1">
            <a:off x="2281425" y="2818180"/>
            <a:ext cx="506240" cy="144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D018BA6-7FC3-0629-B2E7-53E7C91F7332}"/>
              </a:ext>
            </a:extLst>
          </p:cNvPr>
          <p:cNvCxnSpPr>
            <a:cxnSpLocks/>
          </p:cNvCxnSpPr>
          <p:nvPr/>
        </p:nvCxnSpPr>
        <p:spPr>
          <a:xfrm flipH="1">
            <a:off x="3503065" y="3123590"/>
            <a:ext cx="506240" cy="144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791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44573" y="2035405"/>
            <a:ext cx="4854854"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The </a:t>
            </a:r>
            <a:r>
              <a:rPr lang="en-US" sz="5400" b="1" dirty="0">
                <a:ln w="9525">
                  <a:solidFill>
                    <a:schemeClr val="bg1"/>
                  </a:solidFill>
                  <a:prstDash val="solid"/>
                </a:ln>
                <a:effectLst>
                  <a:outerShdw blurRad="12700" dist="38100" dir="2700000" algn="tl" rotWithShape="0">
                    <a:schemeClr val="bg1">
                      <a:lumMod val="50000"/>
                    </a:schemeClr>
                  </a:outerShdw>
                </a:effectLst>
              </a:rPr>
              <a:t>SPI</a:t>
            </a: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Protocol</a:t>
            </a:r>
          </a:p>
        </p:txBody>
      </p:sp>
      <p:grpSp>
        <p:nvGrpSpPr>
          <p:cNvPr id="6" name="Group 5">
            <a:extLst>
              <a:ext uri="{FF2B5EF4-FFF2-40B4-BE49-F238E27FC236}">
                <a16:creationId xmlns:a16="http://schemas.microsoft.com/office/drawing/2014/main" id="{CE090F20-DBEA-489E-4601-C6A36A75985C}"/>
              </a:ext>
            </a:extLst>
          </p:cNvPr>
          <p:cNvGrpSpPr/>
          <p:nvPr/>
        </p:nvGrpSpPr>
        <p:grpSpPr>
          <a:xfrm>
            <a:off x="2892245" y="3123590"/>
            <a:ext cx="3527050" cy="2869643"/>
            <a:chOff x="4266554" y="1413908"/>
            <a:chExt cx="3553099" cy="2626755"/>
          </a:xfrm>
        </p:grpSpPr>
        <p:pic>
          <p:nvPicPr>
            <p:cNvPr id="7" name="Picture 6" descr="A picture containing icon&#10;&#10;Description automatically generated">
              <a:extLst>
                <a:ext uri="{FF2B5EF4-FFF2-40B4-BE49-F238E27FC236}">
                  <a16:creationId xmlns:a16="http://schemas.microsoft.com/office/drawing/2014/main" id="{1A6985A8-1036-6393-5E3F-6910D313339B}"/>
                </a:ext>
              </a:extLst>
            </p:cNvPr>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1163860">
              <a:off x="4266554" y="1413908"/>
              <a:ext cx="3553099" cy="2626755"/>
            </a:xfrm>
            <a:prstGeom prst="rect">
              <a:avLst/>
            </a:prstGeom>
          </p:spPr>
        </p:pic>
        <p:sp>
          <p:nvSpPr>
            <p:cNvPr id="8" name="Rectangle 7">
              <a:extLst>
                <a:ext uri="{FF2B5EF4-FFF2-40B4-BE49-F238E27FC236}">
                  <a16:creationId xmlns:a16="http://schemas.microsoft.com/office/drawing/2014/main" id="{7587952B-252D-3025-7074-7EBD61B18D0E}"/>
                </a:ext>
              </a:extLst>
            </p:cNvPr>
            <p:cNvSpPr/>
            <p:nvPr/>
          </p:nvSpPr>
          <p:spPr>
            <a:xfrm rot="1544292">
              <a:off x="5007565" y="2497128"/>
              <a:ext cx="1072578" cy="845179"/>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SPI</a:t>
              </a:r>
            </a:p>
          </p:txBody>
        </p:sp>
      </p:grpSp>
    </p:spTree>
    <p:extLst>
      <p:ext uri="{BB962C8B-B14F-4D97-AF65-F5344CB8AC3E}">
        <p14:creationId xmlns:p14="http://schemas.microsoft.com/office/powerpoint/2010/main" val="2986388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9B4B61-72E7-0355-6D51-A18D9311B331}"/>
              </a:ext>
            </a:extLst>
          </p:cNvPr>
          <p:cNvSpPr>
            <a:spLocks noGrp="1"/>
          </p:cNvSpPr>
          <p:nvPr>
            <p:ph type="title"/>
          </p:nvPr>
        </p:nvSpPr>
        <p:spPr/>
        <p:txBody>
          <a:bodyPr anchor="ctr">
            <a:normAutofit/>
          </a:bodyPr>
          <a:lstStyle/>
          <a:p>
            <a:pPr>
              <a:lnSpc>
                <a:spcPct val="90000"/>
              </a:lnSpc>
            </a:pPr>
            <a:r>
              <a:rPr lang="en-ZA" sz="3700" dirty="0"/>
              <a:t>SPI Overview</a:t>
            </a:r>
          </a:p>
        </p:txBody>
      </p:sp>
      <p:sp>
        <p:nvSpPr>
          <p:cNvPr id="9" name="TextBox 8">
            <a:extLst>
              <a:ext uri="{FF2B5EF4-FFF2-40B4-BE49-F238E27FC236}">
                <a16:creationId xmlns:a16="http://schemas.microsoft.com/office/drawing/2014/main" id="{8A22F8AD-2FD6-EEBF-23C7-D81BCF5602D7}"/>
              </a:ext>
            </a:extLst>
          </p:cNvPr>
          <p:cNvSpPr txBox="1"/>
          <p:nvPr/>
        </p:nvSpPr>
        <p:spPr>
          <a:xfrm>
            <a:off x="624075" y="1188206"/>
            <a:ext cx="7862013" cy="424732"/>
          </a:xfrm>
          <a:prstGeom prst="rect">
            <a:avLst/>
          </a:prstGeom>
          <a:noFill/>
        </p:spPr>
        <p:txBody>
          <a:bodyPr wrap="square">
            <a:spAutoFit/>
          </a:bodyPr>
          <a:lstStyle/>
          <a:p>
            <a:pPr>
              <a:lnSpc>
                <a:spcPct val="90000"/>
              </a:lnSpc>
            </a:pPr>
            <a:r>
              <a:rPr lang="en-US" sz="2400" dirty="0"/>
              <a:t>SPI = Serial Peripheral Interface</a:t>
            </a:r>
          </a:p>
        </p:txBody>
      </p:sp>
      <p:sp>
        <p:nvSpPr>
          <p:cNvPr id="10" name="TextBox 9">
            <a:extLst>
              <a:ext uri="{FF2B5EF4-FFF2-40B4-BE49-F238E27FC236}">
                <a16:creationId xmlns:a16="http://schemas.microsoft.com/office/drawing/2014/main" id="{DE0CC04C-EF06-37B1-6C44-871D0D25D078}"/>
              </a:ext>
            </a:extLst>
          </p:cNvPr>
          <p:cNvSpPr txBox="1"/>
          <p:nvPr/>
        </p:nvSpPr>
        <p:spPr>
          <a:xfrm>
            <a:off x="552997" y="1686281"/>
            <a:ext cx="7862013" cy="4745915"/>
          </a:xfrm>
          <a:prstGeom prst="rect">
            <a:avLst/>
          </a:prstGeom>
          <a:noFill/>
        </p:spPr>
        <p:txBody>
          <a:bodyPr wrap="square">
            <a:spAutoFit/>
          </a:bodyPr>
          <a:lstStyle/>
          <a:p>
            <a:pPr marL="342900" indent="-342900">
              <a:lnSpc>
                <a:spcPct val="90000"/>
              </a:lnSpc>
              <a:buFont typeface="Arial" panose="020B0604020202020204" pitchFamily="34" charset="0"/>
              <a:buChar char="•"/>
            </a:pPr>
            <a:r>
              <a:rPr lang="en-US" sz="2400" dirty="0"/>
              <a:t> Communication protocol developed by Motorola (Freescale) in 1979</a:t>
            </a:r>
          </a:p>
          <a:p>
            <a:pPr marL="342900" indent="-342900">
              <a:lnSpc>
                <a:spcPct val="90000"/>
              </a:lnSpc>
              <a:buFont typeface="Arial" panose="020B0604020202020204" pitchFamily="34" charset="0"/>
              <a:buChar char="•"/>
            </a:pPr>
            <a:r>
              <a:rPr lang="en-US" sz="2400" dirty="0"/>
              <a:t> </a:t>
            </a:r>
            <a:r>
              <a:rPr lang="en-US" sz="2400" dirty="0">
                <a:solidFill>
                  <a:srgbClr val="FF0000"/>
                </a:solidFill>
              </a:rPr>
              <a:t>Full duplex</a:t>
            </a:r>
            <a:r>
              <a:rPr lang="en-US" sz="2400" dirty="0"/>
              <a:t> (both ends can transmit simultaneously)</a:t>
            </a:r>
          </a:p>
          <a:p>
            <a:pPr marL="342900" indent="-342900">
              <a:lnSpc>
                <a:spcPct val="90000"/>
              </a:lnSpc>
              <a:buFont typeface="Arial" panose="020B0604020202020204" pitchFamily="34" charset="0"/>
              <a:buChar char="•"/>
            </a:pPr>
            <a:r>
              <a:rPr lang="en-US" sz="2400" dirty="0"/>
              <a:t> </a:t>
            </a:r>
            <a:r>
              <a:rPr lang="en-US" sz="2400" dirty="0">
                <a:solidFill>
                  <a:srgbClr val="FF0000"/>
                </a:solidFill>
              </a:rPr>
              <a:t>Serial</a:t>
            </a:r>
            <a:r>
              <a:rPr lang="en-US" sz="2400" dirty="0"/>
              <a:t> (bits sent sequentially), </a:t>
            </a:r>
          </a:p>
          <a:p>
            <a:pPr marL="342900" indent="-342900">
              <a:lnSpc>
                <a:spcPct val="90000"/>
              </a:lnSpc>
              <a:buFont typeface="Arial" panose="020B0604020202020204" pitchFamily="34" charset="0"/>
              <a:buChar char="•"/>
            </a:pPr>
            <a:r>
              <a:rPr lang="en-US" sz="2400" dirty="0"/>
              <a:t> </a:t>
            </a:r>
            <a:r>
              <a:rPr lang="en-US" sz="2400" dirty="0">
                <a:solidFill>
                  <a:srgbClr val="FF0000"/>
                </a:solidFill>
              </a:rPr>
              <a:t>Synchronous</a:t>
            </a:r>
            <a:r>
              <a:rPr lang="en-US" sz="2400" dirty="0"/>
              <a:t> (uses a shared clock)</a:t>
            </a:r>
          </a:p>
          <a:p>
            <a:pPr marL="342900" indent="-342900">
              <a:lnSpc>
                <a:spcPct val="90000"/>
              </a:lnSpc>
              <a:buFont typeface="Arial" panose="020B0604020202020204" pitchFamily="34" charset="0"/>
              <a:buChar char="•"/>
            </a:pPr>
            <a:r>
              <a:rPr lang="en-US" sz="2400" dirty="0"/>
              <a:t> </a:t>
            </a:r>
            <a:r>
              <a:rPr lang="en-US" sz="2400" dirty="0">
                <a:solidFill>
                  <a:srgbClr val="FF0000"/>
                </a:solidFill>
              </a:rPr>
              <a:t>Faster than I2C</a:t>
            </a:r>
            <a:r>
              <a:rPr lang="en-US" sz="2400" dirty="0"/>
              <a:t>, but slightly more complex and requires more lines.</a:t>
            </a:r>
          </a:p>
          <a:p>
            <a:pPr marL="342900" indent="-342900">
              <a:lnSpc>
                <a:spcPct val="90000"/>
              </a:lnSpc>
              <a:buFont typeface="Arial" panose="020B0604020202020204" pitchFamily="34" charset="0"/>
              <a:buChar char="•"/>
            </a:pPr>
            <a:r>
              <a:rPr lang="en-US" sz="2400" dirty="0"/>
              <a:t> </a:t>
            </a:r>
            <a:r>
              <a:rPr lang="en-US" sz="2400" dirty="0">
                <a:solidFill>
                  <a:srgbClr val="FF0000"/>
                </a:solidFill>
              </a:rPr>
              <a:t>No Start/Stop</a:t>
            </a:r>
            <a:r>
              <a:rPr lang="en-US" sz="2400" dirty="0"/>
              <a:t> commands, or addressing, instead a </a:t>
            </a:r>
            <a:r>
              <a:rPr lang="en-US" sz="2400" dirty="0">
                <a:solidFill>
                  <a:srgbClr val="FF0000"/>
                </a:solidFill>
              </a:rPr>
              <a:t>dedicated slave select line</a:t>
            </a:r>
            <a:r>
              <a:rPr lang="en-US" sz="2400" dirty="0"/>
              <a:t> is used</a:t>
            </a:r>
          </a:p>
          <a:p>
            <a:pPr marL="342900" indent="-342900">
              <a:lnSpc>
                <a:spcPct val="90000"/>
              </a:lnSpc>
              <a:buFont typeface="Arial" panose="020B0604020202020204" pitchFamily="34" charset="0"/>
              <a:buChar char="•"/>
            </a:pPr>
            <a:r>
              <a:rPr lang="en-US" sz="2400" dirty="0"/>
              <a:t> Supports multiple slave devices on the same bus with a </a:t>
            </a:r>
            <a:r>
              <a:rPr lang="en-US" sz="2400" dirty="0">
                <a:solidFill>
                  <a:srgbClr val="FF0000"/>
                </a:solidFill>
              </a:rPr>
              <a:t>single master</a:t>
            </a:r>
          </a:p>
          <a:p>
            <a:pPr marL="342900" indent="-342900">
              <a:lnSpc>
                <a:spcPct val="90000"/>
              </a:lnSpc>
              <a:buFont typeface="Arial" panose="020B0604020202020204" pitchFamily="34" charset="0"/>
              <a:buChar char="•"/>
            </a:pPr>
            <a:r>
              <a:rPr lang="en-US" sz="2400" dirty="0"/>
              <a:t> Also used on PCBs and between nearby chips (only works over short distances). </a:t>
            </a:r>
            <a:br>
              <a:rPr lang="en-US" sz="2400" dirty="0"/>
            </a:br>
            <a:r>
              <a:rPr lang="en-US" sz="2400" dirty="0"/>
              <a:t>e.g. ADC, Temperature sensor, RTC, SD card, EEPROM</a:t>
            </a:r>
            <a:endParaRPr lang="en-ZA" sz="2400" dirty="0"/>
          </a:p>
        </p:txBody>
      </p:sp>
    </p:spTree>
    <p:extLst>
      <p:ext uri="{BB962C8B-B14F-4D97-AF65-F5344CB8AC3E}">
        <p14:creationId xmlns:p14="http://schemas.microsoft.com/office/powerpoint/2010/main" val="1647614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9B4B61-72E7-0355-6D51-A18D9311B331}"/>
              </a:ext>
            </a:extLst>
          </p:cNvPr>
          <p:cNvSpPr>
            <a:spLocks noGrp="1"/>
          </p:cNvSpPr>
          <p:nvPr>
            <p:ph type="title"/>
          </p:nvPr>
        </p:nvSpPr>
        <p:spPr/>
        <p:txBody>
          <a:bodyPr anchor="ctr">
            <a:normAutofit/>
          </a:bodyPr>
          <a:lstStyle/>
          <a:p>
            <a:pPr>
              <a:lnSpc>
                <a:spcPct val="90000"/>
              </a:lnSpc>
            </a:pPr>
            <a:r>
              <a:rPr lang="en-ZA" sz="3700" dirty="0"/>
              <a:t>SPI Overview</a:t>
            </a:r>
          </a:p>
        </p:txBody>
      </p:sp>
      <p:sp>
        <p:nvSpPr>
          <p:cNvPr id="9" name="TextBox 8">
            <a:extLst>
              <a:ext uri="{FF2B5EF4-FFF2-40B4-BE49-F238E27FC236}">
                <a16:creationId xmlns:a16="http://schemas.microsoft.com/office/drawing/2014/main" id="{8A22F8AD-2FD6-EEBF-23C7-D81BCF5602D7}"/>
              </a:ext>
            </a:extLst>
          </p:cNvPr>
          <p:cNvSpPr txBox="1"/>
          <p:nvPr/>
        </p:nvSpPr>
        <p:spPr>
          <a:xfrm>
            <a:off x="624075" y="1188206"/>
            <a:ext cx="7862013" cy="424732"/>
          </a:xfrm>
          <a:prstGeom prst="rect">
            <a:avLst/>
          </a:prstGeom>
          <a:noFill/>
        </p:spPr>
        <p:txBody>
          <a:bodyPr wrap="square">
            <a:spAutoFit/>
          </a:bodyPr>
          <a:lstStyle/>
          <a:p>
            <a:pPr algn="ctr">
              <a:lnSpc>
                <a:spcPct val="90000"/>
              </a:lnSpc>
            </a:pPr>
            <a:r>
              <a:rPr lang="en-US" sz="2400" dirty="0"/>
              <a:t>SPI Interface Lines</a:t>
            </a:r>
          </a:p>
        </p:txBody>
      </p:sp>
      <p:sp>
        <p:nvSpPr>
          <p:cNvPr id="10" name="TextBox 9">
            <a:extLst>
              <a:ext uri="{FF2B5EF4-FFF2-40B4-BE49-F238E27FC236}">
                <a16:creationId xmlns:a16="http://schemas.microsoft.com/office/drawing/2014/main" id="{DE0CC04C-EF06-37B1-6C44-871D0D25D078}"/>
              </a:ext>
            </a:extLst>
          </p:cNvPr>
          <p:cNvSpPr txBox="1"/>
          <p:nvPr/>
        </p:nvSpPr>
        <p:spPr>
          <a:xfrm>
            <a:off x="519694" y="4740600"/>
            <a:ext cx="4357716" cy="1698927"/>
          </a:xfrm>
          <a:prstGeom prst="rect">
            <a:avLst/>
          </a:prstGeom>
          <a:noFill/>
        </p:spPr>
        <p:txBody>
          <a:bodyPr wrap="square">
            <a:spAutoFit/>
          </a:bodyPr>
          <a:lstStyle/>
          <a:p>
            <a:pPr>
              <a:lnSpc>
                <a:spcPct val="90000"/>
              </a:lnSpc>
            </a:pPr>
            <a:r>
              <a:rPr lang="en-US" sz="2000" dirty="0"/>
              <a:t>Lines required:</a:t>
            </a:r>
          </a:p>
          <a:p>
            <a:pPr marL="342900" indent="-342900">
              <a:lnSpc>
                <a:spcPct val="90000"/>
              </a:lnSpc>
              <a:buFont typeface="Arial" panose="020B0604020202020204" pitchFamily="34" charset="0"/>
              <a:buChar char="•"/>
            </a:pPr>
            <a:r>
              <a:rPr lang="en-US" sz="2000" dirty="0"/>
              <a:t> </a:t>
            </a:r>
            <a:r>
              <a:rPr lang="en-US" sz="2000" dirty="0">
                <a:solidFill>
                  <a:srgbClr val="C00000"/>
                </a:solidFill>
              </a:rPr>
              <a:t>SCLK:</a:t>
            </a:r>
            <a:r>
              <a:rPr lang="en-US" sz="2000" dirty="0"/>
              <a:t> Clock generated by master</a:t>
            </a:r>
          </a:p>
          <a:p>
            <a:pPr marL="342900" indent="-342900">
              <a:lnSpc>
                <a:spcPct val="90000"/>
              </a:lnSpc>
              <a:buFont typeface="Arial" panose="020B0604020202020204" pitchFamily="34" charset="0"/>
              <a:buChar char="•"/>
            </a:pPr>
            <a:r>
              <a:rPr lang="en-US" sz="2000" dirty="0"/>
              <a:t> </a:t>
            </a:r>
            <a:r>
              <a:rPr lang="en-US" sz="2000" dirty="0">
                <a:solidFill>
                  <a:srgbClr val="C00000"/>
                </a:solidFill>
              </a:rPr>
              <a:t>MOSI:</a:t>
            </a:r>
            <a:r>
              <a:rPr lang="en-US" sz="2000" dirty="0"/>
              <a:t> Master Out Slave In </a:t>
            </a:r>
          </a:p>
          <a:p>
            <a:pPr marL="342900" indent="-342900">
              <a:lnSpc>
                <a:spcPct val="90000"/>
              </a:lnSpc>
              <a:buFont typeface="Arial" panose="020B0604020202020204" pitchFamily="34" charset="0"/>
              <a:buChar char="•"/>
            </a:pPr>
            <a:r>
              <a:rPr lang="en-US" sz="2000" dirty="0"/>
              <a:t> </a:t>
            </a:r>
            <a:r>
              <a:rPr lang="en-US" sz="2000" dirty="0">
                <a:solidFill>
                  <a:srgbClr val="C00000"/>
                </a:solidFill>
              </a:rPr>
              <a:t>MISO:</a:t>
            </a:r>
            <a:r>
              <a:rPr lang="en-US" sz="2000" dirty="0"/>
              <a:t> Master In Slave Out</a:t>
            </a:r>
          </a:p>
          <a:p>
            <a:pPr marL="342900" indent="-342900">
              <a:lnSpc>
                <a:spcPct val="90000"/>
              </a:lnSpc>
              <a:buFont typeface="Arial" panose="020B0604020202020204" pitchFamily="34" charset="0"/>
              <a:buChar char="•"/>
            </a:pPr>
            <a:r>
              <a:rPr lang="en-US" sz="2000" dirty="0"/>
              <a:t> </a:t>
            </a:r>
            <a:r>
              <a:rPr lang="en-US" sz="2000" dirty="0">
                <a:solidFill>
                  <a:srgbClr val="C00000"/>
                </a:solidFill>
              </a:rPr>
              <a:t>!SS:</a:t>
            </a:r>
            <a:r>
              <a:rPr lang="en-US" sz="2000" dirty="0"/>
              <a:t> Slave Select, active low </a:t>
            </a:r>
            <a:r>
              <a:rPr lang="en-US" sz="1400" dirty="0"/>
              <a:t>(hence !)</a:t>
            </a:r>
            <a:r>
              <a:rPr lang="en-US" sz="2000" dirty="0"/>
              <a:t> </a:t>
            </a:r>
            <a:br>
              <a:rPr lang="en-US" sz="2000" dirty="0"/>
            </a:br>
            <a:r>
              <a:rPr lang="en-US" sz="1600" dirty="0"/>
              <a:t> // SS sometimes called CS=Chip Select</a:t>
            </a:r>
          </a:p>
        </p:txBody>
      </p:sp>
      <p:sp>
        <p:nvSpPr>
          <p:cNvPr id="2" name="TextBox 1">
            <a:extLst>
              <a:ext uri="{FF2B5EF4-FFF2-40B4-BE49-F238E27FC236}">
                <a16:creationId xmlns:a16="http://schemas.microsoft.com/office/drawing/2014/main" id="{B4E4D522-A4F7-DBF4-B52C-9F5A160EAC55}"/>
              </a:ext>
            </a:extLst>
          </p:cNvPr>
          <p:cNvSpPr txBox="1"/>
          <p:nvPr/>
        </p:nvSpPr>
        <p:spPr>
          <a:xfrm>
            <a:off x="4662525" y="4913754"/>
            <a:ext cx="3901828" cy="1338828"/>
          </a:xfrm>
          <a:prstGeom prst="rect">
            <a:avLst/>
          </a:prstGeom>
          <a:noFill/>
        </p:spPr>
        <p:txBody>
          <a:bodyPr wrap="square">
            <a:spAutoFit/>
          </a:bodyPr>
          <a:lstStyle/>
          <a:p>
            <a:pPr>
              <a:lnSpc>
                <a:spcPct val="90000"/>
              </a:lnSpc>
            </a:pPr>
            <a:r>
              <a:rPr lang="en-US" u="sng" dirty="0"/>
              <a:t>Operation:</a:t>
            </a:r>
          </a:p>
          <a:p>
            <a:pPr>
              <a:lnSpc>
                <a:spcPct val="90000"/>
              </a:lnSpc>
            </a:pPr>
            <a:r>
              <a:rPr lang="en-US" dirty="0"/>
              <a:t>Master-generated CLK moves data onto the data transfer lines (MOSI, MISO) and from/into the end point shift registers simultaneously.</a:t>
            </a:r>
            <a:endParaRPr lang="en-ZA" dirty="0"/>
          </a:p>
        </p:txBody>
      </p:sp>
      <p:pic>
        <p:nvPicPr>
          <p:cNvPr id="7" name="Picture 6" descr="Diagram, schematic&#10;&#10;Description automatically generated">
            <a:extLst>
              <a:ext uri="{FF2B5EF4-FFF2-40B4-BE49-F238E27FC236}">
                <a16:creationId xmlns:a16="http://schemas.microsoft.com/office/drawing/2014/main" id="{C892A8A3-506F-D0AB-9DB3-105D2124D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075" y="1734002"/>
            <a:ext cx="7862014" cy="2904552"/>
          </a:xfrm>
          <a:prstGeom prst="rect">
            <a:avLst/>
          </a:prstGeom>
        </p:spPr>
      </p:pic>
      <p:sp>
        <p:nvSpPr>
          <p:cNvPr id="11" name="TextBox 10">
            <a:extLst>
              <a:ext uri="{FF2B5EF4-FFF2-40B4-BE49-F238E27FC236}">
                <a16:creationId xmlns:a16="http://schemas.microsoft.com/office/drawing/2014/main" id="{3700D749-A50E-13E1-B249-4983DD5CE13F}"/>
              </a:ext>
            </a:extLst>
          </p:cNvPr>
          <p:cNvSpPr txBox="1"/>
          <p:nvPr/>
        </p:nvSpPr>
        <p:spPr>
          <a:xfrm>
            <a:off x="907080" y="6324129"/>
            <a:ext cx="3359510" cy="307777"/>
          </a:xfrm>
          <a:prstGeom prst="rect">
            <a:avLst/>
          </a:prstGeom>
          <a:noFill/>
        </p:spPr>
        <p:txBody>
          <a:bodyPr wrap="square">
            <a:spAutoFit/>
          </a:bodyPr>
          <a:lstStyle/>
          <a:p>
            <a:r>
              <a:rPr lang="en-US" sz="1400" i="1" dirty="0">
                <a:solidFill>
                  <a:srgbClr val="0070C0"/>
                </a:solidFill>
                <a:latin typeface="Times New Roman" panose="02020603050405020304" pitchFamily="18" charset="0"/>
                <a:cs typeface="Times New Roman" panose="02020603050405020304" pitchFamily="18" charset="0"/>
              </a:rPr>
              <a:t>Can use | or ! to indicate active low</a:t>
            </a:r>
            <a:endParaRPr lang="en-ZA" sz="1400" i="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348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FB1A-7203-6695-FCCF-4F716CF09FAE}"/>
              </a:ext>
            </a:extLst>
          </p:cNvPr>
          <p:cNvSpPr>
            <a:spLocks noGrp="1"/>
          </p:cNvSpPr>
          <p:nvPr>
            <p:ph type="title"/>
          </p:nvPr>
        </p:nvSpPr>
        <p:spPr/>
        <p:txBody>
          <a:bodyPr>
            <a:noAutofit/>
          </a:bodyPr>
          <a:lstStyle/>
          <a:p>
            <a:r>
              <a:rPr lang="en-US" sz="3600" dirty="0"/>
              <a:t>SPI Protocol</a:t>
            </a:r>
            <a:endParaRPr lang="en-ZA" sz="3600" dirty="0"/>
          </a:p>
        </p:txBody>
      </p:sp>
      <p:sp>
        <p:nvSpPr>
          <p:cNvPr id="3" name="TextBox 2">
            <a:extLst>
              <a:ext uri="{FF2B5EF4-FFF2-40B4-BE49-F238E27FC236}">
                <a16:creationId xmlns:a16="http://schemas.microsoft.com/office/drawing/2014/main" id="{49CEDBDD-06F7-9D58-E443-414EB09F029F}"/>
              </a:ext>
            </a:extLst>
          </p:cNvPr>
          <p:cNvSpPr txBox="1"/>
          <p:nvPr/>
        </p:nvSpPr>
        <p:spPr>
          <a:xfrm>
            <a:off x="624075" y="1188206"/>
            <a:ext cx="7862013" cy="424732"/>
          </a:xfrm>
          <a:prstGeom prst="rect">
            <a:avLst/>
          </a:prstGeom>
          <a:noFill/>
        </p:spPr>
        <p:txBody>
          <a:bodyPr wrap="square">
            <a:spAutoFit/>
          </a:bodyPr>
          <a:lstStyle/>
          <a:p>
            <a:pPr>
              <a:lnSpc>
                <a:spcPct val="90000"/>
              </a:lnSpc>
            </a:pPr>
            <a:r>
              <a:rPr lang="en-US" sz="2400" dirty="0"/>
              <a:t>Top: state of operation   Bottom: what happens on signal lines</a:t>
            </a:r>
          </a:p>
        </p:txBody>
      </p:sp>
      <p:pic>
        <p:nvPicPr>
          <p:cNvPr id="6" name="Picture 5">
            <a:extLst>
              <a:ext uri="{FF2B5EF4-FFF2-40B4-BE49-F238E27FC236}">
                <a16:creationId xmlns:a16="http://schemas.microsoft.com/office/drawing/2014/main" id="{0BC07179-0DE1-438D-9936-DB32BAF696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62783" y="1635613"/>
            <a:ext cx="6784503" cy="2884997"/>
          </a:xfrm>
          <a:prstGeom prst="rect">
            <a:avLst/>
          </a:prstGeom>
        </p:spPr>
      </p:pic>
      <p:sp>
        <p:nvSpPr>
          <p:cNvPr id="4" name="TextBox 3">
            <a:extLst>
              <a:ext uri="{FF2B5EF4-FFF2-40B4-BE49-F238E27FC236}">
                <a16:creationId xmlns:a16="http://schemas.microsoft.com/office/drawing/2014/main" id="{0AF543A8-7F5B-D93D-A6F8-6B3829F84FC9}"/>
              </a:ext>
            </a:extLst>
          </p:cNvPr>
          <p:cNvSpPr txBox="1"/>
          <p:nvPr/>
        </p:nvSpPr>
        <p:spPr>
          <a:xfrm>
            <a:off x="624075" y="4451105"/>
            <a:ext cx="7862013" cy="1477328"/>
          </a:xfrm>
          <a:prstGeom prst="rect">
            <a:avLst/>
          </a:prstGeom>
          <a:noFill/>
        </p:spPr>
        <p:txBody>
          <a:bodyPr wrap="square">
            <a:spAutoFit/>
          </a:bodyPr>
          <a:lstStyle/>
          <a:p>
            <a:pPr>
              <a:lnSpc>
                <a:spcPct val="90000"/>
              </a:lnSpc>
            </a:pPr>
            <a:r>
              <a:rPr lang="en-US" sz="2000" dirty="0"/>
              <a:t>Three pretty simple parts…</a:t>
            </a:r>
          </a:p>
          <a:p>
            <a:pPr marL="457200" indent="-457200">
              <a:lnSpc>
                <a:spcPct val="90000"/>
              </a:lnSpc>
              <a:buFont typeface="+mj-lt"/>
              <a:buAutoNum type="arabicPeriod"/>
            </a:pPr>
            <a:r>
              <a:rPr lang="en-US" sz="2000" dirty="0"/>
              <a:t> </a:t>
            </a:r>
            <a:r>
              <a:rPr lang="en-US" sz="2000" dirty="0">
                <a:solidFill>
                  <a:srgbClr val="006600"/>
                </a:solidFill>
              </a:rPr>
              <a:t>Idle state:</a:t>
            </a:r>
            <a:r>
              <a:rPr lang="en-US" sz="2000" dirty="0"/>
              <a:t> SCLK not switching, !SS HIGH</a:t>
            </a:r>
          </a:p>
          <a:p>
            <a:pPr marL="457200" indent="-457200">
              <a:lnSpc>
                <a:spcPct val="90000"/>
              </a:lnSpc>
              <a:buFont typeface="+mj-lt"/>
              <a:buAutoNum type="arabicPeriod"/>
            </a:pPr>
            <a:r>
              <a:rPr lang="en-US" sz="2000" dirty="0"/>
              <a:t> </a:t>
            </a:r>
            <a:r>
              <a:rPr lang="en-US" sz="2000" dirty="0">
                <a:solidFill>
                  <a:srgbClr val="2A5A06"/>
                </a:solidFill>
              </a:rPr>
              <a:t>!SS pulled LOW:</a:t>
            </a:r>
            <a:r>
              <a:rPr lang="en-US" sz="2000" dirty="0"/>
              <a:t> Starts data transfer from the 1st </a:t>
            </a:r>
            <a:r>
              <a:rPr lang="en-US" sz="2000" dirty="0" err="1"/>
              <a:t>clk</a:t>
            </a:r>
            <a:r>
              <a:rPr lang="en-US" sz="2000" dirty="0"/>
              <a:t> edge </a:t>
            </a:r>
            <a:br>
              <a:rPr lang="en-US" sz="2000" dirty="0"/>
            </a:br>
            <a:r>
              <a:rPr lang="en-US" sz="2000" dirty="0"/>
              <a:t> (rising or falling depending on mode)</a:t>
            </a:r>
          </a:p>
          <a:p>
            <a:pPr marL="457200" indent="-457200">
              <a:lnSpc>
                <a:spcPct val="90000"/>
              </a:lnSpc>
              <a:buFont typeface="+mj-lt"/>
              <a:buAutoNum type="arabicPeriod"/>
            </a:pPr>
            <a:r>
              <a:rPr lang="en-US" sz="2000" dirty="0"/>
              <a:t> </a:t>
            </a:r>
            <a:r>
              <a:rPr lang="en-US" sz="2000" dirty="0">
                <a:solidFill>
                  <a:srgbClr val="2A5A06"/>
                </a:solidFill>
              </a:rPr>
              <a:t>!SS going HIGH:</a:t>
            </a:r>
            <a:r>
              <a:rPr lang="en-US" sz="2000" dirty="0"/>
              <a:t> Disables any slaves and stops data movement</a:t>
            </a:r>
            <a:endParaRPr lang="en-ZA" sz="2000" dirty="0"/>
          </a:p>
        </p:txBody>
      </p:sp>
    </p:spTree>
    <p:extLst>
      <p:ext uri="{BB962C8B-B14F-4D97-AF65-F5344CB8AC3E}">
        <p14:creationId xmlns:p14="http://schemas.microsoft.com/office/powerpoint/2010/main" val="138899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C07179-0DE1-438D-9936-DB32BAF696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26739" y="1479980"/>
            <a:ext cx="5690521" cy="3320437"/>
          </a:xfrm>
          <a:prstGeom prst="rect">
            <a:avLst/>
          </a:prstGeom>
        </p:spPr>
      </p:pic>
      <p:sp>
        <p:nvSpPr>
          <p:cNvPr id="2" name="Title 1">
            <a:extLst>
              <a:ext uri="{FF2B5EF4-FFF2-40B4-BE49-F238E27FC236}">
                <a16:creationId xmlns:a16="http://schemas.microsoft.com/office/drawing/2014/main" id="{D6E9FB1A-7203-6695-FCCF-4F716CF09FAE}"/>
              </a:ext>
            </a:extLst>
          </p:cNvPr>
          <p:cNvSpPr>
            <a:spLocks noGrp="1"/>
          </p:cNvSpPr>
          <p:nvPr>
            <p:ph type="title"/>
          </p:nvPr>
        </p:nvSpPr>
        <p:spPr/>
        <p:txBody>
          <a:bodyPr>
            <a:noAutofit/>
          </a:bodyPr>
          <a:lstStyle/>
          <a:p>
            <a:r>
              <a:rPr lang="en-US" sz="3600" dirty="0"/>
              <a:t>SPI Protocol</a:t>
            </a:r>
            <a:endParaRPr lang="en-ZA" sz="3600" dirty="0"/>
          </a:p>
        </p:txBody>
      </p:sp>
      <p:sp>
        <p:nvSpPr>
          <p:cNvPr id="3" name="TextBox 2">
            <a:extLst>
              <a:ext uri="{FF2B5EF4-FFF2-40B4-BE49-F238E27FC236}">
                <a16:creationId xmlns:a16="http://schemas.microsoft.com/office/drawing/2014/main" id="{49CEDBDD-06F7-9D58-E443-414EB09F029F}"/>
              </a:ext>
            </a:extLst>
          </p:cNvPr>
          <p:cNvSpPr txBox="1"/>
          <p:nvPr/>
        </p:nvSpPr>
        <p:spPr>
          <a:xfrm>
            <a:off x="624075" y="1188206"/>
            <a:ext cx="7862013" cy="424732"/>
          </a:xfrm>
          <a:prstGeom prst="rect">
            <a:avLst/>
          </a:prstGeom>
          <a:noFill/>
        </p:spPr>
        <p:txBody>
          <a:bodyPr wrap="square">
            <a:spAutoFit/>
          </a:bodyPr>
          <a:lstStyle/>
          <a:p>
            <a:pPr>
              <a:lnSpc>
                <a:spcPct val="90000"/>
              </a:lnSpc>
            </a:pPr>
            <a:r>
              <a:rPr lang="en-US" sz="2400" i="1" dirty="0"/>
              <a:t>Top:</a:t>
            </a:r>
            <a:r>
              <a:rPr lang="en-US" sz="2400" dirty="0"/>
              <a:t> state of operation   </a:t>
            </a:r>
            <a:r>
              <a:rPr lang="en-US" sz="2400" i="1" dirty="0"/>
              <a:t>Bottom:</a:t>
            </a:r>
            <a:r>
              <a:rPr lang="en-US" sz="2400" dirty="0"/>
              <a:t> what happens on signal lines</a:t>
            </a:r>
          </a:p>
        </p:txBody>
      </p:sp>
      <p:sp>
        <p:nvSpPr>
          <p:cNvPr id="4" name="TextBox 3">
            <a:extLst>
              <a:ext uri="{FF2B5EF4-FFF2-40B4-BE49-F238E27FC236}">
                <a16:creationId xmlns:a16="http://schemas.microsoft.com/office/drawing/2014/main" id="{0AF543A8-7F5B-D93D-A6F8-6B3829F84FC9}"/>
              </a:ext>
            </a:extLst>
          </p:cNvPr>
          <p:cNvSpPr txBox="1"/>
          <p:nvPr/>
        </p:nvSpPr>
        <p:spPr>
          <a:xfrm>
            <a:off x="624075" y="4771542"/>
            <a:ext cx="7862013" cy="1477328"/>
          </a:xfrm>
          <a:prstGeom prst="rect">
            <a:avLst/>
          </a:prstGeom>
          <a:noFill/>
        </p:spPr>
        <p:txBody>
          <a:bodyPr wrap="square">
            <a:spAutoFit/>
          </a:bodyPr>
          <a:lstStyle/>
          <a:p>
            <a:pPr>
              <a:lnSpc>
                <a:spcPct val="90000"/>
              </a:lnSpc>
            </a:pPr>
            <a:r>
              <a:rPr lang="en-US" sz="2000" dirty="0"/>
              <a:t>Three pretty simple parts…</a:t>
            </a:r>
          </a:p>
          <a:p>
            <a:pPr marL="457200" indent="-457200">
              <a:lnSpc>
                <a:spcPct val="90000"/>
              </a:lnSpc>
              <a:buFont typeface="+mj-lt"/>
              <a:buAutoNum type="arabicPeriod"/>
            </a:pPr>
            <a:r>
              <a:rPr lang="en-US" sz="2000" dirty="0"/>
              <a:t> </a:t>
            </a:r>
            <a:r>
              <a:rPr lang="en-US" sz="2000" dirty="0">
                <a:solidFill>
                  <a:srgbClr val="006600"/>
                </a:solidFill>
              </a:rPr>
              <a:t>Idle state:</a:t>
            </a:r>
            <a:r>
              <a:rPr lang="en-US" sz="2000" dirty="0"/>
              <a:t> SCLK not switching, !SS </a:t>
            </a:r>
            <a:r>
              <a:rPr lang="en-US" sz="2000" dirty="0">
                <a:solidFill>
                  <a:srgbClr val="2A5A06"/>
                </a:solidFill>
              </a:rPr>
              <a:t>HIGH</a:t>
            </a:r>
          </a:p>
          <a:p>
            <a:pPr marL="457200" indent="-457200">
              <a:lnSpc>
                <a:spcPct val="90000"/>
              </a:lnSpc>
              <a:buFont typeface="+mj-lt"/>
              <a:buAutoNum type="arabicPeriod"/>
            </a:pPr>
            <a:r>
              <a:rPr lang="en-US" sz="2000" dirty="0"/>
              <a:t> </a:t>
            </a:r>
            <a:r>
              <a:rPr lang="en-US" sz="2000" dirty="0">
                <a:solidFill>
                  <a:srgbClr val="2A5A06"/>
                </a:solidFill>
              </a:rPr>
              <a:t>!SS pulled LOW:</a:t>
            </a:r>
            <a:r>
              <a:rPr lang="en-US" sz="2000" dirty="0"/>
              <a:t> </a:t>
            </a:r>
            <a:r>
              <a:rPr lang="en-US" sz="2000" dirty="0">
                <a:solidFill>
                  <a:srgbClr val="2A5A06"/>
                </a:solidFill>
              </a:rPr>
              <a:t>Starts</a:t>
            </a:r>
            <a:r>
              <a:rPr lang="en-US" sz="2000" dirty="0"/>
              <a:t> data transfer from the 1st </a:t>
            </a:r>
            <a:r>
              <a:rPr lang="en-US" sz="2000" dirty="0" err="1"/>
              <a:t>clk</a:t>
            </a:r>
            <a:r>
              <a:rPr lang="en-US" sz="2000" dirty="0"/>
              <a:t> edge </a:t>
            </a:r>
            <a:br>
              <a:rPr lang="en-US" sz="2000" dirty="0"/>
            </a:br>
            <a:r>
              <a:rPr lang="en-US" sz="2000" dirty="0"/>
              <a:t> (rising or falling depending on mode)</a:t>
            </a:r>
          </a:p>
          <a:p>
            <a:pPr marL="457200" indent="-457200">
              <a:lnSpc>
                <a:spcPct val="90000"/>
              </a:lnSpc>
              <a:buFont typeface="+mj-lt"/>
              <a:buAutoNum type="arabicPeriod"/>
            </a:pPr>
            <a:r>
              <a:rPr lang="en-US" sz="2000" dirty="0"/>
              <a:t> </a:t>
            </a:r>
            <a:r>
              <a:rPr lang="en-US" sz="2000" dirty="0">
                <a:solidFill>
                  <a:srgbClr val="2A5A06"/>
                </a:solidFill>
              </a:rPr>
              <a:t>!SS going HIGH:</a:t>
            </a:r>
            <a:r>
              <a:rPr lang="en-US" sz="2000" dirty="0"/>
              <a:t> Disables any slaves and stops data movement</a:t>
            </a:r>
            <a:endParaRPr lang="en-ZA" sz="2000" dirty="0"/>
          </a:p>
        </p:txBody>
      </p:sp>
    </p:spTree>
    <p:extLst>
      <p:ext uri="{BB962C8B-B14F-4D97-AF65-F5344CB8AC3E}">
        <p14:creationId xmlns:p14="http://schemas.microsoft.com/office/powerpoint/2010/main" val="2667529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PI - What It Is, How It Works, And What It Means For You. - NetBurner">
            <a:extLst>
              <a:ext uri="{FF2B5EF4-FFF2-40B4-BE49-F238E27FC236}">
                <a16:creationId xmlns:a16="http://schemas.microsoft.com/office/drawing/2014/main" id="{EA040A7F-BEC0-DB84-32E0-D27D06CD432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5317" y="2206393"/>
            <a:ext cx="8076895" cy="280672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01B703F-DDCF-F177-9EB9-70FFF005E069}"/>
              </a:ext>
            </a:extLst>
          </p:cNvPr>
          <p:cNvSpPr>
            <a:spLocks noGrp="1"/>
          </p:cNvSpPr>
          <p:nvPr>
            <p:ph type="title"/>
          </p:nvPr>
        </p:nvSpPr>
        <p:spPr>
          <a:xfrm>
            <a:off x="510362" y="265814"/>
            <a:ext cx="8123275" cy="709272"/>
          </a:xfrm>
        </p:spPr>
        <p:txBody>
          <a:bodyPr anchor="ctr">
            <a:normAutofit/>
          </a:bodyPr>
          <a:lstStyle/>
          <a:p>
            <a:r>
              <a:rPr lang="en-ZA" dirty="0"/>
              <a:t>Example transmission in </a:t>
            </a:r>
            <a:r>
              <a:rPr lang="en-ZA" dirty="0" err="1"/>
              <a:t>spi</a:t>
            </a:r>
            <a:endParaRPr lang="en-ZA" dirty="0"/>
          </a:p>
        </p:txBody>
      </p:sp>
    </p:spTree>
    <p:extLst>
      <p:ext uri="{BB962C8B-B14F-4D97-AF65-F5344CB8AC3E}">
        <p14:creationId xmlns:p14="http://schemas.microsoft.com/office/powerpoint/2010/main" val="1838600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FB1A-7203-6695-FCCF-4F716CF09FAE}"/>
              </a:ext>
            </a:extLst>
          </p:cNvPr>
          <p:cNvSpPr>
            <a:spLocks noGrp="1"/>
          </p:cNvSpPr>
          <p:nvPr>
            <p:ph type="title"/>
          </p:nvPr>
        </p:nvSpPr>
        <p:spPr/>
        <p:txBody>
          <a:bodyPr>
            <a:noAutofit/>
          </a:bodyPr>
          <a:lstStyle/>
          <a:p>
            <a:r>
              <a:rPr lang="en-US" sz="3600" dirty="0"/>
              <a:t>SPI Protocol – Clock Phase (CPHA) Settings</a:t>
            </a:r>
            <a:endParaRPr lang="en-ZA" sz="3600" dirty="0"/>
          </a:p>
        </p:txBody>
      </p:sp>
      <p:sp>
        <p:nvSpPr>
          <p:cNvPr id="4" name="TextBox 3">
            <a:extLst>
              <a:ext uri="{FF2B5EF4-FFF2-40B4-BE49-F238E27FC236}">
                <a16:creationId xmlns:a16="http://schemas.microsoft.com/office/drawing/2014/main" id="{0AF543A8-7F5B-D93D-A6F8-6B3829F84FC9}"/>
              </a:ext>
            </a:extLst>
          </p:cNvPr>
          <p:cNvSpPr txBox="1"/>
          <p:nvPr/>
        </p:nvSpPr>
        <p:spPr>
          <a:xfrm>
            <a:off x="563170" y="1195512"/>
            <a:ext cx="2787189" cy="1754326"/>
          </a:xfrm>
          <a:prstGeom prst="rect">
            <a:avLst/>
          </a:prstGeom>
          <a:noFill/>
        </p:spPr>
        <p:txBody>
          <a:bodyPr wrap="square">
            <a:spAutoFit/>
          </a:bodyPr>
          <a:lstStyle/>
          <a:p>
            <a:pPr>
              <a:lnSpc>
                <a:spcPct val="90000"/>
              </a:lnSpc>
            </a:pPr>
            <a:r>
              <a:rPr lang="en-US" sz="2000" dirty="0"/>
              <a:t>SPI Settings …</a:t>
            </a:r>
            <a:br>
              <a:rPr lang="en-US" sz="2000" dirty="0"/>
            </a:br>
            <a:endParaRPr lang="en-US" sz="2000" dirty="0"/>
          </a:p>
          <a:p>
            <a:pPr>
              <a:lnSpc>
                <a:spcPct val="90000"/>
              </a:lnSpc>
            </a:pPr>
            <a:r>
              <a:rPr lang="en-US" sz="2000" dirty="0"/>
              <a:t>Rising clock edge</a:t>
            </a:r>
            <a:br>
              <a:rPr lang="en-US" sz="2000" dirty="0"/>
            </a:br>
            <a:r>
              <a:rPr lang="en-US" sz="2000" dirty="0"/>
              <a:t>   </a:t>
            </a:r>
            <a:r>
              <a:rPr lang="en-US" sz="2000" dirty="0">
                <a:sym typeface="Wingdings" panose="05000000000000000000" pitchFamily="2" charset="2"/>
              </a:rPr>
              <a:t></a:t>
            </a:r>
            <a:br>
              <a:rPr lang="en-US" sz="2000" dirty="0"/>
            </a:br>
            <a:r>
              <a:rPr lang="en-US" sz="2000" dirty="0"/>
              <a:t>  Data sampled on the</a:t>
            </a:r>
            <a:br>
              <a:rPr lang="en-US" sz="2000" dirty="0"/>
            </a:br>
            <a:r>
              <a:rPr lang="en-US" sz="2000" dirty="0"/>
              <a:t>  first clock edge (</a:t>
            </a:r>
            <a:r>
              <a:rPr lang="en-US" sz="2000" dirty="0">
                <a:solidFill>
                  <a:srgbClr val="FF0000"/>
                </a:solidFill>
              </a:rPr>
              <a:t>rising</a:t>
            </a:r>
            <a:r>
              <a:rPr lang="en-US" sz="2000" dirty="0"/>
              <a:t>)</a:t>
            </a:r>
          </a:p>
        </p:txBody>
      </p:sp>
      <p:pic>
        <p:nvPicPr>
          <p:cNvPr id="9" name="Picture 8" descr="A picture containing diagram&#10;&#10;Description automatically generated">
            <a:extLst>
              <a:ext uri="{FF2B5EF4-FFF2-40B4-BE49-F238E27FC236}">
                <a16:creationId xmlns:a16="http://schemas.microsoft.com/office/drawing/2014/main" id="{0DA64E89-8F19-74C9-FF23-D5B2B046B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5664" y="1154220"/>
            <a:ext cx="5434799" cy="2600940"/>
          </a:xfrm>
          <a:prstGeom prst="rect">
            <a:avLst/>
          </a:prstGeom>
        </p:spPr>
      </p:pic>
      <p:pic>
        <p:nvPicPr>
          <p:cNvPr id="11" name="Picture 10" descr="Diagram&#10;&#10;Description automatically generated with medium confidence">
            <a:extLst>
              <a:ext uri="{FF2B5EF4-FFF2-40B4-BE49-F238E27FC236}">
                <a16:creationId xmlns:a16="http://schemas.microsoft.com/office/drawing/2014/main" id="{4539AAD3-DEB9-FCB4-0FBA-4035251068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2839" y="3837786"/>
            <a:ext cx="5445366" cy="2533013"/>
          </a:xfrm>
          <a:prstGeom prst="rect">
            <a:avLst/>
          </a:prstGeom>
        </p:spPr>
      </p:pic>
      <p:sp>
        <p:nvSpPr>
          <p:cNvPr id="12" name="TextBox 11">
            <a:extLst>
              <a:ext uri="{FF2B5EF4-FFF2-40B4-BE49-F238E27FC236}">
                <a16:creationId xmlns:a16="http://schemas.microsoft.com/office/drawing/2014/main" id="{DDEB97B5-6CC0-4EFB-6777-9EA40EFFE456}"/>
              </a:ext>
            </a:extLst>
          </p:cNvPr>
          <p:cNvSpPr txBox="1"/>
          <p:nvPr/>
        </p:nvSpPr>
        <p:spPr>
          <a:xfrm>
            <a:off x="563170" y="3940578"/>
            <a:ext cx="2787189" cy="1477328"/>
          </a:xfrm>
          <a:prstGeom prst="rect">
            <a:avLst/>
          </a:prstGeom>
          <a:noFill/>
        </p:spPr>
        <p:txBody>
          <a:bodyPr wrap="square">
            <a:spAutoFit/>
          </a:bodyPr>
          <a:lstStyle/>
          <a:p>
            <a:pPr>
              <a:lnSpc>
                <a:spcPct val="90000"/>
              </a:lnSpc>
            </a:pPr>
            <a:r>
              <a:rPr lang="en-US" sz="2000" dirty="0"/>
              <a:t>Falling clock edge  </a:t>
            </a:r>
            <a:br>
              <a:rPr lang="en-US" sz="2000" dirty="0"/>
            </a:br>
            <a:r>
              <a:rPr lang="en-US" sz="2000" dirty="0"/>
              <a:t>  </a:t>
            </a:r>
            <a:r>
              <a:rPr lang="en-US" sz="2000" dirty="0">
                <a:sym typeface="Wingdings" panose="05000000000000000000" pitchFamily="2" charset="2"/>
              </a:rPr>
              <a:t></a:t>
            </a:r>
            <a:br>
              <a:rPr lang="en-US" sz="2000" dirty="0">
                <a:sym typeface="Wingdings" panose="05000000000000000000" pitchFamily="2" charset="2"/>
              </a:rPr>
            </a:br>
            <a:r>
              <a:rPr lang="en-US" sz="2000" dirty="0">
                <a:sym typeface="Wingdings" panose="05000000000000000000" pitchFamily="2" charset="2"/>
              </a:rPr>
              <a:t>  </a:t>
            </a:r>
            <a:r>
              <a:rPr lang="en-US" sz="2000" dirty="0"/>
              <a:t>Data sampled on the</a:t>
            </a:r>
            <a:br>
              <a:rPr lang="en-US" sz="2000" dirty="0"/>
            </a:br>
            <a:r>
              <a:rPr lang="en-US" sz="2000" dirty="0"/>
              <a:t>  second clock edge</a:t>
            </a:r>
            <a:br>
              <a:rPr lang="en-US" sz="2000" dirty="0"/>
            </a:br>
            <a:r>
              <a:rPr lang="en-US" sz="2000" dirty="0"/>
              <a:t>  (</a:t>
            </a:r>
            <a:r>
              <a:rPr lang="en-US" sz="2000" dirty="0">
                <a:solidFill>
                  <a:srgbClr val="2A5A06"/>
                </a:solidFill>
              </a:rPr>
              <a:t>falling</a:t>
            </a:r>
            <a:r>
              <a:rPr lang="en-US" sz="2000" dirty="0"/>
              <a:t>)</a:t>
            </a:r>
            <a:endParaRPr lang="en-ZA" sz="2000" dirty="0"/>
          </a:p>
        </p:txBody>
      </p:sp>
    </p:spTree>
    <p:extLst>
      <p:ext uri="{BB962C8B-B14F-4D97-AF65-F5344CB8AC3E}">
        <p14:creationId xmlns:p14="http://schemas.microsoft.com/office/powerpoint/2010/main" val="2026057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0BD6-CBCF-1AB7-8363-19BBFD97EF57}"/>
              </a:ext>
            </a:extLst>
          </p:cNvPr>
          <p:cNvSpPr>
            <a:spLocks noGrp="1"/>
          </p:cNvSpPr>
          <p:nvPr>
            <p:ph type="title"/>
          </p:nvPr>
        </p:nvSpPr>
        <p:spPr>
          <a:xfrm>
            <a:off x="520995" y="273501"/>
            <a:ext cx="8091378" cy="651532"/>
          </a:xfrm>
        </p:spPr>
        <p:txBody>
          <a:bodyPr vert="horz" lIns="91440" tIns="45720" rIns="91440" bIns="45720" rtlCol="0" anchor="ctr">
            <a:normAutofit/>
          </a:bodyPr>
          <a:lstStyle/>
          <a:p>
            <a:pPr>
              <a:lnSpc>
                <a:spcPct val="90000"/>
              </a:lnSpc>
            </a:pPr>
            <a:r>
              <a:rPr lang="en-US" sz="3700" kern="1200">
                <a:latin typeface="+mj-lt"/>
                <a:ea typeface="+mj-ea"/>
                <a:cs typeface="+mj-cs"/>
              </a:rPr>
              <a:t>SPI Modes </a:t>
            </a:r>
          </a:p>
        </p:txBody>
      </p:sp>
      <p:sp>
        <p:nvSpPr>
          <p:cNvPr id="3" name="TextBox 2">
            <a:extLst>
              <a:ext uri="{FF2B5EF4-FFF2-40B4-BE49-F238E27FC236}">
                <a16:creationId xmlns:a16="http://schemas.microsoft.com/office/drawing/2014/main" id="{9824A5F3-D10A-BEEC-4E5A-26957505568A}"/>
              </a:ext>
            </a:extLst>
          </p:cNvPr>
          <p:cNvSpPr txBox="1"/>
          <p:nvPr/>
        </p:nvSpPr>
        <p:spPr>
          <a:xfrm>
            <a:off x="478466" y="1138425"/>
            <a:ext cx="4038600" cy="4886560"/>
          </a:xfrm>
          <a:prstGeom prst="rect">
            <a:avLst/>
          </a:prstGeom>
        </p:spPr>
        <p:txBody>
          <a:bodyPr vert="horz" lIns="91440" tIns="45720" rIns="91440" bIns="45720" rtlCol="0">
            <a:normAutofit fontScale="92500" lnSpcReduction="20000"/>
          </a:bodyPr>
          <a:lstStyle/>
          <a:p>
            <a:pPr marL="342900" indent="-342900">
              <a:spcBef>
                <a:spcPct val="20000"/>
              </a:spcBef>
              <a:buFont typeface="Arial" pitchFamily="34" charset="0"/>
              <a:buChar char="•"/>
            </a:pPr>
            <a:r>
              <a:rPr lang="en-US" sz="2800" dirty="0"/>
              <a:t>CPHA – clock phase, this determines at which edge the data is sample</a:t>
            </a:r>
            <a:br>
              <a:rPr lang="en-US" sz="2800" dirty="0"/>
            </a:br>
            <a:r>
              <a:rPr lang="en-US" sz="2800" dirty="0"/>
              <a:t>= 1 (rising edge)</a:t>
            </a:r>
            <a:br>
              <a:rPr lang="en-US" sz="2800" dirty="0"/>
            </a:br>
            <a:r>
              <a:rPr lang="en-US" sz="2800" dirty="0"/>
              <a:t>= 0 (falling edge)</a:t>
            </a:r>
            <a:br>
              <a:rPr lang="en-US" sz="2800" dirty="0"/>
            </a:br>
            <a:br>
              <a:rPr lang="en-US" sz="2800" dirty="0"/>
            </a:br>
            <a:r>
              <a:rPr lang="en-US" sz="2800" dirty="0"/>
              <a:t>CPOL – clock polarity, determines the idle state of a clock line.</a:t>
            </a:r>
            <a:br>
              <a:rPr lang="en-US" sz="2800" dirty="0"/>
            </a:br>
            <a:r>
              <a:rPr lang="en-US" sz="2800" dirty="0"/>
              <a:t>=0 (Low)</a:t>
            </a:r>
            <a:br>
              <a:rPr lang="en-US" sz="2800" dirty="0"/>
            </a:br>
            <a:r>
              <a:rPr lang="en-US" sz="2800" dirty="0"/>
              <a:t>=1 (High)</a:t>
            </a:r>
          </a:p>
          <a:p>
            <a:pPr marL="342900" indent="-342900">
              <a:spcBef>
                <a:spcPct val="20000"/>
              </a:spcBef>
              <a:buFont typeface="Arial" pitchFamily="34" charset="0"/>
              <a:buChar char="•"/>
            </a:pPr>
            <a:endParaRPr lang="en-US" sz="2800" dirty="0"/>
          </a:p>
          <a:p>
            <a:pPr>
              <a:spcBef>
                <a:spcPct val="20000"/>
              </a:spcBef>
            </a:pPr>
            <a:r>
              <a:rPr lang="en-US" sz="2800" dirty="0"/>
              <a:t>Falling edge – towards the default</a:t>
            </a:r>
          </a:p>
        </p:txBody>
      </p:sp>
      <p:pic>
        <p:nvPicPr>
          <p:cNvPr id="1026" name="Picture 2" descr="What is SPI Communication Protocol? How does it Work?">
            <a:extLst>
              <a:ext uri="{FF2B5EF4-FFF2-40B4-BE49-F238E27FC236}">
                <a16:creationId xmlns:a16="http://schemas.microsoft.com/office/drawing/2014/main" id="{54183543-3504-7BDA-2E65-0005D6F8FE6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26934" y="2511476"/>
            <a:ext cx="4038600" cy="214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636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425A-A39A-3431-F5AE-AF88652D889C}"/>
              </a:ext>
            </a:extLst>
          </p:cNvPr>
          <p:cNvSpPr>
            <a:spLocks noGrp="1"/>
          </p:cNvSpPr>
          <p:nvPr>
            <p:ph type="title"/>
          </p:nvPr>
        </p:nvSpPr>
        <p:spPr/>
        <p:txBody>
          <a:bodyPr>
            <a:normAutofit fontScale="90000"/>
          </a:bodyPr>
          <a:lstStyle/>
          <a:p>
            <a:r>
              <a:rPr lang="en-ZA" dirty="0"/>
              <a:t>SPI: Multiple Slaves</a:t>
            </a:r>
          </a:p>
        </p:txBody>
      </p:sp>
      <p:sp>
        <p:nvSpPr>
          <p:cNvPr id="3" name="TextBox 2">
            <a:extLst>
              <a:ext uri="{FF2B5EF4-FFF2-40B4-BE49-F238E27FC236}">
                <a16:creationId xmlns:a16="http://schemas.microsoft.com/office/drawing/2014/main" id="{475C6F34-960A-D4D3-6127-F5FCEA1F328E}"/>
              </a:ext>
            </a:extLst>
          </p:cNvPr>
          <p:cNvSpPr txBox="1"/>
          <p:nvPr/>
        </p:nvSpPr>
        <p:spPr>
          <a:xfrm>
            <a:off x="620220" y="1179885"/>
            <a:ext cx="7503042" cy="757130"/>
          </a:xfrm>
          <a:prstGeom prst="rect">
            <a:avLst/>
          </a:prstGeom>
          <a:noFill/>
        </p:spPr>
        <p:txBody>
          <a:bodyPr wrap="square">
            <a:spAutoFit/>
          </a:bodyPr>
          <a:lstStyle/>
          <a:p>
            <a:pPr>
              <a:lnSpc>
                <a:spcPct val="90000"/>
              </a:lnSpc>
            </a:pPr>
            <a:r>
              <a:rPr lang="en-US" sz="2400" dirty="0"/>
              <a:t>Approaches to set up SPI connections for one Master with multiple slave devices.</a:t>
            </a:r>
          </a:p>
        </p:txBody>
      </p:sp>
      <p:pic>
        <p:nvPicPr>
          <p:cNvPr id="5" name="Picture 4" descr="Diagram&#10;&#10;Description automatically generated">
            <a:extLst>
              <a:ext uri="{FF2B5EF4-FFF2-40B4-BE49-F238E27FC236}">
                <a16:creationId xmlns:a16="http://schemas.microsoft.com/office/drawing/2014/main" id="{0E5BA3E3-68E6-7A6F-02F7-9F214DAC7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364" y="1927490"/>
            <a:ext cx="3967261" cy="3152690"/>
          </a:xfrm>
          <a:prstGeom prst="rect">
            <a:avLst/>
          </a:prstGeom>
        </p:spPr>
      </p:pic>
      <p:pic>
        <p:nvPicPr>
          <p:cNvPr id="10" name="Picture 9" descr="Diagram&#10;&#10;Description automatically generated">
            <a:extLst>
              <a:ext uri="{FF2B5EF4-FFF2-40B4-BE49-F238E27FC236}">
                <a16:creationId xmlns:a16="http://schemas.microsoft.com/office/drawing/2014/main" id="{A489A738-37DE-C346-5A10-5DCE7D50C1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7106" y="1870337"/>
            <a:ext cx="4111099" cy="3266995"/>
          </a:xfrm>
          <a:prstGeom prst="rect">
            <a:avLst/>
          </a:prstGeom>
        </p:spPr>
      </p:pic>
      <p:sp>
        <p:nvSpPr>
          <p:cNvPr id="12" name="TextBox 11">
            <a:extLst>
              <a:ext uri="{FF2B5EF4-FFF2-40B4-BE49-F238E27FC236}">
                <a16:creationId xmlns:a16="http://schemas.microsoft.com/office/drawing/2014/main" id="{D9781660-9A4D-56BD-D23C-658B01A65DB5}"/>
              </a:ext>
            </a:extLst>
          </p:cNvPr>
          <p:cNvSpPr txBox="1"/>
          <p:nvPr/>
        </p:nvSpPr>
        <p:spPr>
          <a:xfrm>
            <a:off x="645609" y="4912076"/>
            <a:ext cx="3865750" cy="1754326"/>
          </a:xfrm>
          <a:prstGeom prst="rect">
            <a:avLst/>
          </a:prstGeom>
          <a:noFill/>
        </p:spPr>
        <p:txBody>
          <a:bodyPr wrap="square">
            <a:spAutoFit/>
          </a:bodyPr>
          <a:lstStyle/>
          <a:p>
            <a:r>
              <a:rPr lang="en-ZA" u="sng" dirty="0"/>
              <a:t>A typical SPI bus configuration with dedicated slave select lines:</a:t>
            </a:r>
            <a:r>
              <a:rPr lang="en-ZA" dirty="0"/>
              <a:t> e.g.</a:t>
            </a:r>
          </a:p>
          <a:p>
            <a:r>
              <a:rPr lang="en-ZA" dirty="0"/>
              <a:t>Master and three independent slaves. </a:t>
            </a:r>
          </a:p>
          <a:p>
            <a:r>
              <a:rPr lang="en-ZA" dirty="0"/>
              <a:t>In this configuration </a:t>
            </a:r>
            <a:r>
              <a:rPr lang="en-US" dirty="0"/>
              <a:t>each new slaves requires an additional dedicated !SS line for individual control</a:t>
            </a:r>
            <a:endParaRPr lang="en-ZA" dirty="0"/>
          </a:p>
        </p:txBody>
      </p:sp>
      <p:sp>
        <p:nvSpPr>
          <p:cNvPr id="13" name="TextBox 12">
            <a:extLst>
              <a:ext uri="{FF2B5EF4-FFF2-40B4-BE49-F238E27FC236}">
                <a16:creationId xmlns:a16="http://schemas.microsoft.com/office/drawing/2014/main" id="{295821BF-0A47-430F-C734-8A03592B2B72}"/>
              </a:ext>
            </a:extLst>
          </p:cNvPr>
          <p:cNvSpPr txBox="1"/>
          <p:nvPr/>
        </p:nvSpPr>
        <p:spPr>
          <a:xfrm>
            <a:off x="4814936" y="4912076"/>
            <a:ext cx="3865750" cy="1631216"/>
          </a:xfrm>
          <a:prstGeom prst="rect">
            <a:avLst/>
          </a:prstGeom>
          <a:noFill/>
        </p:spPr>
        <p:txBody>
          <a:bodyPr wrap="square">
            <a:spAutoFit/>
          </a:bodyPr>
          <a:lstStyle/>
          <a:p>
            <a:r>
              <a:rPr lang="en-US" u="sng" dirty="0"/>
              <a:t>Daisy-chained SPI bus:</a:t>
            </a:r>
            <a:r>
              <a:rPr lang="en-US" dirty="0"/>
              <a:t> master and cooperative slaves. Each slave much forward on the MOSI input out its MISO output on the next SCLK. </a:t>
            </a:r>
          </a:p>
          <a:p>
            <a:r>
              <a:rPr lang="en-US" sz="1400" dirty="0"/>
              <a:t>(can allow for more devices connected up with shorter cables, but catch is higher latency)</a:t>
            </a:r>
            <a:endParaRPr lang="en-ZA" sz="1400" dirty="0"/>
          </a:p>
        </p:txBody>
      </p:sp>
      <p:cxnSp>
        <p:nvCxnSpPr>
          <p:cNvPr id="21" name="Straight Arrow Connector 20">
            <a:extLst>
              <a:ext uri="{FF2B5EF4-FFF2-40B4-BE49-F238E27FC236}">
                <a16:creationId xmlns:a16="http://schemas.microsoft.com/office/drawing/2014/main" id="{D3E2F525-E5B0-7B81-C45E-B6D4C298E91A}"/>
              </a:ext>
            </a:extLst>
          </p:cNvPr>
          <p:cNvCxnSpPr>
            <a:cxnSpLocks/>
          </p:cNvCxnSpPr>
          <p:nvPr/>
        </p:nvCxnSpPr>
        <p:spPr>
          <a:xfrm flipH="1">
            <a:off x="8056587" y="5956300"/>
            <a:ext cx="261913" cy="122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7CBA997-238D-C057-EBB6-14FA70EE2C94}"/>
              </a:ext>
            </a:extLst>
          </p:cNvPr>
          <p:cNvSpPr txBox="1"/>
          <p:nvPr/>
        </p:nvSpPr>
        <p:spPr>
          <a:xfrm rot="5400000">
            <a:off x="7997320" y="6020405"/>
            <a:ext cx="951342" cy="400110"/>
          </a:xfrm>
          <a:prstGeom prst="rect">
            <a:avLst/>
          </a:prstGeom>
          <a:noFill/>
        </p:spPr>
        <p:txBody>
          <a:bodyPr wrap="square">
            <a:spAutoFit/>
          </a:bodyPr>
          <a:lstStyle/>
          <a:p>
            <a:r>
              <a:rPr lang="en-US" sz="1000" dirty="0"/>
              <a:t>Might appear in a test!</a:t>
            </a:r>
            <a:endParaRPr lang="en-ZA" sz="1000" dirty="0"/>
          </a:p>
        </p:txBody>
      </p:sp>
    </p:spTree>
    <p:extLst>
      <p:ext uri="{BB962C8B-B14F-4D97-AF65-F5344CB8AC3E}">
        <p14:creationId xmlns:p14="http://schemas.microsoft.com/office/powerpoint/2010/main" val="2525185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90BE588-D244-54FA-045D-AC39CF8D6F8C}"/>
              </a:ext>
            </a:extLst>
          </p:cNvPr>
          <p:cNvSpPr>
            <a:spLocks noGrp="1"/>
          </p:cNvSpPr>
          <p:nvPr>
            <p:ph idx="1"/>
          </p:nvPr>
        </p:nvSpPr>
        <p:spPr/>
        <p:txBody>
          <a:bodyPr/>
          <a:lstStyle/>
          <a:p>
            <a:r>
              <a:rPr lang="en-US" dirty="0"/>
              <a:t>Key Disadvantage:</a:t>
            </a:r>
          </a:p>
          <a:p>
            <a:pPr lvl="1"/>
            <a:r>
              <a:rPr lang="en-US" dirty="0"/>
              <a:t>Only 1 master possible</a:t>
            </a:r>
          </a:p>
          <a:p>
            <a:pPr lvl="1"/>
            <a:r>
              <a:rPr lang="en-US" dirty="0"/>
              <a:t>If independent access to many slaves is required the number of !SS lines quickly grows</a:t>
            </a:r>
          </a:p>
          <a:p>
            <a:r>
              <a:rPr lang="en-US" dirty="0"/>
              <a:t>Key Advantages:</a:t>
            </a:r>
          </a:p>
          <a:p>
            <a:pPr lvl="1"/>
            <a:r>
              <a:rPr lang="en-US" dirty="0"/>
              <a:t>No overhead of addressing and start/stop/ACK</a:t>
            </a:r>
          </a:p>
          <a:p>
            <a:pPr lvl="1"/>
            <a:r>
              <a:rPr lang="en-US" dirty="0"/>
              <a:t>Full duplex</a:t>
            </a:r>
            <a:endParaRPr lang="en-ZA" dirty="0"/>
          </a:p>
        </p:txBody>
      </p:sp>
      <p:sp>
        <p:nvSpPr>
          <p:cNvPr id="3" name="Title 2">
            <a:extLst>
              <a:ext uri="{FF2B5EF4-FFF2-40B4-BE49-F238E27FC236}">
                <a16:creationId xmlns:a16="http://schemas.microsoft.com/office/drawing/2014/main" id="{D5CD4076-D93C-A504-6EBC-4689111BF815}"/>
              </a:ext>
            </a:extLst>
          </p:cNvPr>
          <p:cNvSpPr>
            <a:spLocks noGrp="1"/>
          </p:cNvSpPr>
          <p:nvPr>
            <p:ph type="title"/>
          </p:nvPr>
        </p:nvSpPr>
        <p:spPr/>
        <p:txBody>
          <a:bodyPr/>
          <a:lstStyle/>
          <a:p>
            <a:pPr algn="ctr"/>
            <a:r>
              <a:rPr lang="en-ZA" dirty="0"/>
              <a:t>SPI in context</a:t>
            </a:r>
          </a:p>
        </p:txBody>
      </p:sp>
    </p:spTree>
    <p:extLst>
      <p:ext uri="{BB962C8B-B14F-4D97-AF65-F5344CB8AC3E}">
        <p14:creationId xmlns:p14="http://schemas.microsoft.com/office/powerpoint/2010/main" val="380259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5651" y="1138425"/>
            <a:ext cx="7272697" cy="4247317"/>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UART</a:t>
            </a:r>
          </a:p>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Universal Asynchronous</a:t>
            </a:r>
            <a:b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b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Receiver Transmitter</a:t>
            </a:r>
          </a:p>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&amp;</a:t>
            </a:r>
          </a:p>
          <a:p>
            <a:pPr algn="ctr"/>
            <a:r>
              <a:rPr lang="en-US" sz="5400" b="1" dirty="0">
                <a:ln w="9525">
                  <a:solidFill>
                    <a:schemeClr val="bg1"/>
                  </a:solidFill>
                  <a:prstDash val="solid"/>
                </a:ln>
                <a:effectLst>
                  <a:outerShdw blurRad="12700" dist="38100" dir="2700000" algn="tl" rotWithShape="0">
                    <a:schemeClr val="bg1">
                      <a:lumMod val="50000"/>
                    </a:schemeClr>
                  </a:outerShdw>
                </a:effectLst>
              </a:rPr>
              <a:t>RS232 Protocol Standard</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 name="Picture 1" descr="A picture containing text, clipart&#10;&#10;Description automatically generated">
            <a:extLst>
              <a:ext uri="{FF2B5EF4-FFF2-40B4-BE49-F238E27FC236}">
                <a16:creationId xmlns:a16="http://schemas.microsoft.com/office/drawing/2014/main" id="{2A862BB7-D638-31C5-3226-C40461701B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601" y="5200462"/>
            <a:ext cx="2095500" cy="981075"/>
          </a:xfrm>
          <a:prstGeom prst="rect">
            <a:avLst/>
          </a:prstGeom>
        </p:spPr>
      </p:pic>
    </p:spTree>
    <p:extLst>
      <p:ext uri="{BB962C8B-B14F-4D97-AF65-F5344CB8AC3E}">
        <p14:creationId xmlns:p14="http://schemas.microsoft.com/office/powerpoint/2010/main" val="953237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41BA8-B0BC-65CE-49A9-CE1443980672}"/>
              </a:ext>
            </a:extLst>
          </p:cNvPr>
          <p:cNvSpPr>
            <a:spLocks noGrp="1"/>
          </p:cNvSpPr>
          <p:nvPr>
            <p:ph type="title"/>
          </p:nvPr>
        </p:nvSpPr>
        <p:spPr/>
        <p:txBody>
          <a:bodyPr/>
          <a:lstStyle/>
          <a:p>
            <a:pPr algn="ctr"/>
            <a:r>
              <a:rPr lang="en-ZA" dirty="0"/>
              <a:t>What is meant by UART?</a:t>
            </a:r>
          </a:p>
        </p:txBody>
      </p:sp>
      <p:sp>
        <p:nvSpPr>
          <p:cNvPr id="3" name="Content Placeholder 2">
            <a:extLst>
              <a:ext uri="{FF2B5EF4-FFF2-40B4-BE49-F238E27FC236}">
                <a16:creationId xmlns:a16="http://schemas.microsoft.com/office/drawing/2014/main" id="{DBFBFCC7-06B9-2E95-EB71-2DA2F3FA3533}"/>
              </a:ext>
            </a:extLst>
          </p:cNvPr>
          <p:cNvSpPr>
            <a:spLocks noGrp="1"/>
          </p:cNvSpPr>
          <p:nvPr>
            <p:ph idx="1"/>
          </p:nvPr>
        </p:nvSpPr>
        <p:spPr/>
        <p:txBody>
          <a:bodyPr/>
          <a:lstStyle/>
          <a:p>
            <a:r>
              <a:rPr lang="en-US" dirty="0"/>
              <a:t>The Universal Asynchronous Receiver Transmitter (</a:t>
            </a:r>
            <a:r>
              <a:rPr lang="en-US" dirty="0">
                <a:solidFill>
                  <a:srgbClr val="C00000"/>
                </a:solidFill>
              </a:rPr>
              <a:t>UART</a:t>
            </a:r>
            <a:r>
              <a:rPr lang="en-US" dirty="0"/>
              <a:t>) refers to the generic </a:t>
            </a:r>
            <a:r>
              <a:rPr lang="en-US" dirty="0">
                <a:solidFill>
                  <a:srgbClr val="C00000"/>
                </a:solidFill>
              </a:rPr>
              <a:t>hardware interface</a:t>
            </a:r>
            <a:r>
              <a:rPr lang="en-US" dirty="0"/>
              <a:t> Tx/Rx control module, not to a protocol! A UART could be an underlying driver that implements a protocol.</a:t>
            </a:r>
            <a:endParaRPr lang="en-ZA" dirty="0"/>
          </a:p>
        </p:txBody>
      </p:sp>
      <p:sp>
        <p:nvSpPr>
          <p:cNvPr id="5" name="TextBox 4">
            <a:extLst>
              <a:ext uri="{FF2B5EF4-FFF2-40B4-BE49-F238E27FC236}">
                <a16:creationId xmlns:a16="http://schemas.microsoft.com/office/drawing/2014/main" id="{56856FDC-708D-5633-4F23-C2518FD31914}"/>
              </a:ext>
            </a:extLst>
          </p:cNvPr>
          <p:cNvSpPr txBox="1"/>
          <p:nvPr/>
        </p:nvSpPr>
        <p:spPr>
          <a:xfrm>
            <a:off x="543688" y="3609753"/>
            <a:ext cx="4605336" cy="461665"/>
          </a:xfrm>
          <a:prstGeom prst="rect">
            <a:avLst/>
          </a:prstGeom>
          <a:noFill/>
        </p:spPr>
        <p:txBody>
          <a:bodyPr wrap="square">
            <a:spAutoFit/>
          </a:bodyPr>
          <a:lstStyle/>
          <a:p>
            <a:r>
              <a:rPr lang="en-US" sz="2400" dirty="0"/>
              <a:t>It is simply this type of setup …</a:t>
            </a:r>
            <a:endParaRPr lang="en-ZA" sz="2400" dirty="0"/>
          </a:p>
        </p:txBody>
      </p:sp>
      <p:pic>
        <p:nvPicPr>
          <p:cNvPr id="7" name="Picture 6" descr="Diagram&#10;&#10;Description automatically generated">
            <a:extLst>
              <a:ext uri="{FF2B5EF4-FFF2-40B4-BE49-F238E27FC236}">
                <a16:creationId xmlns:a16="http://schemas.microsoft.com/office/drawing/2014/main" id="{9FC56AD5-700C-25C4-D0B6-73CE11F83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670" y="4199462"/>
            <a:ext cx="7616950" cy="2190198"/>
          </a:xfrm>
          <a:prstGeom prst="rect">
            <a:avLst/>
          </a:prstGeom>
        </p:spPr>
      </p:pic>
    </p:spTree>
    <p:extLst>
      <p:ext uri="{BB962C8B-B14F-4D97-AF65-F5344CB8AC3E}">
        <p14:creationId xmlns:p14="http://schemas.microsoft.com/office/powerpoint/2010/main" val="300054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text, clipart&#10;&#10;Description automatically generated">
            <a:extLst>
              <a:ext uri="{FF2B5EF4-FFF2-40B4-BE49-F238E27FC236}">
                <a16:creationId xmlns:a16="http://schemas.microsoft.com/office/drawing/2014/main" id="{5C760482-C008-9718-136B-F326769F0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4460" y="5604687"/>
            <a:ext cx="2095500" cy="981075"/>
          </a:xfrm>
          <a:prstGeom prst="rect">
            <a:avLst/>
          </a:prstGeom>
        </p:spPr>
      </p:pic>
      <p:sp>
        <p:nvSpPr>
          <p:cNvPr id="2" name="Content Placeholder 1">
            <a:extLst>
              <a:ext uri="{FF2B5EF4-FFF2-40B4-BE49-F238E27FC236}">
                <a16:creationId xmlns:a16="http://schemas.microsoft.com/office/drawing/2014/main" id="{7B0B96BC-9119-4A16-89AF-F8D3DCD89D1E}"/>
              </a:ext>
            </a:extLst>
          </p:cNvPr>
          <p:cNvSpPr>
            <a:spLocks noGrp="1"/>
          </p:cNvSpPr>
          <p:nvPr>
            <p:ph idx="1"/>
          </p:nvPr>
        </p:nvSpPr>
        <p:spPr>
          <a:xfrm>
            <a:off x="525317" y="1025156"/>
            <a:ext cx="8076895" cy="5092995"/>
          </a:xfrm>
        </p:spPr>
        <p:txBody>
          <a:bodyPr>
            <a:normAutofit lnSpcReduction="10000"/>
          </a:bodyPr>
          <a:lstStyle/>
          <a:p>
            <a:r>
              <a:rPr lang="en-US" dirty="0"/>
              <a:t>RS-232 is an asynchronous serial communication </a:t>
            </a:r>
            <a:r>
              <a:rPr lang="en-US" dirty="0">
                <a:solidFill>
                  <a:srgbClr val="C00000"/>
                </a:solidFill>
              </a:rPr>
              <a:t>interface standard</a:t>
            </a:r>
          </a:p>
          <a:p>
            <a:r>
              <a:rPr lang="en-US" dirty="0"/>
              <a:t>This standard was introduced in 1960 for serial communication transmission of data.</a:t>
            </a:r>
          </a:p>
          <a:p>
            <a:pPr lvl="1"/>
            <a:r>
              <a:rPr lang="en-US" dirty="0"/>
              <a:t>It formally defines signals connecting between a </a:t>
            </a:r>
            <a:r>
              <a:rPr lang="en-US" dirty="0">
                <a:solidFill>
                  <a:srgbClr val="C00000"/>
                </a:solidFill>
              </a:rPr>
              <a:t>DTE</a:t>
            </a:r>
            <a:r>
              <a:rPr lang="en-US" dirty="0"/>
              <a:t> (data terminal equipment) e.g. computer, and a </a:t>
            </a:r>
            <a:r>
              <a:rPr lang="en-US" dirty="0">
                <a:solidFill>
                  <a:srgbClr val="C00000"/>
                </a:solidFill>
              </a:rPr>
              <a:t>DCE</a:t>
            </a:r>
            <a:r>
              <a:rPr lang="en-US" dirty="0"/>
              <a:t> (data circuit-terminating equipment), e.g. modem. </a:t>
            </a:r>
          </a:p>
          <a:p>
            <a:pPr lvl="1"/>
            <a:r>
              <a:rPr lang="en-US" dirty="0"/>
              <a:t>Has 25 and 9 pin connector options </a:t>
            </a:r>
            <a:br>
              <a:rPr lang="en-US" dirty="0"/>
            </a:br>
            <a:r>
              <a:rPr lang="en-US" sz="2600" dirty="0"/>
              <a:t>(25 pin ver. seldom used, few benefits over 9 pin)</a:t>
            </a:r>
            <a:endParaRPr lang="en-ZA" dirty="0"/>
          </a:p>
        </p:txBody>
      </p:sp>
      <p:sp>
        <p:nvSpPr>
          <p:cNvPr id="3" name="Title 2">
            <a:extLst>
              <a:ext uri="{FF2B5EF4-FFF2-40B4-BE49-F238E27FC236}">
                <a16:creationId xmlns:a16="http://schemas.microsoft.com/office/drawing/2014/main" id="{8F3E1231-CF87-E35D-7FEB-279676D90CBA}"/>
              </a:ext>
            </a:extLst>
          </p:cNvPr>
          <p:cNvSpPr>
            <a:spLocks noGrp="1"/>
          </p:cNvSpPr>
          <p:nvPr>
            <p:ph type="title"/>
          </p:nvPr>
        </p:nvSpPr>
        <p:spPr/>
        <p:txBody>
          <a:bodyPr/>
          <a:lstStyle/>
          <a:p>
            <a:pPr algn="ctr"/>
            <a:r>
              <a:rPr lang="en-ZA" dirty="0"/>
              <a:t>UART &amp; RS232</a:t>
            </a:r>
          </a:p>
        </p:txBody>
      </p:sp>
      <p:sp>
        <p:nvSpPr>
          <p:cNvPr id="5" name="TextBox 4">
            <a:extLst>
              <a:ext uri="{FF2B5EF4-FFF2-40B4-BE49-F238E27FC236}">
                <a16:creationId xmlns:a16="http://schemas.microsoft.com/office/drawing/2014/main" id="{9BFBEFD9-5677-ADB1-9B78-944541CD4827}"/>
              </a:ext>
            </a:extLst>
          </p:cNvPr>
          <p:cNvSpPr txBox="1"/>
          <p:nvPr/>
        </p:nvSpPr>
        <p:spPr>
          <a:xfrm>
            <a:off x="510362" y="6277985"/>
            <a:ext cx="7787955" cy="307777"/>
          </a:xfrm>
          <a:prstGeom prst="rect">
            <a:avLst/>
          </a:prstGeom>
          <a:noFill/>
        </p:spPr>
        <p:txBody>
          <a:bodyPr wrap="square">
            <a:spAutoFit/>
          </a:bodyPr>
          <a:lstStyle/>
          <a:p>
            <a:r>
              <a:rPr lang="en-ZA" sz="1400" dirty="0"/>
              <a:t>Reference source &amp; further info: </a:t>
            </a:r>
            <a:r>
              <a:rPr lang="en-ZA" sz="1400" dirty="0">
                <a:hlinkClick r:id="rId3"/>
              </a:rPr>
              <a:t>https://en.wikipedia.org/wiki/RS-232</a:t>
            </a:r>
            <a:endParaRPr lang="en-ZA" sz="1400" dirty="0"/>
          </a:p>
        </p:txBody>
      </p:sp>
    </p:spTree>
    <p:extLst>
      <p:ext uri="{BB962C8B-B14F-4D97-AF65-F5344CB8AC3E}">
        <p14:creationId xmlns:p14="http://schemas.microsoft.com/office/powerpoint/2010/main" val="3516568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C4C104-55CD-F3C3-1F3B-5BC28390795D}"/>
              </a:ext>
            </a:extLst>
          </p:cNvPr>
          <p:cNvSpPr>
            <a:spLocks noGrp="1"/>
          </p:cNvSpPr>
          <p:nvPr>
            <p:ph idx="1"/>
          </p:nvPr>
        </p:nvSpPr>
        <p:spPr/>
        <p:txBody>
          <a:bodyPr/>
          <a:lstStyle/>
          <a:p>
            <a:r>
              <a:rPr lang="en-ZA" dirty="0"/>
              <a:t>How does UART and RS232 relate?!</a:t>
            </a:r>
          </a:p>
        </p:txBody>
      </p:sp>
      <p:sp>
        <p:nvSpPr>
          <p:cNvPr id="3" name="Title 2">
            <a:extLst>
              <a:ext uri="{FF2B5EF4-FFF2-40B4-BE49-F238E27FC236}">
                <a16:creationId xmlns:a16="http://schemas.microsoft.com/office/drawing/2014/main" id="{762BEE99-6AD0-6437-99F9-6A2D0D7AEDF7}"/>
              </a:ext>
            </a:extLst>
          </p:cNvPr>
          <p:cNvSpPr>
            <a:spLocks noGrp="1"/>
          </p:cNvSpPr>
          <p:nvPr>
            <p:ph type="title"/>
          </p:nvPr>
        </p:nvSpPr>
        <p:spPr/>
        <p:txBody>
          <a:bodyPr/>
          <a:lstStyle/>
          <a:p>
            <a:pPr algn="ctr"/>
            <a:r>
              <a:rPr lang="en-ZA" dirty="0"/>
              <a:t>UART &amp; RS232</a:t>
            </a:r>
          </a:p>
        </p:txBody>
      </p:sp>
      <p:sp>
        <p:nvSpPr>
          <p:cNvPr id="5" name="TextBox 4">
            <a:extLst>
              <a:ext uri="{FF2B5EF4-FFF2-40B4-BE49-F238E27FC236}">
                <a16:creationId xmlns:a16="http://schemas.microsoft.com/office/drawing/2014/main" id="{28C5E6E5-2E76-D4B6-3743-7BA29B5F6C3F}"/>
              </a:ext>
            </a:extLst>
          </p:cNvPr>
          <p:cNvSpPr txBox="1"/>
          <p:nvPr/>
        </p:nvSpPr>
        <p:spPr>
          <a:xfrm>
            <a:off x="849777" y="1642171"/>
            <a:ext cx="6260905" cy="1015663"/>
          </a:xfrm>
          <a:prstGeom prst="rect">
            <a:avLst/>
          </a:prstGeom>
          <a:noFill/>
        </p:spPr>
        <p:txBody>
          <a:bodyPr wrap="square">
            <a:spAutoFit/>
          </a:bodyPr>
          <a:lstStyle/>
          <a:p>
            <a:r>
              <a:rPr lang="en-ZA" sz="2000" dirty="0"/>
              <a:t>Nowadays the approach is to control the RS232 lines via a UART module, commonly built in to a microcontroller or an onboard component.   … and</a:t>
            </a:r>
          </a:p>
        </p:txBody>
      </p:sp>
      <p:pic>
        <p:nvPicPr>
          <p:cNvPr id="6" name="Picture 5" descr="Diagram&#10;&#10;Description automatically generated">
            <a:extLst>
              <a:ext uri="{FF2B5EF4-FFF2-40B4-BE49-F238E27FC236}">
                <a16:creationId xmlns:a16="http://schemas.microsoft.com/office/drawing/2014/main" id="{49D35849-1398-A11D-DE5E-B3DF5376A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670" y="3966053"/>
            <a:ext cx="7616950" cy="2190198"/>
          </a:xfrm>
          <a:prstGeom prst="rect">
            <a:avLst/>
          </a:prstGeom>
        </p:spPr>
      </p:pic>
      <p:grpSp>
        <p:nvGrpSpPr>
          <p:cNvPr id="30" name="Group 29">
            <a:extLst>
              <a:ext uri="{FF2B5EF4-FFF2-40B4-BE49-F238E27FC236}">
                <a16:creationId xmlns:a16="http://schemas.microsoft.com/office/drawing/2014/main" id="{70D9FC10-A6F7-C148-23EE-A587C772181C}"/>
              </a:ext>
            </a:extLst>
          </p:cNvPr>
          <p:cNvGrpSpPr/>
          <p:nvPr/>
        </p:nvGrpSpPr>
        <p:grpSpPr>
          <a:xfrm>
            <a:off x="3503065" y="5638871"/>
            <a:ext cx="1832460" cy="702946"/>
            <a:chOff x="3503065" y="5638871"/>
            <a:chExt cx="1832460" cy="702946"/>
          </a:xfrm>
        </p:grpSpPr>
        <p:cxnSp>
          <p:nvCxnSpPr>
            <p:cNvPr id="10" name="Straight Arrow Connector 9">
              <a:extLst>
                <a:ext uri="{FF2B5EF4-FFF2-40B4-BE49-F238E27FC236}">
                  <a16:creationId xmlns:a16="http://schemas.microsoft.com/office/drawing/2014/main" id="{FB23E5F0-4D5A-6301-B3B9-25493EA3A0F9}"/>
                </a:ext>
              </a:extLst>
            </p:cNvPr>
            <p:cNvCxnSpPr/>
            <p:nvPr/>
          </p:nvCxnSpPr>
          <p:spPr>
            <a:xfrm flipV="1">
              <a:off x="3655770" y="5638871"/>
              <a:ext cx="334137"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B4D45C9-7CEA-D745-890E-2AFA003D5275}"/>
                </a:ext>
              </a:extLst>
            </p:cNvPr>
            <p:cNvSpPr txBox="1"/>
            <p:nvPr/>
          </p:nvSpPr>
          <p:spPr>
            <a:xfrm>
              <a:off x="3503065" y="5880152"/>
              <a:ext cx="1832460" cy="461665"/>
            </a:xfrm>
            <a:prstGeom prst="rect">
              <a:avLst/>
            </a:prstGeom>
            <a:noFill/>
          </p:spPr>
          <p:txBody>
            <a:bodyPr wrap="square">
              <a:spAutoFit/>
            </a:bodyPr>
            <a:lstStyle/>
            <a:p>
              <a:r>
                <a:rPr lang="en-ZA" sz="1200" dirty="0"/>
                <a:t>Condition voltage levels and if need boost current</a:t>
              </a:r>
            </a:p>
          </p:txBody>
        </p:sp>
      </p:grpSp>
      <p:grpSp>
        <p:nvGrpSpPr>
          <p:cNvPr id="29" name="Group 28">
            <a:extLst>
              <a:ext uri="{FF2B5EF4-FFF2-40B4-BE49-F238E27FC236}">
                <a16:creationId xmlns:a16="http://schemas.microsoft.com/office/drawing/2014/main" id="{D78B46B1-AE1C-34F6-09EC-559686718F51}"/>
              </a:ext>
            </a:extLst>
          </p:cNvPr>
          <p:cNvGrpSpPr/>
          <p:nvPr/>
        </p:nvGrpSpPr>
        <p:grpSpPr>
          <a:xfrm>
            <a:off x="3851407" y="4484613"/>
            <a:ext cx="1131245" cy="1095772"/>
            <a:chOff x="3851407" y="4484613"/>
            <a:chExt cx="1131245" cy="1095772"/>
          </a:xfrm>
        </p:grpSpPr>
        <p:grpSp>
          <p:nvGrpSpPr>
            <p:cNvPr id="14" name="Group 13">
              <a:extLst>
                <a:ext uri="{FF2B5EF4-FFF2-40B4-BE49-F238E27FC236}">
                  <a16:creationId xmlns:a16="http://schemas.microsoft.com/office/drawing/2014/main" id="{5B0DDA31-E5A3-CCB1-0B97-04295E3AB4CD}"/>
                </a:ext>
              </a:extLst>
            </p:cNvPr>
            <p:cNvGrpSpPr/>
            <p:nvPr/>
          </p:nvGrpSpPr>
          <p:grpSpPr>
            <a:xfrm>
              <a:off x="3851407" y="4484613"/>
              <a:ext cx="276999" cy="1095772"/>
              <a:chOff x="3851407" y="4718022"/>
              <a:chExt cx="276999" cy="1095772"/>
            </a:xfrm>
          </p:grpSpPr>
          <p:sp>
            <p:nvSpPr>
              <p:cNvPr id="7" name="Rectangle 6">
                <a:extLst>
                  <a:ext uri="{FF2B5EF4-FFF2-40B4-BE49-F238E27FC236}">
                    <a16:creationId xmlns:a16="http://schemas.microsoft.com/office/drawing/2014/main" id="{B9291018-09B2-EF0F-E07D-2994EEBCFDA3}"/>
                  </a:ext>
                </a:extLst>
              </p:cNvPr>
              <p:cNvSpPr/>
              <p:nvPr/>
            </p:nvSpPr>
            <p:spPr>
              <a:xfrm>
                <a:off x="3913555" y="4822395"/>
                <a:ext cx="152705" cy="991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TextBox 12">
                <a:extLst>
                  <a:ext uri="{FF2B5EF4-FFF2-40B4-BE49-F238E27FC236}">
                    <a16:creationId xmlns:a16="http://schemas.microsoft.com/office/drawing/2014/main" id="{974F1DBD-E52B-E49E-1BA6-E6D48783F097}"/>
                  </a:ext>
                </a:extLst>
              </p:cNvPr>
              <p:cNvSpPr txBox="1"/>
              <p:nvPr/>
            </p:nvSpPr>
            <p:spPr>
              <a:xfrm rot="16200000">
                <a:off x="3460536" y="5108893"/>
                <a:ext cx="1058742" cy="276999"/>
              </a:xfrm>
              <a:prstGeom prst="rect">
                <a:avLst/>
              </a:prstGeom>
              <a:noFill/>
            </p:spPr>
            <p:txBody>
              <a:bodyPr wrap="square">
                <a:spAutoFit/>
              </a:bodyPr>
              <a:lstStyle/>
              <a:p>
                <a:r>
                  <a:rPr lang="en-ZA" sz="1200" dirty="0"/>
                  <a:t>conditioner</a:t>
                </a:r>
              </a:p>
            </p:txBody>
          </p:sp>
        </p:grpSp>
        <p:grpSp>
          <p:nvGrpSpPr>
            <p:cNvPr id="15" name="Group 14">
              <a:extLst>
                <a:ext uri="{FF2B5EF4-FFF2-40B4-BE49-F238E27FC236}">
                  <a16:creationId xmlns:a16="http://schemas.microsoft.com/office/drawing/2014/main" id="{A6BC1F49-B729-27D9-396D-96097EF07CCE}"/>
                </a:ext>
              </a:extLst>
            </p:cNvPr>
            <p:cNvGrpSpPr/>
            <p:nvPr/>
          </p:nvGrpSpPr>
          <p:grpSpPr>
            <a:xfrm>
              <a:off x="4705653" y="4484613"/>
              <a:ext cx="276999" cy="1095772"/>
              <a:chOff x="3851407" y="4718022"/>
              <a:chExt cx="276999" cy="1095772"/>
            </a:xfrm>
          </p:grpSpPr>
          <p:sp>
            <p:nvSpPr>
              <p:cNvPr id="16" name="Rectangle 15">
                <a:extLst>
                  <a:ext uri="{FF2B5EF4-FFF2-40B4-BE49-F238E27FC236}">
                    <a16:creationId xmlns:a16="http://schemas.microsoft.com/office/drawing/2014/main" id="{9E210922-ABD3-C7B5-70ED-98DF7FBED42C}"/>
                  </a:ext>
                </a:extLst>
              </p:cNvPr>
              <p:cNvSpPr/>
              <p:nvPr/>
            </p:nvSpPr>
            <p:spPr>
              <a:xfrm>
                <a:off x="3913555" y="4822395"/>
                <a:ext cx="152705" cy="991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3CFCF797-1609-72A1-FB12-6D74BB2D2461}"/>
                  </a:ext>
                </a:extLst>
              </p:cNvPr>
              <p:cNvSpPr txBox="1"/>
              <p:nvPr/>
            </p:nvSpPr>
            <p:spPr>
              <a:xfrm rot="16200000">
                <a:off x="3460536" y="5108893"/>
                <a:ext cx="1058742" cy="276999"/>
              </a:xfrm>
              <a:prstGeom prst="rect">
                <a:avLst/>
              </a:prstGeom>
              <a:noFill/>
            </p:spPr>
            <p:txBody>
              <a:bodyPr wrap="square">
                <a:spAutoFit/>
              </a:bodyPr>
              <a:lstStyle/>
              <a:p>
                <a:r>
                  <a:rPr lang="en-ZA" sz="1200" dirty="0"/>
                  <a:t>conditioner</a:t>
                </a:r>
              </a:p>
            </p:txBody>
          </p:sp>
        </p:grpSp>
      </p:grpSp>
      <p:grpSp>
        <p:nvGrpSpPr>
          <p:cNvPr id="24" name="Group 23">
            <a:extLst>
              <a:ext uri="{FF2B5EF4-FFF2-40B4-BE49-F238E27FC236}">
                <a16:creationId xmlns:a16="http://schemas.microsoft.com/office/drawing/2014/main" id="{8B6D184C-0682-A5DB-D992-039B5BA089FF}"/>
              </a:ext>
            </a:extLst>
          </p:cNvPr>
          <p:cNvGrpSpPr/>
          <p:nvPr/>
        </p:nvGrpSpPr>
        <p:grpSpPr>
          <a:xfrm rot="14810551">
            <a:off x="5037362" y="3497806"/>
            <a:ext cx="596326" cy="1302270"/>
            <a:chOff x="3276419" y="599680"/>
            <a:chExt cx="2591162" cy="5658640"/>
          </a:xfrm>
        </p:grpSpPr>
        <p:pic>
          <p:nvPicPr>
            <p:cNvPr id="21" name="Picture 20" descr="Icon&#10;&#10;Description automatically generated">
              <a:extLst>
                <a:ext uri="{FF2B5EF4-FFF2-40B4-BE49-F238E27FC236}">
                  <a16:creationId xmlns:a16="http://schemas.microsoft.com/office/drawing/2014/main" id="{CCB086BA-C3D1-6861-4414-8AB0DAA72C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76419" y="599680"/>
              <a:ext cx="2591162" cy="5658640"/>
            </a:xfrm>
            <a:prstGeom prst="rect">
              <a:avLst/>
            </a:prstGeom>
          </p:spPr>
        </p:pic>
        <p:sp>
          <p:nvSpPr>
            <p:cNvPr id="23" name="TextBox 22">
              <a:extLst>
                <a:ext uri="{FF2B5EF4-FFF2-40B4-BE49-F238E27FC236}">
                  <a16:creationId xmlns:a16="http://schemas.microsoft.com/office/drawing/2014/main" id="{D05EBAE5-A58F-6E34-6C8A-9514DC6A70FB}"/>
                </a:ext>
              </a:extLst>
            </p:cNvPr>
            <p:cNvSpPr txBox="1"/>
            <p:nvPr/>
          </p:nvSpPr>
          <p:spPr>
            <a:xfrm rot="4989449">
              <a:off x="3024918" y="3052675"/>
              <a:ext cx="3225908" cy="1471088"/>
            </a:xfrm>
            <a:prstGeom prst="rect">
              <a:avLst/>
            </a:prstGeom>
            <a:noFill/>
          </p:spPr>
          <p:txBody>
            <a:bodyPr wrap="square">
              <a:spAutoFit/>
            </a:bodyPr>
            <a:lstStyle/>
            <a:p>
              <a:r>
                <a:rPr lang="en-ZA" sz="800" dirty="0">
                  <a:latin typeface="Castellar" panose="020A0402060406010301" pitchFamily="18" charset="0"/>
                </a:rPr>
                <a:t>CONDIT-IONER</a:t>
              </a:r>
            </a:p>
          </p:txBody>
        </p:sp>
      </p:grpSp>
      <p:sp>
        <p:nvSpPr>
          <p:cNvPr id="25" name="TextBox 24">
            <a:extLst>
              <a:ext uri="{FF2B5EF4-FFF2-40B4-BE49-F238E27FC236}">
                <a16:creationId xmlns:a16="http://schemas.microsoft.com/office/drawing/2014/main" id="{749C596A-23D0-0C19-6288-C2B3D0AA7114}"/>
              </a:ext>
            </a:extLst>
          </p:cNvPr>
          <p:cNvSpPr txBox="1"/>
          <p:nvPr/>
        </p:nvSpPr>
        <p:spPr>
          <a:xfrm>
            <a:off x="849777" y="2624193"/>
            <a:ext cx="6260905" cy="400110"/>
          </a:xfrm>
          <a:prstGeom prst="rect">
            <a:avLst/>
          </a:prstGeom>
          <a:noFill/>
        </p:spPr>
        <p:txBody>
          <a:bodyPr wrap="square">
            <a:spAutoFit/>
          </a:bodyPr>
          <a:lstStyle/>
          <a:p>
            <a:r>
              <a:rPr lang="en-ZA" sz="2000" dirty="0"/>
              <a:t>Adding essentially some voltage conditioning circuitry.</a:t>
            </a:r>
          </a:p>
        </p:txBody>
      </p:sp>
      <p:sp>
        <p:nvSpPr>
          <p:cNvPr id="27" name="TextBox 26">
            <a:extLst>
              <a:ext uri="{FF2B5EF4-FFF2-40B4-BE49-F238E27FC236}">
                <a16:creationId xmlns:a16="http://schemas.microsoft.com/office/drawing/2014/main" id="{C92CDFCE-1FF6-C281-39B5-389EAC2D9638}"/>
              </a:ext>
            </a:extLst>
          </p:cNvPr>
          <p:cNvSpPr txBox="1"/>
          <p:nvPr/>
        </p:nvSpPr>
        <p:spPr>
          <a:xfrm>
            <a:off x="3358374" y="4101316"/>
            <a:ext cx="799431" cy="369332"/>
          </a:xfrm>
          <a:prstGeom prst="rect">
            <a:avLst/>
          </a:prstGeom>
          <a:noFill/>
        </p:spPr>
        <p:txBody>
          <a:bodyPr wrap="square">
            <a:spAutoFit/>
          </a:bodyPr>
          <a:lstStyle/>
          <a:p>
            <a:r>
              <a:rPr lang="en-ZA" dirty="0"/>
              <a:t>0..3V</a:t>
            </a:r>
          </a:p>
        </p:txBody>
      </p:sp>
      <p:sp>
        <p:nvSpPr>
          <p:cNvPr id="28" name="TextBox 27">
            <a:extLst>
              <a:ext uri="{FF2B5EF4-FFF2-40B4-BE49-F238E27FC236}">
                <a16:creationId xmlns:a16="http://schemas.microsoft.com/office/drawing/2014/main" id="{E8A12D32-E525-53C0-2B67-14FB593DBD95}"/>
              </a:ext>
            </a:extLst>
          </p:cNvPr>
          <p:cNvSpPr txBox="1"/>
          <p:nvPr/>
        </p:nvSpPr>
        <p:spPr>
          <a:xfrm>
            <a:off x="4120970" y="4101316"/>
            <a:ext cx="799431" cy="646331"/>
          </a:xfrm>
          <a:prstGeom prst="rect">
            <a:avLst/>
          </a:prstGeom>
          <a:noFill/>
        </p:spPr>
        <p:txBody>
          <a:bodyPr wrap="square">
            <a:spAutoFit/>
          </a:bodyPr>
          <a:lstStyle/>
          <a:p>
            <a:r>
              <a:rPr lang="en-ZA" dirty="0"/>
              <a:t>-12..</a:t>
            </a:r>
            <a:br>
              <a:rPr lang="en-ZA" dirty="0"/>
            </a:br>
            <a:r>
              <a:rPr lang="en-ZA" dirty="0"/>
              <a:t>12V</a:t>
            </a:r>
          </a:p>
        </p:txBody>
      </p:sp>
      <p:sp>
        <p:nvSpPr>
          <p:cNvPr id="32" name="TextBox 31">
            <a:extLst>
              <a:ext uri="{FF2B5EF4-FFF2-40B4-BE49-F238E27FC236}">
                <a16:creationId xmlns:a16="http://schemas.microsoft.com/office/drawing/2014/main" id="{92D45D0C-56F7-1A9C-7C72-EF89331F51F3}"/>
              </a:ext>
            </a:extLst>
          </p:cNvPr>
          <p:cNvSpPr txBox="1"/>
          <p:nvPr/>
        </p:nvSpPr>
        <p:spPr>
          <a:xfrm>
            <a:off x="779747" y="3029101"/>
            <a:ext cx="2723318" cy="923330"/>
          </a:xfrm>
          <a:prstGeom prst="rect">
            <a:avLst/>
          </a:prstGeom>
          <a:noFill/>
        </p:spPr>
        <p:txBody>
          <a:bodyPr wrap="square">
            <a:spAutoFit/>
          </a:bodyPr>
          <a:lstStyle/>
          <a:p>
            <a:r>
              <a:rPr lang="en-ZA" dirty="0"/>
              <a:t>RS232 voltage levels:</a:t>
            </a:r>
            <a:br>
              <a:rPr lang="en-ZA" dirty="0"/>
            </a:br>
            <a:r>
              <a:rPr lang="en-ZA" dirty="0"/>
              <a:t>   -3V to -15V = logic 1  and</a:t>
            </a:r>
            <a:br>
              <a:rPr lang="en-ZA" dirty="0"/>
            </a:br>
            <a:r>
              <a:rPr lang="en-ZA" dirty="0"/>
              <a:t>  +3V to + 15V = logic 0</a:t>
            </a:r>
          </a:p>
        </p:txBody>
      </p:sp>
      <p:sp>
        <p:nvSpPr>
          <p:cNvPr id="33" name="TextBox 32">
            <a:extLst>
              <a:ext uri="{FF2B5EF4-FFF2-40B4-BE49-F238E27FC236}">
                <a16:creationId xmlns:a16="http://schemas.microsoft.com/office/drawing/2014/main" id="{C3809341-DC24-23AE-4E1F-89D4771B3E66}"/>
              </a:ext>
            </a:extLst>
          </p:cNvPr>
          <p:cNvSpPr txBox="1"/>
          <p:nvPr/>
        </p:nvSpPr>
        <p:spPr>
          <a:xfrm>
            <a:off x="3748733" y="3088079"/>
            <a:ext cx="4123035" cy="646331"/>
          </a:xfrm>
          <a:prstGeom prst="rect">
            <a:avLst/>
          </a:prstGeom>
          <a:noFill/>
        </p:spPr>
        <p:txBody>
          <a:bodyPr wrap="square">
            <a:spAutoFit/>
          </a:bodyPr>
          <a:lstStyle/>
          <a:p>
            <a:r>
              <a:rPr lang="en-ZA" dirty="0"/>
              <a:t>Use a MAX232 to convert: </a:t>
            </a:r>
          </a:p>
          <a:p>
            <a:r>
              <a:rPr lang="en-ZA" dirty="0"/>
              <a:t>  0 V to +12V and 3.3 V to -12V</a:t>
            </a:r>
          </a:p>
        </p:txBody>
      </p:sp>
    </p:spTree>
    <p:extLst>
      <p:ext uri="{BB962C8B-B14F-4D97-AF65-F5344CB8AC3E}">
        <p14:creationId xmlns:p14="http://schemas.microsoft.com/office/powerpoint/2010/main" val="246917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nodeType="afterEffect">
                                  <p:stCondLst>
                                    <p:cond delay="200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par>
                          <p:cTn id="11" fill="hold">
                            <p:stCondLst>
                              <p:cond delay="2500"/>
                            </p:stCondLst>
                            <p:childTnLst>
                              <p:par>
                                <p:cTn id="12" presetID="1" presetClass="entr" presetSubtype="0"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par>
                          <p:cTn id="18" fill="hold">
                            <p:stCondLst>
                              <p:cond delay="0"/>
                            </p:stCondLst>
                            <p:childTnLst>
                              <p:par>
                                <p:cTn id="19" presetID="31" presetClass="entr" presetSubtype="0" fill="hold" nodeType="afterEffect">
                                  <p:stCondLst>
                                    <p:cond delay="500"/>
                                  </p:stCondLst>
                                  <p:childTnLst>
                                    <p:set>
                                      <p:cBhvr>
                                        <p:cTn id="20" dur="1" fill="hold">
                                          <p:stCondLst>
                                            <p:cond delay="0"/>
                                          </p:stCondLst>
                                        </p:cTn>
                                        <p:tgtEl>
                                          <p:spTgt spid="24"/>
                                        </p:tgtEl>
                                        <p:attrNameLst>
                                          <p:attrName>style.visibility</p:attrName>
                                        </p:attrNameLst>
                                      </p:cBhvr>
                                      <p:to>
                                        <p:strVal val="visible"/>
                                      </p:to>
                                    </p:set>
                                    <p:anim calcmode="lin" valueType="num">
                                      <p:cBhvr>
                                        <p:cTn id="21" dur="1000" fill="hold"/>
                                        <p:tgtEl>
                                          <p:spTgt spid="24"/>
                                        </p:tgtEl>
                                        <p:attrNameLst>
                                          <p:attrName>ppt_w</p:attrName>
                                        </p:attrNameLst>
                                      </p:cBhvr>
                                      <p:tavLst>
                                        <p:tav tm="0">
                                          <p:val>
                                            <p:fltVal val="0"/>
                                          </p:val>
                                        </p:tav>
                                        <p:tav tm="100000">
                                          <p:val>
                                            <p:strVal val="#ppt_w"/>
                                          </p:val>
                                        </p:tav>
                                      </p:tavLst>
                                    </p:anim>
                                    <p:anim calcmode="lin" valueType="num">
                                      <p:cBhvr>
                                        <p:cTn id="22" dur="1000" fill="hold"/>
                                        <p:tgtEl>
                                          <p:spTgt spid="24"/>
                                        </p:tgtEl>
                                        <p:attrNameLst>
                                          <p:attrName>ppt_h</p:attrName>
                                        </p:attrNameLst>
                                      </p:cBhvr>
                                      <p:tavLst>
                                        <p:tav tm="0">
                                          <p:val>
                                            <p:fltVal val="0"/>
                                          </p:val>
                                        </p:tav>
                                        <p:tav tm="100000">
                                          <p:val>
                                            <p:strVal val="#ppt_h"/>
                                          </p:val>
                                        </p:tav>
                                      </p:tavLst>
                                    </p:anim>
                                    <p:anim calcmode="lin" valueType="num">
                                      <p:cBhvr>
                                        <p:cTn id="23" dur="1000" fill="hold"/>
                                        <p:tgtEl>
                                          <p:spTgt spid="24"/>
                                        </p:tgtEl>
                                        <p:attrNameLst>
                                          <p:attrName>style.rotation</p:attrName>
                                        </p:attrNameLst>
                                      </p:cBhvr>
                                      <p:tavLst>
                                        <p:tav tm="0">
                                          <p:val>
                                            <p:fltVal val="90"/>
                                          </p:val>
                                        </p:tav>
                                        <p:tav tm="100000">
                                          <p:val>
                                            <p:fltVal val="0"/>
                                          </p:val>
                                        </p:tav>
                                      </p:tavLst>
                                    </p:anim>
                                    <p:animEffect transition="in" filter="fade">
                                      <p:cBhvr>
                                        <p:cTn id="24" dur="1000"/>
                                        <p:tgtEl>
                                          <p:spTgt spid="24"/>
                                        </p:tgtEl>
                                      </p:cBhvr>
                                    </p:animEffect>
                                  </p:childTnLst>
                                </p:cTn>
                              </p:par>
                            </p:childTnLst>
                          </p:cTn>
                        </p:par>
                        <p:par>
                          <p:cTn id="25" fill="hold">
                            <p:stCondLst>
                              <p:cond delay="1500"/>
                            </p:stCondLst>
                            <p:childTnLst>
                              <p:par>
                                <p:cTn id="26" presetID="47" presetClass="entr" presetSubtype="0" fill="hold" nodeType="afterEffect">
                                  <p:stCondLst>
                                    <p:cond delay="125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childTnLst>
                          </p:cTn>
                        </p:par>
                        <p:par>
                          <p:cTn id="31" fill="hold">
                            <p:stCondLst>
                              <p:cond delay="3750"/>
                            </p:stCondLst>
                            <p:childTnLst>
                              <p:par>
                                <p:cTn id="32" presetID="22" presetClass="entr" presetSubtype="4" fill="hold" grpId="0" nodeType="afterEffect">
                                  <p:stCondLst>
                                    <p:cond delay="50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childTnLst>
                          </p:cTn>
                        </p:par>
                        <p:par>
                          <p:cTn id="35" fill="hold">
                            <p:stCondLst>
                              <p:cond delay="4750"/>
                            </p:stCondLst>
                            <p:childTnLst>
                              <p:par>
                                <p:cTn id="36" presetID="16" presetClass="entr" presetSubtype="21" fill="hold" nodeType="afterEffect">
                                  <p:stCondLst>
                                    <p:cond delay="500"/>
                                  </p:stCondLst>
                                  <p:childTnLst>
                                    <p:set>
                                      <p:cBhvr>
                                        <p:cTn id="37" dur="1" fill="hold">
                                          <p:stCondLst>
                                            <p:cond delay="0"/>
                                          </p:stCondLst>
                                        </p:cTn>
                                        <p:tgtEl>
                                          <p:spTgt spid="30"/>
                                        </p:tgtEl>
                                        <p:attrNameLst>
                                          <p:attrName>style.visibility</p:attrName>
                                        </p:attrNameLst>
                                      </p:cBhvr>
                                      <p:to>
                                        <p:strVal val="visible"/>
                                      </p:to>
                                    </p:set>
                                    <p:animEffect transition="in" filter="barn(inVertical)">
                                      <p:cBhvr>
                                        <p:cTn id="38" dur="500"/>
                                        <p:tgtEl>
                                          <p:spTgt spid="30"/>
                                        </p:tgtEl>
                                      </p:cBhvr>
                                    </p:animEffect>
                                  </p:childTnLst>
                                </p:cTn>
                              </p:par>
                            </p:childTnLst>
                          </p:cTn>
                        </p:par>
                        <p:par>
                          <p:cTn id="39" fill="hold">
                            <p:stCondLst>
                              <p:cond delay="5750"/>
                            </p:stCondLst>
                            <p:childTnLst>
                              <p:par>
                                <p:cTn id="40" presetID="1" presetClass="entr" presetSubtype="0" fill="hold" grpId="0" nodeType="afterEffect">
                                  <p:stCondLst>
                                    <p:cond delay="1000"/>
                                  </p:stCondLst>
                                  <p:childTnLst>
                                    <p:set>
                                      <p:cBhvr>
                                        <p:cTn id="41" dur="1" fill="hold">
                                          <p:stCondLst>
                                            <p:cond delay="0"/>
                                          </p:stCondLst>
                                        </p:cTn>
                                        <p:tgtEl>
                                          <p:spTgt spid="32"/>
                                        </p:tgtEl>
                                        <p:attrNameLst>
                                          <p:attrName>style.visibility</p:attrName>
                                        </p:attrNameLst>
                                      </p:cBhvr>
                                      <p:to>
                                        <p:strVal val="visible"/>
                                      </p:to>
                                    </p:set>
                                  </p:childTnLst>
                                </p:cTn>
                              </p:par>
                            </p:childTnLst>
                          </p:cTn>
                        </p:par>
                        <p:par>
                          <p:cTn id="42" fill="hold">
                            <p:stCondLst>
                              <p:cond delay="6750"/>
                            </p:stCondLst>
                            <p:childTnLst>
                              <p:par>
                                <p:cTn id="43" presetID="1" presetClass="entr" presetSubtype="0" fill="hold" grpId="0" nodeType="afterEffect">
                                  <p:stCondLst>
                                    <p:cond delay="100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27" grpId="0"/>
      <p:bldP spid="28" grpId="0"/>
      <p:bldP spid="32" grpId="0"/>
      <p:bldP spid="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75505E-0003-0249-E32D-FDA531C8DDA1}"/>
              </a:ext>
            </a:extLst>
          </p:cNvPr>
          <p:cNvSpPr>
            <a:spLocks noGrp="1"/>
          </p:cNvSpPr>
          <p:nvPr>
            <p:ph idx="1"/>
          </p:nvPr>
        </p:nvSpPr>
        <p:spPr/>
        <p:txBody>
          <a:bodyPr/>
          <a:lstStyle/>
          <a:p>
            <a:r>
              <a:rPr lang="en-US" dirty="0"/>
              <a:t>Speeds of.</a:t>
            </a:r>
          </a:p>
          <a:p>
            <a:pPr lvl="1"/>
            <a:r>
              <a:rPr lang="en-US" dirty="0"/>
              <a:t>1.2kbps, 2.4kbps, 4.8kbps, 9.6kbps, 14.4kbps, 19.2kbps, 115.2kbps  *</a:t>
            </a:r>
          </a:p>
          <a:p>
            <a:r>
              <a:rPr lang="en-US" dirty="0"/>
              <a:t>RS232 was originally intended more for bit rates lower than 20kbps, but was kept going and still useable way beyond that.</a:t>
            </a:r>
            <a:endParaRPr lang="en-ZA" dirty="0"/>
          </a:p>
        </p:txBody>
      </p:sp>
      <p:sp>
        <p:nvSpPr>
          <p:cNvPr id="3" name="Title 2">
            <a:extLst>
              <a:ext uri="{FF2B5EF4-FFF2-40B4-BE49-F238E27FC236}">
                <a16:creationId xmlns:a16="http://schemas.microsoft.com/office/drawing/2014/main" id="{A9035922-2DB7-A321-A7F6-6E7FC6FE89F9}"/>
              </a:ext>
            </a:extLst>
          </p:cNvPr>
          <p:cNvSpPr>
            <a:spLocks noGrp="1"/>
          </p:cNvSpPr>
          <p:nvPr>
            <p:ph type="title"/>
          </p:nvPr>
        </p:nvSpPr>
        <p:spPr/>
        <p:txBody>
          <a:bodyPr/>
          <a:lstStyle/>
          <a:p>
            <a:pPr algn="ctr"/>
            <a:r>
              <a:rPr lang="en-ZA" dirty="0"/>
              <a:t>RS232 Standard Configuration</a:t>
            </a:r>
          </a:p>
        </p:txBody>
      </p:sp>
      <p:sp>
        <p:nvSpPr>
          <p:cNvPr id="5" name="TextBox 4">
            <a:extLst>
              <a:ext uri="{FF2B5EF4-FFF2-40B4-BE49-F238E27FC236}">
                <a16:creationId xmlns:a16="http://schemas.microsoft.com/office/drawing/2014/main" id="{14185BF6-98DD-5566-B888-51A8A207FF69}"/>
              </a:ext>
            </a:extLst>
          </p:cNvPr>
          <p:cNvSpPr txBox="1"/>
          <p:nvPr/>
        </p:nvSpPr>
        <p:spPr>
          <a:xfrm>
            <a:off x="462737" y="6263471"/>
            <a:ext cx="1618358" cy="369332"/>
          </a:xfrm>
          <a:prstGeom prst="rect">
            <a:avLst/>
          </a:prstGeom>
          <a:noFill/>
        </p:spPr>
        <p:txBody>
          <a:bodyPr wrap="square">
            <a:spAutoFit/>
          </a:bodyPr>
          <a:lstStyle/>
          <a:p>
            <a:r>
              <a:rPr lang="en-US" dirty="0"/>
              <a:t>* here k = 1000</a:t>
            </a:r>
            <a:endParaRPr lang="en-ZA" dirty="0"/>
          </a:p>
        </p:txBody>
      </p:sp>
      <p:sp>
        <p:nvSpPr>
          <p:cNvPr id="6" name="TextBox 5">
            <a:extLst>
              <a:ext uri="{FF2B5EF4-FFF2-40B4-BE49-F238E27FC236}">
                <a16:creationId xmlns:a16="http://schemas.microsoft.com/office/drawing/2014/main" id="{97514B61-701F-7B71-2227-DDEA4B7D3324}"/>
              </a:ext>
            </a:extLst>
          </p:cNvPr>
          <p:cNvSpPr txBox="1"/>
          <p:nvPr/>
        </p:nvSpPr>
        <p:spPr>
          <a:xfrm>
            <a:off x="2434130" y="6249967"/>
            <a:ext cx="6199508" cy="369332"/>
          </a:xfrm>
          <a:prstGeom prst="rect">
            <a:avLst/>
          </a:prstGeom>
          <a:noFill/>
        </p:spPr>
        <p:txBody>
          <a:bodyPr wrap="square">
            <a:spAutoFit/>
          </a:bodyPr>
          <a:lstStyle/>
          <a:p>
            <a:pPr algn="r"/>
            <a:r>
              <a:rPr lang="en-US" dirty="0"/>
              <a:t>Max limit for UART? No explicit limit, left to developer to decide.</a:t>
            </a:r>
            <a:endParaRPr lang="en-ZA" dirty="0"/>
          </a:p>
        </p:txBody>
      </p:sp>
      <p:sp>
        <p:nvSpPr>
          <p:cNvPr id="7" name="TextBox 6">
            <a:extLst>
              <a:ext uri="{FF2B5EF4-FFF2-40B4-BE49-F238E27FC236}">
                <a16:creationId xmlns:a16="http://schemas.microsoft.com/office/drawing/2014/main" id="{0250E0BB-43F4-715D-C9B2-17FD53F8FDF3}"/>
              </a:ext>
            </a:extLst>
          </p:cNvPr>
          <p:cNvSpPr txBox="1"/>
          <p:nvPr/>
        </p:nvSpPr>
        <p:spPr>
          <a:xfrm>
            <a:off x="4572000" y="5875089"/>
            <a:ext cx="4061637" cy="369332"/>
          </a:xfrm>
          <a:prstGeom prst="rect">
            <a:avLst/>
          </a:prstGeom>
          <a:noFill/>
        </p:spPr>
        <p:txBody>
          <a:bodyPr wrap="square">
            <a:spAutoFit/>
          </a:bodyPr>
          <a:lstStyle/>
          <a:p>
            <a:pPr algn="r"/>
            <a:r>
              <a:rPr lang="en-US" dirty="0"/>
              <a:t>The max RS232 speed is around 1Mbps</a:t>
            </a:r>
            <a:endParaRPr lang="en-ZA" dirty="0"/>
          </a:p>
        </p:txBody>
      </p:sp>
    </p:spTree>
    <p:extLst>
      <p:ext uri="{BB962C8B-B14F-4D97-AF65-F5344CB8AC3E}">
        <p14:creationId xmlns:p14="http://schemas.microsoft.com/office/powerpoint/2010/main" val="3948700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close-up of a cell phone&#10;&#10;Description automatically generated with low confidence">
            <a:extLst>
              <a:ext uri="{FF2B5EF4-FFF2-40B4-BE49-F238E27FC236}">
                <a16:creationId xmlns:a16="http://schemas.microsoft.com/office/drawing/2014/main" id="{4B192AF6-3BAB-828C-E7C0-FD910270C2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7235" y="4764244"/>
            <a:ext cx="2230366" cy="1199634"/>
          </a:xfrm>
          <a:prstGeom prst="rect">
            <a:avLst/>
          </a:prstGeom>
        </p:spPr>
      </p:pic>
      <p:sp>
        <p:nvSpPr>
          <p:cNvPr id="2" name="Content Placeholder 1">
            <a:extLst>
              <a:ext uri="{FF2B5EF4-FFF2-40B4-BE49-F238E27FC236}">
                <a16:creationId xmlns:a16="http://schemas.microsoft.com/office/drawing/2014/main" id="{1EC8123F-1831-99B2-E771-5999948FA0DA}"/>
              </a:ext>
            </a:extLst>
          </p:cNvPr>
          <p:cNvSpPr>
            <a:spLocks noGrp="1"/>
          </p:cNvSpPr>
          <p:nvPr>
            <p:ph idx="1"/>
          </p:nvPr>
        </p:nvSpPr>
        <p:spPr>
          <a:xfrm>
            <a:off x="577927" y="1035355"/>
            <a:ext cx="8076895" cy="5092995"/>
          </a:xfrm>
        </p:spPr>
        <p:txBody>
          <a:bodyPr/>
          <a:lstStyle/>
          <a:p>
            <a:r>
              <a:rPr lang="en-ZA" dirty="0"/>
              <a:t>DB9 connector coupling</a:t>
            </a:r>
          </a:p>
        </p:txBody>
      </p:sp>
      <p:sp>
        <p:nvSpPr>
          <p:cNvPr id="3" name="Title 2">
            <a:extLst>
              <a:ext uri="{FF2B5EF4-FFF2-40B4-BE49-F238E27FC236}">
                <a16:creationId xmlns:a16="http://schemas.microsoft.com/office/drawing/2014/main" id="{4E54921E-74C8-5348-1492-455562A4E1A8}"/>
              </a:ext>
            </a:extLst>
          </p:cNvPr>
          <p:cNvSpPr>
            <a:spLocks noGrp="1"/>
          </p:cNvSpPr>
          <p:nvPr>
            <p:ph type="title"/>
          </p:nvPr>
        </p:nvSpPr>
        <p:spPr/>
        <p:txBody>
          <a:bodyPr/>
          <a:lstStyle/>
          <a:p>
            <a:pPr algn="ctr"/>
            <a:r>
              <a:rPr lang="en-ZA" dirty="0"/>
              <a:t>UART and the RS-232</a:t>
            </a:r>
          </a:p>
        </p:txBody>
      </p:sp>
      <p:pic>
        <p:nvPicPr>
          <p:cNvPr id="5" name="Picture 4" descr="A picture containing text, clipart&#10;&#10;Description automatically generated">
            <a:extLst>
              <a:ext uri="{FF2B5EF4-FFF2-40B4-BE49-F238E27FC236}">
                <a16:creationId xmlns:a16="http://schemas.microsoft.com/office/drawing/2014/main" id="{B8283B67-40C2-F0E2-6A77-C5785845EF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5682" y="1749245"/>
            <a:ext cx="2886075" cy="1924050"/>
          </a:xfrm>
          <a:prstGeom prst="rect">
            <a:avLst/>
          </a:prstGeom>
        </p:spPr>
      </p:pic>
      <p:graphicFrame>
        <p:nvGraphicFramePr>
          <p:cNvPr id="6" name="Table 6">
            <a:extLst>
              <a:ext uri="{FF2B5EF4-FFF2-40B4-BE49-F238E27FC236}">
                <a16:creationId xmlns:a16="http://schemas.microsoft.com/office/drawing/2014/main" id="{C58A688F-473C-3F25-1665-40D972F57A9B}"/>
              </a:ext>
            </a:extLst>
          </p:cNvPr>
          <p:cNvGraphicFramePr>
            <a:graphicFrameLocks noGrp="1"/>
          </p:cNvGraphicFramePr>
          <p:nvPr>
            <p:extLst>
              <p:ext uri="{D42A27DB-BD31-4B8C-83A1-F6EECF244321}">
                <p14:modId xmlns:p14="http://schemas.microsoft.com/office/powerpoint/2010/main" val="2795996498"/>
              </p:ext>
            </p:extLst>
          </p:nvPr>
        </p:nvGraphicFramePr>
        <p:xfrm>
          <a:off x="5534140" y="2054655"/>
          <a:ext cx="2131770" cy="3708400"/>
        </p:xfrm>
        <a:graphic>
          <a:graphicData uri="http://schemas.openxmlformats.org/drawingml/2006/table">
            <a:tbl>
              <a:tblPr firstRow="1" bandRow="1">
                <a:tableStyleId>{5C22544A-7EE6-4342-B048-85BDC9FD1C3A}</a:tableStyleId>
              </a:tblPr>
              <a:tblGrid>
                <a:gridCol w="1065885">
                  <a:extLst>
                    <a:ext uri="{9D8B030D-6E8A-4147-A177-3AD203B41FA5}">
                      <a16:colId xmlns:a16="http://schemas.microsoft.com/office/drawing/2014/main" val="2726747947"/>
                    </a:ext>
                  </a:extLst>
                </a:gridCol>
                <a:gridCol w="1065885">
                  <a:extLst>
                    <a:ext uri="{9D8B030D-6E8A-4147-A177-3AD203B41FA5}">
                      <a16:colId xmlns:a16="http://schemas.microsoft.com/office/drawing/2014/main" val="4011193924"/>
                    </a:ext>
                  </a:extLst>
                </a:gridCol>
              </a:tblGrid>
              <a:tr h="370840">
                <a:tc>
                  <a:txBody>
                    <a:bodyPr/>
                    <a:lstStyle/>
                    <a:p>
                      <a:r>
                        <a:rPr lang="en-ZA" dirty="0"/>
                        <a:t>Pin#</a:t>
                      </a:r>
                    </a:p>
                  </a:txBody>
                  <a:tcPr/>
                </a:tc>
                <a:tc>
                  <a:txBody>
                    <a:bodyPr/>
                    <a:lstStyle/>
                    <a:p>
                      <a:r>
                        <a:rPr lang="en-ZA" dirty="0"/>
                        <a:t>Signal</a:t>
                      </a:r>
                    </a:p>
                  </a:txBody>
                  <a:tcPr/>
                </a:tc>
                <a:extLst>
                  <a:ext uri="{0D108BD9-81ED-4DB2-BD59-A6C34878D82A}">
                    <a16:rowId xmlns:a16="http://schemas.microsoft.com/office/drawing/2014/main" val="3139256069"/>
                  </a:ext>
                </a:extLst>
              </a:tr>
              <a:tr h="370840">
                <a:tc>
                  <a:txBody>
                    <a:bodyPr/>
                    <a:lstStyle/>
                    <a:p>
                      <a:r>
                        <a:rPr lang="en-ZA" dirty="0"/>
                        <a:t>1</a:t>
                      </a:r>
                    </a:p>
                  </a:txBody>
                  <a:tcPr/>
                </a:tc>
                <a:tc>
                  <a:txBody>
                    <a:bodyPr/>
                    <a:lstStyle/>
                    <a:p>
                      <a:r>
                        <a:rPr lang="en-ZA" dirty="0"/>
                        <a:t>DCD</a:t>
                      </a:r>
                    </a:p>
                  </a:txBody>
                  <a:tcPr/>
                </a:tc>
                <a:extLst>
                  <a:ext uri="{0D108BD9-81ED-4DB2-BD59-A6C34878D82A}">
                    <a16:rowId xmlns:a16="http://schemas.microsoft.com/office/drawing/2014/main" val="3955232067"/>
                  </a:ext>
                </a:extLst>
              </a:tr>
              <a:tr h="370840">
                <a:tc>
                  <a:txBody>
                    <a:bodyPr/>
                    <a:lstStyle/>
                    <a:p>
                      <a:r>
                        <a:rPr lang="en-ZA" dirty="0"/>
                        <a:t>2</a:t>
                      </a:r>
                    </a:p>
                  </a:txBody>
                  <a:tcPr/>
                </a:tc>
                <a:tc>
                  <a:txBody>
                    <a:bodyPr/>
                    <a:lstStyle/>
                    <a:p>
                      <a:r>
                        <a:rPr lang="en-ZA" dirty="0"/>
                        <a:t>RX</a:t>
                      </a:r>
                    </a:p>
                  </a:txBody>
                  <a:tcPr/>
                </a:tc>
                <a:extLst>
                  <a:ext uri="{0D108BD9-81ED-4DB2-BD59-A6C34878D82A}">
                    <a16:rowId xmlns:a16="http://schemas.microsoft.com/office/drawing/2014/main" val="2810335075"/>
                  </a:ext>
                </a:extLst>
              </a:tr>
              <a:tr h="370840">
                <a:tc>
                  <a:txBody>
                    <a:bodyPr/>
                    <a:lstStyle/>
                    <a:p>
                      <a:r>
                        <a:rPr lang="en-ZA" dirty="0"/>
                        <a:t>3</a:t>
                      </a:r>
                    </a:p>
                  </a:txBody>
                  <a:tcPr/>
                </a:tc>
                <a:tc>
                  <a:txBody>
                    <a:bodyPr/>
                    <a:lstStyle/>
                    <a:p>
                      <a:r>
                        <a:rPr lang="en-ZA" dirty="0"/>
                        <a:t>TX</a:t>
                      </a:r>
                    </a:p>
                  </a:txBody>
                  <a:tcPr/>
                </a:tc>
                <a:extLst>
                  <a:ext uri="{0D108BD9-81ED-4DB2-BD59-A6C34878D82A}">
                    <a16:rowId xmlns:a16="http://schemas.microsoft.com/office/drawing/2014/main" val="2606908538"/>
                  </a:ext>
                </a:extLst>
              </a:tr>
              <a:tr h="370840">
                <a:tc>
                  <a:txBody>
                    <a:bodyPr/>
                    <a:lstStyle/>
                    <a:p>
                      <a:r>
                        <a:rPr lang="en-ZA" dirty="0"/>
                        <a:t>4</a:t>
                      </a:r>
                    </a:p>
                  </a:txBody>
                  <a:tcPr/>
                </a:tc>
                <a:tc>
                  <a:txBody>
                    <a:bodyPr/>
                    <a:lstStyle/>
                    <a:p>
                      <a:r>
                        <a:rPr lang="en-ZA" dirty="0"/>
                        <a:t>DTR</a:t>
                      </a:r>
                    </a:p>
                  </a:txBody>
                  <a:tcPr/>
                </a:tc>
                <a:extLst>
                  <a:ext uri="{0D108BD9-81ED-4DB2-BD59-A6C34878D82A}">
                    <a16:rowId xmlns:a16="http://schemas.microsoft.com/office/drawing/2014/main" val="4134283835"/>
                  </a:ext>
                </a:extLst>
              </a:tr>
              <a:tr h="370840">
                <a:tc>
                  <a:txBody>
                    <a:bodyPr/>
                    <a:lstStyle/>
                    <a:p>
                      <a:r>
                        <a:rPr lang="en-ZA" dirty="0"/>
                        <a:t>5</a:t>
                      </a:r>
                    </a:p>
                  </a:txBody>
                  <a:tcPr/>
                </a:tc>
                <a:tc>
                  <a:txBody>
                    <a:bodyPr/>
                    <a:lstStyle/>
                    <a:p>
                      <a:r>
                        <a:rPr lang="en-ZA" dirty="0"/>
                        <a:t>GND</a:t>
                      </a:r>
                    </a:p>
                  </a:txBody>
                  <a:tcPr/>
                </a:tc>
                <a:extLst>
                  <a:ext uri="{0D108BD9-81ED-4DB2-BD59-A6C34878D82A}">
                    <a16:rowId xmlns:a16="http://schemas.microsoft.com/office/drawing/2014/main" val="4128120510"/>
                  </a:ext>
                </a:extLst>
              </a:tr>
              <a:tr h="370840">
                <a:tc>
                  <a:txBody>
                    <a:bodyPr/>
                    <a:lstStyle/>
                    <a:p>
                      <a:r>
                        <a:rPr lang="en-ZA" dirty="0"/>
                        <a:t>6</a:t>
                      </a:r>
                    </a:p>
                  </a:txBody>
                  <a:tcPr/>
                </a:tc>
                <a:tc>
                  <a:txBody>
                    <a:bodyPr/>
                    <a:lstStyle/>
                    <a:p>
                      <a:r>
                        <a:rPr lang="en-ZA" dirty="0"/>
                        <a:t>DSR</a:t>
                      </a:r>
                    </a:p>
                  </a:txBody>
                  <a:tcPr/>
                </a:tc>
                <a:extLst>
                  <a:ext uri="{0D108BD9-81ED-4DB2-BD59-A6C34878D82A}">
                    <a16:rowId xmlns:a16="http://schemas.microsoft.com/office/drawing/2014/main" val="2521491700"/>
                  </a:ext>
                </a:extLst>
              </a:tr>
              <a:tr h="370840">
                <a:tc>
                  <a:txBody>
                    <a:bodyPr/>
                    <a:lstStyle/>
                    <a:p>
                      <a:r>
                        <a:rPr lang="en-ZA" dirty="0"/>
                        <a:t>7</a:t>
                      </a:r>
                    </a:p>
                  </a:txBody>
                  <a:tcPr/>
                </a:tc>
                <a:tc>
                  <a:txBody>
                    <a:bodyPr/>
                    <a:lstStyle/>
                    <a:p>
                      <a:r>
                        <a:rPr lang="en-ZA" dirty="0"/>
                        <a:t>RTS</a:t>
                      </a:r>
                    </a:p>
                  </a:txBody>
                  <a:tcPr/>
                </a:tc>
                <a:extLst>
                  <a:ext uri="{0D108BD9-81ED-4DB2-BD59-A6C34878D82A}">
                    <a16:rowId xmlns:a16="http://schemas.microsoft.com/office/drawing/2014/main" val="4132409831"/>
                  </a:ext>
                </a:extLst>
              </a:tr>
              <a:tr h="370840">
                <a:tc>
                  <a:txBody>
                    <a:bodyPr/>
                    <a:lstStyle/>
                    <a:p>
                      <a:r>
                        <a:rPr lang="en-ZA" dirty="0"/>
                        <a:t>8</a:t>
                      </a:r>
                    </a:p>
                  </a:txBody>
                  <a:tcPr/>
                </a:tc>
                <a:tc>
                  <a:txBody>
                    <a:bodyPr/>
                    <a:lstStyle/>
                    <a:p>
                      <a:r>
                        <a:rPr lang="en-ZA" dirty="0"/>
                        <a:t>CTS</a:t>
                      </a:r>
                    </a:p>
                  </a:txBody>
                  <a:tcPr/>
                </a:tc>
                <a:extLst>
                  <a:ext uri="{0D108BD9-81ED-4DB2-BD59-A6C34878D82A}">
                    <a16:rowId xmlns:a16="http://schemas.microsoft.com/office/drawing/2014/main" val="745686931"/>
                  </a:ext>
                </a:extLst>
              </a:tr>
              <a:tr h="370840">
                <a:tc>
                  <a:txBody>
                    <a:bodyPr/>
                    <a:lstStyle/>
                    <a:p>
                      <a:r>
                        <a:rPr lang="en-ZA" dirty="0"/>
                        <a:t>9</a:t>
                      </a:r>
                    </a:p>
                  </a:txBody>
                  <a:tcPr/>
                </a:tc>
                <a:tc>
                  <a:txBody>
                    <a:bodyPr/>
                    <a:lstStyle/>
                    <a:p>
                      <a:r>
                        <a:rPr lang="en-ZA" dirty="0"/>
                        <a:t>RI</a:t>
                      </a:r>
                    </a:p>
                  </a:txBody>
                  <a:tcPr/>
                </a:tc>
                <a:extLst>
                  <a:ext uri="{0D108BD9-81ED-4DB2-BD59-A6C34878D82A}">
                    <a16:rowId xmlns:a16="http://schemas.microsoft.com/office/drawing/2014/main" val="4158840087"/>
                  </a:ext>
                </a:extLst>
              </a:tr>
            </a:tbl>
          </a:graphicData>
        </a:graphic>
      </p:graphicFrame>
      <p:pic>
        <p:nvPicPr>
          <p:cNvPr id="8" name="Picture 7" descr="A picture containing metalware, hinge, catch&#10;&#10;Description automatically generated">
            <a:extLst>
              <a:ext uri="{FF2B5EF4-FFF2-40B4-BE49-F238E27FC236}">
                <a16:creationId xmlns:a16="http://schemas.microsoft.com/office/drawing/2014/main" id="{1E78D33C-CC33-0D31-D951-06FFBF83AA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8589" y="3444210"/>
            <a:ext cx="2221625" cy="1320034"/>
          </a:xfrm>
          <a:prstGeom prst="rect">
            <a:avLst/>
          </a:prstGeom>
        </p:spPr>
      </p:pic>
      <p:sp>
        <p:nvSpPr>
          <p:cNvPr id="10" name="TextBox 9">
            <a:extLst>
              <a:ext uri="{FF2B5EF4-FFF2-40B4-BE49-F238E27FC236}">
                <a16:creationId xmlns:a16="http://schemas.microsoft.com/office/drawing/2014/main" id="{805AA045-DB67-40E4-0553-D63865C62144}"/>
              </a:ext>
            </a:extLst>
          </p:cNvPr>
          <p:cNvSpPr txBox="1"/>
          <p:nvPr/>
        </p:nvSpPr>
        <p:spPr>
          <a:xfrm>
            <a:off x="754375" y="3565277"/>
            <a:ext cx="1932860" cy="738664"/>
          </a:xfrm>
          <a:prstGeom prst="rect">
            <a:avLst/>
          </a:prstGeom>
          <a:noFill/>
        </p:spPr>
        <p:txBody>
          <a:bodyPr wrap="square">
            <a:spAutoFit/>
          </a:bodyPr>
          <a:lstStyle/>
          <a:p>
            <a:r>
              <a:rPr lang="en-ZA" sz="2400" dirty="0"/>
              <a:t>DB9-F</a:t>
            </a:r>
            <a:br>
              <a:rPr lang="en-ZA" sz="2400" dirty="0"/>
            </a:br>
            <a:r>
              <a:rPr lang="en-ZA" dirty="0"/>
              <a:t>female connector </a:t>
            </a:r>
          </a:p>
        </p:txBody>
      </p:sp>
      <p:sp>
        <p:nvSpPr>
          <p:cNvPr id="15" name="TextBox 14">
            <a:extLst>
              <a:ext uri="{FF2B5EF4-FFF2-40B4-BE49-F238E27FC236}">
                <a16:creationId xmlns:a16="http://schemas.microsoft.com/office/drawing/2014/main" id="{78DE3FEE-CEAF-2E9D-AB17-79E0FBE9381A}"/>
              </a:ext>
            </a:extLst>
          </p:cNvPr>
          <p:cNvSpPr txBox="1"/>
          <p:nvPr/>
        </p:nvSpPr>
        <p:spPr>
          <a:xfrm>
            <a:off x="754375" y="2341938"/>
            <a:ext cx="1932860" cy="461665"/>
          </a:xfrm>
          <a:prstGeom prst="rect">
            <a:avLst/>
          </a:prstGeom>
          <a:noFill/>
        </p:spPr>
        <p:txBody>
          <a:bodyPr wrap="square">
            <a:spAutoFit/>
          </a:bodyPr>
          <a:lstStyle/>
          <a:p>
            <a:r>
              <a:rPr lang="en-ZA" sz="2400" dirty="0"/>
              <a:t>Pinouts</a:t>
            </a:r>
            <a:endParaRPr lang="en-ZA" dirty="0"/>
          </a:p>
        </p:txBody>
      </p:sp>
      <p:sp>
        <p:nvSpPr>
          <p:cNvPr id="16" name="TextBox 15">
            <a:extLst>
              <a:ext uri="{FF2B5EF4-FFF2-40B4-BE49-F238E27FC236}">
                <a16:creationId xmlns:a16="http://schemas.microsoft.com/office/drawing/2014/main" id="{C13AAD04-12E4-1D1F-21A8-A6B46EBED93D}"/>
              </a:ext>
            </a:extLst>
          </p:cNvPr>
          <p:cNvSpPr txBox="1"/>
          <p:nvPr/>
        </p:nvSpPr>
        <p:spPr>
          <a:xfrm>
            <a:off x="754375" y="4905477"/>
            <a:ext cx="1932860" cy="738664"/>
          </a:xfrm>
          <a:prstGeom prst="rect">
            <a:avLst/>
          </a:prstGeom>
          <a:noFill/>
        </p:spPr>
        <p:txBody>
          <a:bodyPr wrap="square">
            <a:spAutoFit/>
          </a:bodyPr>
          <a:lstStyle/>
          <a:p>
            <a:r>
              <a:rPr lang="en-ZA" sz="2400" dirty="0"/>
              <a:t>DB9-M</a:t>
            </a:r>
            <a:br>
              <a:rPr lang="en-ZA" sz="2400" dirty="0"/>
            </a:br>
            <a:r>
              <a:rPr lang="en-ZA" dirty="0"/>
              <a:t>male connector </a:t>
            </a:r>
          </a:p>
        </p:txBody>
      </p:sp>
    </p:spTree>
    <p:extLst>
      <p:ext uri="{BB962C8B-B14F-4D97-AF65-F5344CB8AC3E}">
        <p14:creationId xmlns:p14="http://schemas.microsoft.com/office/powerpoint/2010/main" val="3871156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14138F-2F57-1D53-D657-F3067C3E7783}"/>
              </a:ext>
            </a:extLst>
          </p:cNvPr>
          <p:cNvSpPr>
            <a:spLocks noGrp="1"/>
          </p:cNvSpPr>
          <p:nvPr>
            <p:ph idx="1"/>
          </p:nvPr>
        </p:nvSpPr>
        <p:spPr/>
        <p:txBody>
          <a:bodyPr/>
          <a:lstStyle/>
          <a:p>
            <a:r>
              <a:rPr lang="en-ZA" dirty="0"/>
              <a:t>USB is a (seriously) complicated protocol, although very useful and well planned.</a:t>
            </a:r>
          </a:p>
          <a:p>
            <a:r>
              <a:rPr lang="en-ZA" dirty="0"/>
              <a:t>Here’s how to avoid hassles of having to figure out how to choose a use a standard USB protocol …</a:t>
            </a:r>
          </a:p>
        </p:txBody>
      </p:sp>
      <p:sp>
        <p:nvSpPr>
          <p:cNvPr id="3" name="Title 2">
            <a:extLst>
              <a:ext uri="{FF2B5EF4-FFF2-40B4-BE49-F238E27FC236}">
                <a16:creationId xmlns:a16="http://schemas.microsoft.com/office/drawing/2014/main" id="{FC0D3701-3F59-FA9E-3B0E-25B839BB7173}"/>
              </a:ext>
            </a:extLst>
          </p:cNvPr>
          <p:cNvSpPr>
            <a:spLocks noGrp="1"/>
          </p:cNvSpPr>
          <p:nvPr>
            <p:ph type="title"/>
          </p:nvPr>
        </p:nvSpPr>
        <p:spPr/>
        <p:txBody>
          <a:bodyPr/>
          <a:lstStyle/>
          <a:p>
            <a:pPr algn="ctr"/>
            <a:r>
              <a:rPr lang="en-ZA" dirty="0"/>
              <a:t>USB to RS232 Adapter</a:t>
            </a:r>
          </a:p>
        </p:txBody>
      </p:sp>
      <p:pic>
        <p:nvPicPr>
          <p:cNvPr id="5" name="Picture 4" descr="A picture containing connector&#10;&#10;Description automatically generated">
            <a:extLst>
              <a:ext uri="{FF2B5EF4-FFF2-40B4-BE49-F238E27FC236}">
                <a16:creationId xmlns:a16="http://schemas.microsoft.com/office/drawing/2014/main" id="{CABFF292-AEBB-C726-D92F-F6302482BE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490" y="3667679"/>
            <a:ext cx="4490107" cy="2357306"/>
          </a:xfrm>
          <a:prstGeom prst="rect">
            <a:avLst/>
          </a:prstGeom>
        </p:spPr>
      </p:pic>
      <p:sp>
        <p:nvSpPr>
          <p:cNvPr id="7" name="TextBox 6">
            <a:extLst>
              <a:ext uri="{FF2B5EF4-FFF2-40B4-BE49-F238E27FC236}">
                <a16:creationId xmlns:a16="http://schemas.microsoft.com/office/drawing/2014/main" id="{0C8D1446-ABC9-7A1B-23C5-879E912EDEC0}"/>
              </a:ext>
            </a:extLst>
          </p:cNvPr>
          <p:cNvSpPr txBox="1"/>
          <p:nvPr/>
        </p:nvSpPr>
        <p:spPr>
          <a:xfrm>
            <a:off x="5854412" y="3827469"/>
            <a:ext cx="2595985" cy="1938992"/>
          </a:xfrm>
          <a:prstGeom prst="rect">
            <a:avLst/>
          </a:prstGeom>
          <a:noFill/>
        </p:spPr>
        <p:txBody>
          <a:bodyPr wrap="square">
            <a:spAutoFit/>
          </a:bodyPr>
          <a:lstStyle/>
          <a:p>
            <a:r>
              <a:rPr lang="en-ZA" sz="2400" dirty="0"/>
              <a:t>Just give your PC a RS232 port via connecting a converter via USB… easier approach.</a:t>
            </a:r>
          </a:p>
        </p:txBody>
      </p:sp>
      <p:sp>
        <p:nvSpPr>
          <p:cNvPr id="8" name="TextBox 7">
            <a:extLst>
              <a:ext uri="{FF2B5EF4-FFF2-40B4-BE49-F238E27FC236}">
                <a16:creationId xmlns:a16="http://schemas.microsoft.com/office/drawing/2014/main" id="{3AF310E7-25B9-3176-AA4C-C30B21BA436F}"/>
              </a:ext>
            </a:extLst>
          </p:cNvPr>
          <p:cNvSpPr txBox="1"/>
          <p:nvPr/>
        </p:nvSpPr>
        <p:spPr>
          <a:xfrm>
            <a:off x="617988" y="5925418"/>
            <a:ext cx="7543317" cy="707886"/>
          </a:xfrm>
          <a:prstGeom prst="rect">
            <a:avLst/>
          </a:prstGeom>
          <a:noFill/>
        </p:spPr>
        <p:txBody>
          <a:bodyPr wrap="square">
            <a:spAutoFit/>
          </a:bodyPr>
          <a:lstStyle/>
          <a:p>
            <a:r>
              <a:rPr lang="en-ZA" sz="2000" dirty="0"/>
              <a:t>Of course the downside to this is that your comms rate is going to be limited (don’t expect much, if even all that close, to 1Mbps)</a:t>
            </a:r>
          </a:p>
        </p:txBody>
      </p:sp>
    </p:spTree>
    <p:extLst>
      <p:ext uri="{BB962C8B-B14F-4D97-AF65-F5344CB8AC3E}">
        <p14:creationId xmlns:p14="http://schemas.microsoft.com/office/powerpoint/2010/main" val="262167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par>
                          <p:cTn id="8" fill="hold">
                            <p:stCondLst>
                              <p:cond delay="2000"/>
                            </p:stCondLst>
                            <p:childTnLst>
                              <p:par>
                                <p:cTn id="9" presetID="1"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2500"/>
                            </p:stCondLst>
                            <p:childTnLst>
                              <p:par>
                                <p:cTn id="12" presetID="1" presetClass="entr" presetSubtype="0" fill="hold" grpId="0" nodeType="afterEffect">
                                  <p:stCondLst>
                                    <p:cond delay="100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D1F0A1-5D5D-2A7B-5468-FB429776C858}"/>
              </a:ext>
            </a:extLst>
          </p:cNvPr>
          <p:cNvSpPr>
            <a:spLocks noGrp="1"/>
          </p:cNvSpPr>
          <p:nvPr>
            <p:ph idx="1"/>
          </p:nvPr>
        </p:nvSpPr>
        <p:spPr>
          <a:xfrm>
            <a:off x="544367" y="987056"/>
            <a:ext cx="8076895" cy="5092995"/>
          </a:xfrm>
        </p:spPr>
        <p:txBody>
          <a:bodyPr/>
          <a:lstStyle/>
          <a:p>
            <a:pPr marL="0" indent="0">
              <a:buNone/>
            </a:pPr>
            <a:r>
              <a:rPr lang="en-ZA" dirty="0"/>
              <a:t>Illustration of connections needed to provide a RS232 port on the STM32F0:</a:t>
            </a:r>
          </a:p>
        </p:txBody>
      </p:sp>
      <p:sp>
        <p:nvSpPr>
          <p:cNvPr id="3" name="Title 2">
            <a:extLst>
              <a:ext uri="{FF2B5EF4-FFF2-40B4-BE49-F238E27FC236}">
                <a16:creationId xmlns:a16="http://schemas.microsoft.com/office/drawing/2014/main" id="{64DBEBBD-77AD-9138-5D6D-A4A5EE30F66E}"/>
              </a:ext>
            </a:extLst>
          </p:cNvPr>
          <p:cNvSpPr>
            <a:spLocks noGrp="1"/>
          </p:cNvSpPr>
          <p:nvPr>
            <p:ph type="title"/>
          </p:nvPr>
        </p:nvSpPr>
        <p:spPr/>
        <p:txBody>
          <a:bodyPr>
            <a:normAutofit fontScale="90000"/>
          </a:bodyPr>
          <a:lstStyle/>
          <a:p>
            <a:r>
              <a:rPr lang="en-ZA" dirty="0"/>
              <a:t>RS232 on STM32 UART </a:t>
            </a:r>
            <a:r>
              <a:rPr lang="en-ZA" dirty="0">
                <a:sym typeface="Wingdings" panose="05000000000000000000" pitchFamily="2" charset="2"/>
              </a:rPr>
              <a:t> MAX232  DM9</a:t>
            </a:r>
            <a:endParaRPr lang="en-ZA" dirty="0"/>
          </a:p>
        </p:txBody>
      </p:sp>
      <p:pic>
        <p:nvPicPr>
          <p:cNvPr id="5" name="Picture 4" descr="Diagram, schematic&#10;&#10;Description automatically generated">
            <a:extLst>
              <a:ext uri="{FF2B5EF4-FFF2-40B4-BE49-F238E27FC236}">
                <a16:creationId xmlns:a16="http://schemas.microsoft.com/office/drawing/2014/main" id="{B2AEC82E-B064-AAD8-579B-E0787C00DB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887" y="2083230"/>
            <a:ext cx="8091850" cy="3817456"/>
          </a:xfrm>
          <a:prstGeom prst="rect">
            <a:avLst/>
          </a:prstGeom>
        </p:spPr>
      </p:pic>
      <p:sp>
        <p:nvSpPr>
          <p:cNvPr id="7" name="TextBox 6">
            <a:extLst>
              <a:ext uri="{FF2B5EF4-FFF2-40B4-BE49-F238E27FC236}">
                <a16:creationId xmlns:a16="http://schemas.microsoft.com/office/drawing/2014/main" id="{E519FBB4-BDAE-1C79-4023-11865F6956DD}"/>
              </a:ext>
            </a:extLst>
          </p:cNvPr>
          <p:cNvSpPr txBox="1"/>
          <p:nvPr/>
        </p:nvSpPr>
        <p:spPr>
          <a:xfrm>
            <a:off x="465247" y="5975156"/>
            <a:ext cx="8091850" cy="646331"/>
          </a:xfrm>
          <a:prstGeom prst="rect">
            <a:avLst/>
          </a:prstGeom>
          <a:noFill/>
        </p:spPr>
        <p:txBody>
          <a:bodyPr wrap="square">
            <a:spAutoFit/>
          </a:bodyPr>
          <a:lstStyle/>
          <a:p>
            <a:r>
              <a:rPr lang="en-ZA" dirty="0"/>
              <a:t>Portion of schematic for STM32F0 development board. </a:t>
            </a:r>
            <a:br>
              <a:rPr lang="en-ZA" dirty="0"/>
            </a:br>
            <a:r>
              <a:rPr lang="en-ZA" dirty="0"/>
              <a:t>Source:  Embedded Systems I course notes</a:t>
            </a:r>
          </a:p>
        </p:txBody>
      </p:sp>
    </p:spTree>
    <p:extLst>
      <p:ext uri="{BB962C8B-B14F-4D97-AF65-F5344CB8AC3E}">
        <p14:creationId xmlns:p14="http://schemas.microsoft.com/office/powerpoint/2010/main" val="2756649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DE0FB1-958A-7748-A0B5-A69F4BA64427}"/>
              </a:ext>
            </a:extLst>
          </p:cNvPr>
          <p:cNvSpPr>
            <a:spLocks noGrp="1"/>
          </p:cNvSpPr>
          <p:nvPr>
            <p:ph idx="1"/>
          </p:nvPr>
        </p:nvSpPr>
        <p:spPr/>
        <p:txBody>
          <a:bodyPr/>
          <a:lstStyle/>
          <a:p>
            <a:r>
              <a:rPr lang="en-US" dirty="0"/>
              <a:t>What is RS-485?</a:t>
            </a:r>
          </a:p>
          <a:p>
            <a:pPr lvl="1"/>
            <a:r>
              <a:rPr lang="en-US" dirty="0"/>
              <a:t>It’s kind of an enhanced version of RS-232</a:t>
            </a:r>
          </a:p>
          <a:p>
            <a:pPr lvl="1"/>
            <a:r>
              <a:rPr lang="en-US" dirty="0"/>
              <a:t>It’s also an electrical interface</a:t>
            </a:r>
          </a:p>
          <a:p>
            <a:pPr lvl="1"/>
            <a:r>
              <a:rPr lang="en-US" dirty="0"/>
              <a:t>Also usually uses UART hardware interface to drive the data exchange</a:t>
            </a:r>
          </a:p>
          <a:p>
            <a:pPr lvl="1"/>
            <a:r>
              <a:rPr lang="en-US" dirty="0"/>
              <a:t>RS-485 was developed to overcome the limitations of RS-232</a:t>
            </a:r>
            <a:endParaRPr lang="en-ZA" dirty="0"/>
          </a:p>
        </p:txBody>
      </p:sp>
      <p:sp>
        <p:nvSpPr>
          <p:cNvPr id="3" name="Title 2">
            <a:extLst>
              <a:ext uri="{FF2B5EF4-FFF2-40B4-BE49-F238E27FC236}">
                <a16:creationId xmlns:a16="http://schemas.microsoft.com/office/drawing/2014/main" id="{78F55A46-6788-0008-68BE-183672068AFA}"/>
              </a:ext>
            </a:extLst>
          </p:cNvPr>
          <p:cNvSpPr>
            <a:spLocks noGrp="1"/>
          </p:cNvSpPr>
          <p:nvPr>
            <p:ph type="title"/>
          </p:nvPr>
        </p:nvSpPr>
        <p:spPr/>
        <p:txBody>
          <a:bodyPr/>
          <a:lstStyle/>
          <a:p>
            <a:pPr algn="ctr"/>
            <a:r>
              <a:rPr lang="en-ZA" dirty="0"/>
              <a:t>RS-485</a:t>
            </a:r>
          </a:p>
        </p:txBody>
      </p:sp>
    </p:spTree>
    <p:extLst>
      <p:ext uri="{BB962C8B-B14F-4D97-AF65-F5344CB8AC3E}">
        <p14:creationId xmlns:p14="http://schemas.microsoft.com/office/powerpoint/2010/main" val="3588173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C1A4FB-56CD-B134-3172-DB84C6988AE0}"/>
              </a:ext>
            </a:extLst>
          </p:cNvPr>
          <p:cNvSpPr>
            <a:spLocks noGrp="1"/>
          </p:cNvSpPr>
          <p:nvPr>
            <p:ph idx="1"/>
          </p:nvPr>
        </p:nvSpPr>
        <p:spPr/>
        <p:txBody>
          <a:bodyPr>
            <a:normAutofit/>
          </a:bodyPr>
          <a:lstStyle/>
          <a:p>
            <a:r>
              <a:rPr lang="en-US" dirty="0"/>
              <a:t>Supports only one transmitter and one receiver on a communication bus </a:t>
            </a:r>
            <a:r>
              <a:rPr lang="en-US" sz="2600" dirty="0"/>
              <a:t>(you might have noticed that after our I2C and daisy-chained SPI cases)</a:t>
            </a:r>
            <a:endParaRPr lang="en-US" dirty="0"/>
          </a:p>
          <a:p>
            <a:r>
              <a:rPr lang="en-US" dirty="0"/>
              <a:t>Allows data transfer for distances </a:t>
            </a:r>
            <a:r>
              <a:rPr lang="en-US" i="1" dirty="0"/>
              <a:t>less than</a:t>
            </a:r>
            <a:r>
              <a:rPr lang="en-US" dirty="0"/>
              <a:t> 15m. Signal lines (</a:t>
            </a:r>
            <a:r>
              <a:rPr lang="en-US" dirty="0" err="1"/>
              <a:t>tx</a:t>
            </a:r>
            <a:r>
              <a:rPr lang="en-US" dirty="0"/>
              <a:t> and </a:t>
            </a:r>
            <a:r>
              <a:rPr lang="en-US" dirty="0" err="1"/>
              <a:t>rx</a:t>
            </a:r>
            <a:r>
              <a:rPr lang="en-US" dirty="0"/>
              <a:t>) are referenced w.r.t ground and performance degrades quickly when there is noise present. </a:t>
            </a:r>
          </a:p>
          <a:p>
            <a:r>
              <a:rPr lang="en-US" dirty="0"/>
              <a:t>Allows rather limited speed of data transfer (especially for lengths beyond about a ~1m)</a:t>
            </a:r>
            <a:endParaRPr lang="en-ZA" dirty="0"/>
          </a:p>
        </p:txBody>
      </p:sp>
      <p:sp>
        <p:nvSpPr>
          <p:cNvPr id="3" name="Title 2">
            <a:extLst>
              <a:ext uri="{FF2B5EF4-FFF2-40B4-BE49-F238E27FC236}">
                <a16:creationId xmlns:a16="http://schemas.microsoft.com/office/drawing/2014/main" id="{3F87DE0F-0B20-07D7-853F-38E8B61807A5}"/>
              </a:ext>
            </a:extLst>
          </p:cNvPr>
          <p:cNvSpPr>
            <a:spLocks noGrp="1"/>
          </p:cNvSpPr>
          <p:nvPr>
            <p:ph type="title"/>
          </p:nvPr>
        </p:nvSpPr>
        <p:spPr/>
        <p:txBody>
          <a:bodyPr/>
          <a:lstStyle/>
          <a:p>
            <a:pPr algn="ctr"/>
            <a:r>
              <a:rPr lang="en-ZA" dirty="0"/>
              <a:t>RS-232 Limitations</a:t>
            </a:r>
          </a:p>
        </p:txBody>
      </p:sp>
    </p:spTree>
    <p:extLst>
      <p:ext uri="{BB962C8B-B14F-4D97-AF65-F5344CB8AC3E}">
        <p14:creationId xmlns:p14="http://schemas.microsoft.com/office/powerpoint/2010/main" val="2864329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CFA919-243E-A8A0-11A4-353081EFE433}"/>
              </a:ext>
            </a:extLst>
          </p:cNvPr>
          <p:cNvSpPr>
            <a:spLocks noGrp="1"/>
          </p:cNvSpPr>
          <p:nvPr>
            <p:ph idx="1"/>
          </p:nvPr>
        </p:nvSpPr>
        <p:spPr>
          <a:xfrm>
            <a:off x="525317" y="1291130"/>
            <a:ext cx="8076895" cy="5092995"/>
          </a:xfrm>
        </p:spPr>
        <p:txBody>
          <a:bodyPr/>
          <a:lstStyle/>
          <a:p>
            <a:pPr marL="0" indent="0">
              <a:buNone/>
            </a:pPr>
            <a:r>
              <a:rPr lang="en-US" dirty="0">
                <a:solidFill>
                  <a:srgbClr val="C00000"/>
                </a:solidFill>
              </a:rPr>
              <a:t>How is RS-485 different to RS-232?</a:t>
            </a:r>
          </a:p>
          <a:p>
            <a:pPr marL="0" indent="0">
              <a:buNone/>
            </a:pPr>
            <a:endParaRPr lang="en-US" dirty="0"/>
          </a:p>
          <a:p>
            <a:pPr marL="0" indent="0">
              <a:buNone/>
            </a:pPr>
            <a:r>
              <a:rPr lang="en-US" dirty="0"/>
              <a:t>1. RS-485 uses a tri-state differential line driver to provide one of the following three states:</a:t>
            </a:r>
          </a:p>
          <a:p>
            <a:pPr lvl="1"/>
            <a:r>
              <a:rPr lang="en-US" dirty="0"/>
              <a:t>Logic low: ±1.5 V to ±6 V</a:t>
            </a:r>
          </a:p>
          <a:p>
            <a:pPr lvl="1"/>
            <a:r>
              <a:rPr lang="en-US" dirty="0"/>
              <a:t>Logic high ±1.5V to ±6V</a:t>
            </a:r>
          </a:p>
          <a:p>
            <a:pPr lvl="1"/>
            <a:r>
              <a:rPr lang="en-US" dirty="0"/>
              <a:t>High impedance: Not connected to bus</a:t>
            </a:r>
            <a:endParaRPr lang="en-ZA" dirty="0"/>
          </a:p>
        </p:txBody>
      </p:sp>
      <p:sp>
        <p:nvSpPr>
          <p:cNvPr id="3" name="Title 2">
            <a:extLst>
              <a:ext uri="{FF2B5EF4-FFF2-40B4-BE49-F238E27FC236}">
                <a16:creationId xmlns:a16="http://schemas.microsoft.com/office/drawing/2014/main" id="{B23ADA93-2566-871F-877B-02DD9AC7233C}"/>
              </a:ext>
            </a:extLst>
          </p:cNvPr>
          <p:cNvSpPr>
            <a:spLocks noGrp="1"/>
          </p:cNvSpPr>
          <p:nvPr>
            <p:ph type="title"/>
          </p:nvPr>
        </p:nvSpPr>
        <p:spPr/>
        <p:txBody>
          <a:bodyPr/>
          <a:lstStyle/>
          <a:p>
            <a:pPr algn="ctr"/>
            <a:r>
              <a:rPr lang="en-ZA" dirty="0"/>
              <a:t>RS-485 differences to RS-232</a:t>
            </a:r>
          </a:p>
        </p:txBody>
      </p:sp>
      <p:sp>
        <p:nvSpPr>
          <p:cNvPr id="5" name="TextBox 4">
            <a:extLst>
              <a:ext uri="{FF2B5EF4-FFF2-40B4-BE49-F238E27FC236}">
                <a16:creationId xmlns:a16="http://schemas.microsoft.com/office/drawing/2014/main" id="{0399D986-A436-5B5C-9629-99AA9FFD45F7}"/>
              </a:ext>
            </a:extLst>
          </p:cNvPr>
          <p:cNvSpPr txBox="1"/>
          <p:nvPr/>
        </p:nvSpPr>
        <p:spPr>
          <a:xfrm>
            <a:off x="601670" y="5489095"/>
            <a:ext cx="7635250" cy="1015663"/>
          </a:xfrm>
          <a:prstGeom prst="rect">
            <a:avLst/>
          </a:prstGeom>
          <a:noFill/>
        </p:spPr>
        <p:txBody>
          <a:bodyPr wrap="square">
            <a:spAutoFit/>
          </a:bodyPr>
          <a:lstStyle/>
          <a:p>
            <a:r>
              <a:rPr lang="en-ZA" sz="2000" dirty="0">
                <a:solidFill>
                  <a:schemeClr val="accent6">
                    <a:lumMod val="50000"/>
                  </a:schemeClr>
                </a:solidFill>
              </a:rPr>
              <a:t>Big advantage of this adjustment:</a:t>
            </a:r>
          </a:p>
          <a:p>
            <a:r>
              <a:rPr lang="en-ZA" sz="2000" dirty="0">
                <a:solidFill>
                  <a:schemeClr val="accent6">
                    <a:lumMod val="50000"/>
                  </a:schemeClr>
                </a:solidFill>
              </a:rPr>
              <a:t>This allows multiple devices to be connected to the same bus. When a </a:t>
            </a:r>
          </a:p>
          <a:p>
            <a:r>
              <a:rPr lang="en-ZA" sz="2000" dirty="0">
                <a:solidFill>
                  <a:schemeClr val="accent6">
                    <a:lumMod val="50000"/>
                  </a:schemeClr>
                </a:solidFill>
              </a:rPr>
              <a:t>device is not transmitting, the transmit line is put to ‘High impedance’. </a:t>
            </a:r>
          </a:p>
        </p:txBody>
      </p:sp>
    </p:spTree>
    <p:extLst>
      <p:ext uri="{BB962C8B-B14F-4D97-AF65-F5344CB8AC3E}">
        <p14:creationId xmlns:p14="http://schemas.microsoft.com/office/powerpoint/2010/main" val="4093040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Box and whisker chart&#10;&#10;Description automatically generated">
            <a:extLst>
              <a:ext uri="{FF2B5EF4-FFF2-40B4-BE49-F238E27FC236}">
                <a16:creationId xmlns:a16="http://schemas.microsoft.com/office/drawing/2014/main" id="{AECE8DE2-384A-8B6A-D1CA-7CCF3E2CE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670" y="5221196"/>
            <a:ext cx="5591175" cy="1333500"/>
          </a:xfrm>
          <a:prstGeom prst="rect">
            <a:avLst/>
          </a:prstGeom>
        </p:spPr>
      </p:pic>
      <p:sp>
        <p:nvSpPr>
          <p:cNvPr id="2" name="Content Placeholder 1">
            <a:extLst>
              <a:ext uri="{FF2B5EF4-FFF2-40B4-BE49-F238E27FC236}">
                <a16:creationId xmlns:a16="http://schemas.microsoft.com/office/drawing/2014/main" id="{EACFA919-243E-A8A0-11A4-353081EFE433}"/>
              </a:ext>
            </a:extLst>
          </p:cNvPr>
          <p:cNvSpPr>
            <a:spLocks noGrp="1"/>
          </p:cNvSpPr>
          <p:nvPr>
            <p:ph idx="1"/>
          </p:nvPr>
        </p:nvSpPr>
        <p:spPr>
          <a:xfrm>
            <a:off x="525317" y="1195880"/>
            <a:ext cx="8076895" cy="5092995"/>
          </a:xfrm>
        </p:spPr>
        <p:txBody>
          <a:bodyPr>
            <a:normAutofit/>
          </a:bodyPr>
          <a:lstStyle/>
          <a:p>
            <a:pPr marL="0" indent="0">
              <a:buNone/>
            </a:pPr>
            <a:r>
              <a:rPr lang="en-US" dirty="0">
                <a:solidFill>
                  <a:srgbClr val="C00000"/>
                </a:solidFill>
              </a:rPr>
              <a:t>How is RS-485 different to RS-232?</a:t>
            </a:r>
          </a:p>
          <a:p>
            <a:pPr marL="0" indent="0">
              <a:buNone/>
            </a:pPr>
            <a:r>
              <a:rPr lang="en-US" sz="2800" dirty="0"/>
              <a:t>2. RS-485 uses </a:t>
            </a:r>
            <a:r>
              <a:rPr lang="en-US" sz="2800" dirty="0">
                <a:solidFill>
                  <a:schemeClr val="accent6">
                    <a:lumMod val="50000"/>
                  </a:schemeClr>
                </a:solidFill>
              </a:rPr>
              <a:t>differential signaling on two lines</a:t>
            </a:r>
            <a:r>
              <a:rPr lang="en-US" sz="2800" dirty="0"/>
              <a:t> rather than a single-ended with voltage referenced to ground. </a:t>
            </a:r>
          </a:p>
          <a:p>
            <a:pPr marL="0" indent="0">
              <a:buNone/>
            </a:pPr>
            <a:r>
              <a:rPr lang="en-US" sz="2800" dirty="0"/>
              <a:t>‘Differential signaling’ means that two lines are used, where one line has the negative voltage or the complementary signal of the other line. The receiver amplifies the difference between the two signals. </a:t>
            </a:r>
          </a:p>
          <a:p>
            <a:pPr marL="0" indent="0">
              <a:buNone/>
            </a:pPr>
            <a:r>
              <a:rPr lang="en-US" sz="2800" dirty="0"/>
              <a:t>This makes RS-485 more noise immune than RS-232</a:t>
            </a:r>
            <a:endParaRPr lang="en-ZA" sz="2800" dirty="0"/>
          </a:p>
        </p:txBody>
      </p:sp>
      <p:sp>
        <p:nvSpPr>
          <p:cNvPr id="3" name="Title 2">
            <a:extLst>
              <a:ext uri="{FF2B5EF4-FFF2-40B4-BE49-F238E27FC236}">
                <a16:creationId xmlns:a16="http://schemas.microsoft.com/office/drawing/2014/main" id="{B23ADA93-2566-871F-877B-02DD9AC7233C}"/>
              </a:ext>
            </a:extLst>
          </p:cNvPr>
          <p:cNvSpPr>
            <a:spLocks noGrp="1"/>
          </p:cNvSpPr>
          <p:nvPr>
            <p:ph type="title"/>
          </p:nvPr>
        </p:nvSpPr>
        <p:spPr/>
        <p:txBody>
          <a:bodyPr/>
          <a:lstStyle/>
          <a:p>
            <a:pPr algn="ctr"/>
            <a:r>
              <a:rPr lang="en-ZA" dirty="0"/>
              <a:t>RS-485 differences to RS-232</a:t>
            </a:r>
          </a:p>
        </p:txBody>
      </p:sp>
      <p:sp>
        <p:nvSpPr>
          <p:cNvPr id="8" name="TextBox 7">
            <a:extLst>
              <a:ext uri="{FF2B5EF4-FFF2-40B4-BE49-F238E27FC236}">
                <a16:creationId xmlns:a16="http://schemas.microsoft.com/office/drawing/2014/main" id="{6352C358-A706-43D1-D1BD-D98B1EAC0D2A}"/>
              </a:ext>
            </a:extLst>
          </p:cNvPr>
          <p:cNvSpPr txBox="1"/>
          <p:nvPr/>
        </p:nvSpPr>
        <p:spPr>
          <a:xfrm>
            <a:off x="6215309" y="5477478"/>
            <a:ext cx="2364439" cy="1077218"/>
          </a:xfrm>
          <a:prstGeom prst="rect">
            <a:avLst/>
          </a:prstGeom>
          <a:noFill/>
        </p:spPr>
        <p:txBody>
          <a:bodyPr wrap="square">
            <a:spAutoFit/>
          </a:bodyPr>
          <a:lstStyle/>
          <a:p>
            <a:r>
              <a:rPr lang="en-ZA" sz="1600" dirty="0">
                <a:solidFill>
                  <a:schemeClr val="accent5">
                    <a:lumMod val="75000"/>
                  </a:schemeClr>
                </a:solidFill>
              </a:rPr>
              <a:t>Voltages on the U+ and the U- signal lines during transmission of one byte ( 0xD3 or b11001011) </a:t>
            </a:r>
          </a:p>
        </p:txBody>
      </p:sp>
    </p:spTree>
    <p:extLst>
      <p:ext uri="{BB962C8B-B14F-4D97-AF65-F5344CB8AC3E}">
        <p14:creationId xmlns:p14="http://schemas.microsoft.com/office/powerpoint/2010/main" val="1537265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CFA919-243E-A8A0-11A4-353081EFE433}"/>
              </a:ext>
            </a:extLst>
          </p:cNvPr>
          <p:cNvSpPr>
            <a:spLocks noGrp="1"/>
          </p:cNvSpPr>
          <p:nvPr>
            <p:ph idx="1"/>
          </p:nvPr>
        </p:nvSpPr>
        <p:spPr>
          <a:xfrm>
            <a:off x="525317" y="1253030"/>
            <a:ext cx="8076895" cy="5092995"/>
          </a:xfrm>
        </p:spPr>
        <p:txBody>
          <a:bodyPr/>
          <a:lstStyle/>
          <a:p>
            <a:pPr marL="0" indent="0">
              <a:buNone/>
            </a:pPr>
            <a:r>
              <a:rPr lang="en-US" dirty="0">
                <a:solidFill>
                  <a:srgbClr val="C00000"/>
                </a:solidFill>
              </a:rPr>
              <a:t>How is RS-485 different to RS-232?</a:t>
            </a:r>
          </a:p>
          <a:p>
            <a:pPr marL="0" indent="0">
              <a:buNone/>
            </a:pPr>
            <a:r>
              <a:rPr lang="en-US" dirty="0"/>
              <a:t>3. Recommended to use a </a:t>
            </a:r>
            <a:r>
              <a:rPr lang="en-US" dirty="0">
                <a:solidFill>
                  <a:schemeClr val="accent2">
                    <a:lumMod val="50000"/>
                  </a:schemeClr>
                </a:solidFill>
              </a:rPr>
              <a:t>twisted pair cable</a:t>
            </a:r>
            <a:r>
              <a:rPr lang="en-US" dirty="0"/>
              <a:t> to transmit RS-485 signals. A twisted pair minimizes the gap between the two wires, which minimizes noise picked up by both the wires and immunity against interference. </a:t>
            </a:r>
            <a:endParaRPr lang="en-ZA" dirty="0"/>
          </a:p>
        </p:txBody>
      </p:sp>
      <p:sp>
        <p:nvSpPr>
          <p:cNvPr id="3" name="Title 2">
            <a:extLst>
              <a:ext uri="{FF2B5EF4-FFF2-40B4-BE49-F238E27FC236}">
                <a16:creationId xmlns:a16="http://schemas.microsoft.com/office/drawing/2014/main" id="{B23ADA93-2566-871F-877B-02DD9AC7233C}"/>
              </a:ext>
            </a:extLst>
          </p:cNvPr>
          <p:cNvSpPr>
            <a:spLocks noGrp="1"/>
          </p:cNvSpPr>
          <p:nvPr>
            <p:ph type="title"/>
          </p:nvPr>
        </p:nvSpPr>
        <p:spPr/>
        <p:txBody>
          <a:bodyPr/>
          <a:lstStyle/>
          <a:p>
            <a:pPr algn="ctr"/>
            <a:r>
              <a:rPr lang="en-ZA" dirty="0"/>
              <a:t>RS-485 differences to RS-232</a:t>
            </a:r>
          </a:p>
        </p:txBody>
      </p:sp>
      <p:sp>
        <p:nvSpPr>
          <p:cNvPr id="5" name="TextBox 4">
            <a:extLst>
              <a:ext uri="{FF2B5EF4-FFF2-40B4-BE49-F238E27FC236}">
                <a16:creationId xmlns:a16="http://schemas.microsoft.com/office/drawing/2014/main" id="{0399D986-A436-5B5C-9629-99AA9FFD45F7}"/>
              </a:ext>
            </a:extLst>
          </p:cNvPr>
          <p:cNvSpPr txBox="1"/>
          <p:nvPr/>
        </p:nvSpPr>
        <p:spPr>
          <a:xfrm>
            <a:off x="690561" y="5778521"/>
            <a:ext cx="7635250" cy="646331"/>
          </a:xfrm>
          <a:prstGeom prst="rect">
            <a:avLst/>
          </a:prstGeom>
          <a:noFill/>
        </p:spPr>
        <p:txBody>
          <a:bodyPr wrap="square">
            <a:spAutoFit/>
          </a:bodyPr>
          <a:lstStyle/>
          <a:p>
            <a:r>
              <a:rPr lang="en-US" dirty="0">
                <a:solidFill>
                  <a:schemeClr val="tx2">
                    <a:lumMod val="50000"/>
                  </a:schemeClr>
                </a:solidFill>
              </a:rPr>
              <a:t>Components of a half duplex RS-485 network, where a twisted pair cable is recommended to improve noise immunity</a:t>
            </a:r>
            <a:endParaRPr lang="en-ZA" dirty="0">
              <a:solidFill>
                <a:schemeClr val="tx2">
                  <a:lumMod val="50000"/>
                </a:schemeClr>
              </a:solidFill>
            </a:endParaRPr>
          </a:p>
        </p:txBody>
      </p:sp>
      <p:pic>
        <p:nvPicPr>
          <p:cNvPr id="6" name="Picture 5" descr="Graphical user interface&#10;&#10;Description automatically generated">
            <a:extLst>
              <a:ext uri="{FF2B5EF4-FFF2-40B4-BE49-F238E27FC236}">
                <a16:creationId xmlns:a16="http://schemas.microsoft.com/office/drawing/2014/main" id="{27D837A6-50BA-AA95-23CB-B65FF0C53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61" y="4423478"/>
            <a:ext cx="7724775" cy="1438275"/>
          </a:xfrm>
          <a:prstGeom prst="rect">
            <a:avLst/>
          </a:prstGeom>
        </p:spPr>
      </p:pic>
    </p:spTree>
    <p:extLst>
      <p:ext uri="{BB962C8B-B14F-4D97-AF65-F5344CB8AC3E}">
        <p14:creationId xmlns:p14="http://schemas.microsoft.com/office/powerpoint/2010/main" val="3429268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0B6C6449-340A-4D44-7C82-FB0817B25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527" y="4534786"/>
            <a:ext cx="5072907" cy="1993136"/>
          </a:xfrm>
          <a:prstGeom prst="rect">
            <a:avLst/>
          </a:prstGeom>
        </p:spPr>
      </p:pic>
      <p:sp>
        <p:nvSpPr>
          <p:cNvPr id="2" name="Content Placeholder 1">
            <a:extLst>
              <a:ext uri="{FF2B5EF4-FFF2-40B4-BE49-F238E27FC236}">
                <a16:creationId xmlns:a16="http://schemas.microsoft.com/office/drawing/2014/main" id="{EACFA919-243E-A8A0-11A4-353081EFE433}"/>
              </a:ext>
            </a:extLst>
          </p:cNvPr>
          <p:cNvSpPr>
            <a:spLocks noGrp="1"/>
          </p:cNvSpPr>
          <p:nvPr>
            <p:ph idx="1"/>
          </p:nvPr>
        </p:nvSpPr>
        <p:spPr>
          <a:xfrm>
            <a:off x="525317" y="1081275"/>
            <a:ext cx="8076895" cy="5092995"/>
          </a:xfrm>
        </p:spPr>
        <p:txBody>
          <a:bodyPr>
            <a:normAutofit/>
          </a:bodyPr>
          <a:lstStyle/>
          <a:p>
            <a:pPr marL="0" indent="0">
              <a:buNone/>
            </a:pPr>
            <a:r>
              <a:rPr lang="en-US" dirty="0">
                <a:solidFill>
                  <a:srgbClr val="C00000"/>
                </a:solidFill>
              </a:rPr>
              <a:t>How is RS-485 different to RS-232?</a:t>
            </a:r>
          </a:p>
          <a:p>
            <a:pPr marL="0" indent="0">
              <a:buNone/>
            </a:pPr>
            <a:r>
              <a:rPr lang="en-US" dirty="0"/>
              <a:t>4. Supports up to 32 transmitters and 32 receivers on one communication bus</a:t>
            </a:r>
          </a:p>
        </p:txBody>
      </p:sp>
      <p:sp>
        <p:nvSpPr>
          <p:cNvPr id="3" name="Title 2">
            <a:extLst>
              <a:ext uri="{FF2B5EF4-FFF2-40B4-BE49-F238E27FC236}">
                <a16:creationId xmlns:a16="http://schemas.microsoft.com/office/drawing/2014/main" id="{B23ADA93-2566-871F-877B-02DD9AC7233C}"/>
              </a:ext>
            </a:extLst>
          </p:cNvPr>
          <p:cNvSpPr>
            <a:spLocks noGrp="1"/>
          </p:cNvSpPr>
          <p:nvPr>
            <p:ph type="title"/>
          </p:nvPr>
        </p:nvSpPr>
        <p:spPr/>
        <p:txBody>
          <a:bodyPr/>
          <a:lstStyle/>
          <a:p>
            <a:pPr algn="ctr"/>
            <a:r>
              <a:rPr lang="en-ZA" dirty="0"/>
              <a:t>RS-485 differences to RS-232</a:t>
            </a:r>
          </a:p>
        </p:txBody>
      </p:sp>
      <p:sp>
        <p:nvSpPr>
          <p:cNvPr id="5" name="TextBox 4">
            <a:extLst>
              <a:ext uri="{FF2B5EF4-FFF2-40B4-BE49-F238E27FC236}">
                <a16:creationId xmlns:a16="http://schemas.microsoft.com/office/drawing/2014/main" id="{0399D986-A436-5B5C-9629-99AA9FFD45F7}"/>
              </a:ext>
            </a:extLst>
          </p:cNvPr>
          <p:cNvSpPr txBox="1"/>
          <p:nvPr/>
        </p:nvSpPr>
        <p:spPr>
          <a:xfrm>
            <a:off x="5631785" y="4715746"/>
            <a:ext cx="2970427" cy="1477328"/>
          </a:xfrm>
          <a:prstGeom prst="rect">
            <a:avLst/>
          </a:prstGeom>
          <a:noFill/>
        </p:spPr>
        <p:txBody>
          <a:bodyPr wrap="square">
            <a:spAutoFit/>
          </a:bodyPr>
          <a:lstStyle/>
          <a:p>
            <a:r>
              <a:rPr lang="en-US" dirty="0">
                <a:solidFill>
                  <a:schemeClr val="tx2">
                    <a:lumMod val="50000"/>
                  </a:schemeClr>
                </a:solidFill>
              </a:rPr>
              <a:t>A RS-485 network showing many receivers(R) and transmitters / drivers (D) connected to the same communication bus </a:t>
            </a:r>
            <a:endParaRPr lang="en-ZA" dirty="0">
              <a:solidFill>
                <a:schemeClr val="tx2">
                  <a:lumMod val="50000"/>
                </a:schemeClr>
              </a:solidFill>
            </a:endParaRPr>
          </a:p>
        </p:txBody>
      </p:sp>
      <p:sp>
        <p:nvSpPr>
          <p:cNvPr id="6" name="TextBox 5">
            <a:extLst>
              <a:ext uri="{FF2B5EF4-FFF2-40B4-BE49-F238E27FC236}">
                <a16:creationId xmlns:a16="http://schemas.microsoft.com/office/drawing/2014/main" id="{38C44E2A-1973-08E8-48B0-A8E0C8BC9E54}"/>
              </a:ext>
            </a:extLst>
          </p:cNvPr>
          <p:cNvSpPr txBox="1"/>
          <p:nvPr/>
        </p:nvSpPr>
        <p:spPr>
          <a:xfrm>
            <a:off x="296260" y="2761030"/>
            <a:ext cx="8305952" cy="1631216"/>
          </a:xfrm>
          <a:prstGeom prst="rect">
            <a:avLst/>
          </a:prstGeom>
          <a:noFill/>
        </p:spPr>
        <p:txBody>
          <a:bodyPr wrap="square">
            <a:spAutoFit/>
          </a:bodyPr>
          <a:lstStyle/>
          <a:p>
            <a:pPr marL="742950" lvl="1" indent="-285750">
              <a:buFontTx/>
              <a:buChar char="-"/>
            </a:pPr>
            <a:r>
              <a:rPr lang="en-US" sz="2000" dirty="0"/>
              <a:t>All receivers are fully connected to the communication bus</a:t>
            </a:r>
          </a:p>
          <a:p>
            <a:pPr marL="742950" lvl="1" indent="-285750">
              <a:buFontTx/>
              <a:buChar char="-"/>
            </a:pPr>
            <a:r>
              <a:rPr lang="en-US" sz="2000" dirty="0"/>
              <a:t>Line drivers are disconnected or put in a ‘high impedance’ state when they are not transmitting</a:t>
            </a:r>
          </a:p>
          <a:p>
            <a:pPr marL="742950" lvl="1" indent="-285750">
              <a:buFontTx/>
              <a:buChar char="-"/>
            </a:pPr>
            <a:r>
              <a:rPr lang="en-US" sz="2000" dirty="0"/>
              <a:t>The communication bus line is terminated in a load matching resistance, to </a:t>
            </a:r>
            <a:r>
              <a:rPr lang="en-US" sz="2000" dirty="0" err="1"/>
              <a:t>minimise</a:t>
            </a:r>
            <a:r>
              <a:rPr lang="en-US" sz="2000" dirty="0"/>
              <a:t> signal reflections from the end of the line s:</a:t>
            </a:r>
            <a:endParaRPr lang="en-ZA" sz="2000" dirty="0"/>
          </a:p>
        </p:txBody>
      </p:sp>
    </p:spTree>
    <p:extLst>
      <p:ext uri="{BB962C8B-B14F-4D97-AF65-F5344CB8AC3E}">
        <p14:creationId xmlns:p14="http://schemas.microsoft.com/office/powerpoint/2010/main" val="2048865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a:extLst>
              <a:ext uri="{FF2B5EF4-FFF2-40B4-BE49-F238E27FC236}">
                <a16:creationId xmlns:a16="http://schemas.microsoft.com/office/drawing/2014/main" id="{1261A455-0DD2-B965-2CE0-C45A5168A7B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5463" y="1291130"/>
            <a:ext cx="8077200" cy="3721357"/>
          </a:xfrm>
        </p:spPr>
      </p:pic>
      <p:sp>
        <p:nvSpPr>
          <p:cNvPr id="3" name="Title 2">
            <a:extLst>
              <a:ext uri="{FF2B5EF4-FFF2-40B4-BE49-F238E27FC236}">
                <a16:creationId xmlns:a16="http://schemas.microsoft.com/office/drawing/2014/main" id="{24B977C0-E84C-9B85-171C-407843E47180}"/>
              </a:ext>
            </a:extLst>
          </p:cNvPr>
          <p:cNvSpPr>
            <a:spLocks noGrp="1"/>
          </p:cNvSpPr>
          <p:nvPr>
            <p:ph type="title"/>
          </p:nvPr>
        </p:nvSpPr>
        <p:spPr/>
        <p:txBody>
          <a:bodyPr/>
          <a:lstStyle/>
          <a:p>
            <a:pPr algn="ctr"/>
            <a:r>
              <a:rPr lang="en-ZA" dirty="0"/>
              <a:t>RS-485 versus RS232 Summary</a:t>
            </a:r>
          </a:p>
        </p:txBody>
      </p:sp>
    </p:spTree>
    <p:extLst>
      <p:ext uri="{BB962C8B-B14F-4D97-AF65-F5344CB8AC3E}">
        <p14:creationId xmlns:p14="http://schemas.microsoft.com/office/powerpoint/2010/main" val="2425890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DE222E-97AE-E2DF-383D-CC7EA9C53589}"/>
              </a:ext>
            </a:extLst>
          </p:cNvPr>
          <p:cNvSpPr>
            <a:spLocks noGrp="1"/>
          </p:cNvSpPr>
          <p:nvPr>
            <p:ph idx="1"/>
          </p:nvPr>
        </p:nvSpPr>
        <p:spPr/>
        <p:txBody>
          <a:bodyPr/>
          <a:lstStyle/>
          <a:p>
            <a:r>
              <a:rPr lang="en-US" dirty="0"/>
              <a:t>Where is RS-485 used? </a:t>
            </a:r>
          </a:p>
          <a:p>
            <a:pPr lvl="1"/>
            <a:r>
              <a:rPr lang="en-US" dirty="0"/>
              <a:t>Commercial aircraft cabins</a:t>
            </a:r>
          </a:p>
          <a:p>
            <a:pPr lvl="1"/>
            <a:r>
              <a:rPr lang="en-US" dirty="0"/>
              <a:t>Building automation</a:t>
            </a:r>
          </a:p>
          <a:p>
            <a:pPr lvl="1"/>
            <a:r>
              <a:rPr lang="en-US" dirty="0"/>
              <a:t>Connecting electrical meters</a:t>
            </a:r>
          </a:p>
          <a:p>
            <a:pPr lvl="1"/>
            <a:r>
              <a:rPr lang="en-US" dirty="0"/>
              <a:t>Industrial control systems</a:t>
            </a:r>
          </a:p>
          <a:p>
            <a:pPr lvl="1"/>
            <a:r>
              <a:rPr lang="en-US" dirty="0"/>
              <a:t>Security electronics</a:t>
            </a:r>
            <a:endParaRPr lang="en-ZA" dirty="0"/>
          </a:p>
        </p:txBody>
      </p:sp>
      <p:sp>
        <p:nvSpPr>
          <p:cNvPr id="3" name="Title 2">
            <a:extLst>
              <a:ext uri="{FF2B5EF4-FFF2-40B4-BE49-F238E27FC236}">
                <a16:creationId xmlns:a16="http://schemas.microsoft.com/office/drawing/2014/main" id="{0F363526-6C48-B452-1F8E-4AF02895E0A1}"/>
              </a:ext>
            </a:extLst>
          </p:cNvPr>
          <p:cNvSpPr>
            <a:spLocks noGrp="1"/>
          </p:cNvSpPr>
          <p:nvPr>
            <p:ph type="title"/>
          </p:nvPr>
        </p:nvSpPr>
        <p:spPr/>
        <p:txBody>
          <a:bodyPr>
            <a:normAutofit/>
          </a:bodyPr>
          <a:lstStyle/>
          <a:p>
            <a:pPr algn="ctr"/>
            <a:r>
              <a:rPr lang="en-ZA" dirty="0"/>
              <a:t>RS-485 Applications</a:t>
            </a:r>
          </a:p>
        </p:txBody>
      </p:sp>
      <p:pic>
        <p:nvPicPr>
          <p:cNvPr id="5" name="Picture 4" descr="A picture containing text, device&#10;&#10;Description automatically generated">
            <a:extLst>
              <a:ext uri="{FF2B5EF4-FFF2-40B4-BE49-F238E27FC236}">
                <a16:creationId xmlns:a16="http://schemas.microsoft.com/office/drawing/2014/main" id="{6768B707-62CC-D0F6-C699-9D7048F1F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219" y="4620816"/>
            <a:ext cx="5667375" cy="1905000"/>
          </a:xfrm>
          <a:prstGeom prst="rect">
            <a:avLst/>
          </a:prstGeom>
        </p:spPr>
      </p:pic>
      <p:sp>
        <p:nvSpPr>
          <p:cNvPr id="7" name="TextBox 6">
            <a:extLst>
              <a:ext uri="{FF2B5EF4-FFF2-40B4-BE49-F238E27FC236}">
                <a16:creationId xmlns:a16="http://schemas.microsoft.com/office/drawing/2014/main" id="{C942B7F2-C34C-B127-3380-B322DB5B4E7A}"/>
              </a:ext>
            </a:extLst>
          </p:cNvPr>
          <p:cNvSpPr txBox="1"/>
          <p:nvPr/>
        </p:nvSpPr>
        <p:spPr>
          <a:xfrm>
            <a:off x="6329065" y="4676896"/>
            <a:ext cx="2289618" cy="1569660"/>
          </a:xfrm>
          <a:prstGeom prst="rect">
            <a:avLst/>
          </a:prstGeom>
          <a:noFill/>
        </p:spPr>
        <p:txBody>
          <a:bodyPr wrap="square">
            <a:spAutoFit/>
          </a:bodyPr>
          <a:lstStyle/>
          <a:p>
            <a:r>
              <a:rPr lang="en-ZA" sz="1600" dirty="0">
                <a:solidFill>
                  <a:schemeClr val="tx2">
                    <a:lumMod val="50000"/>
                  </a:schemeClr>
                </a:solidFill>
              </a:rPr>
              <a:t>Example of multiple devices connected to the same RS-485 network. A RS-485 to RS232 convertor may be used to interface to a host </a:t>
            </a:r>
          </a:p>
        </p:txBody>
      </p:sp>
    </p:spTree>
    <p:extLst>
      <p:ext uri="{BB962C8B-B14F-4D97-AF65-F5344CB8AC3E}">
        <p14:creationId xmlns:p14="http://schemas.microsoft.com/office/powerpoint/2010/main" val="2454584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20AEFE-3EAE-FB70-A046-704B4978645B}"/>
              </a:ext>
            </a:extLst>
          </p:cNvPr>
          <p:cNvSpPr>
            <a:spLocks noGrp="1"/>
          </p:cNvSpPr>
          <p:nvPr>
            <p:ph idx="1"/>
          </p:nvPr>
        </p:nvSpPr>
        <p:spPr/>
        <p:txBody>
          <a:bodyPr>
            <a:normAutofit lnSpcReduction="10000"/>
          </a:bodyPr>
          <a:lstStyle/>
          <a:p>
            <a:pPr marL="0" indent="0">
              <a:buNone/>
            </a:pPr>
            <a:r>
              <a:rPr lang="en-US" dirty="0"/>
              <a:t>[1] Understanding the I2C Bus </a:t>
            </a:r>
            <a:br>
              <a:rPr lang="en-US" dirty="0"/>
            </a:br>
            <a:r>
              <a:rPr lang="en-US" dirty="0"/>
              <a:t>      (Texas Instruments application note)</a:t>
            </a:r>
            <a:br>
              <a:rPr lang="en-US" dirty="0"/>
            </a:br>
            <a:r>
              <a:rPr lang="en-US" dirty="0"/>
              <a:t>      </a:t>
            </a:r>
            <a:r>
              <a:rPr lang="en-US" sz="2400" dirty="0">
                <a:hlinkClick r:id="rId2"/>
              </a:rPr>
              <a:t>https://www.ti.com/lit/an/slva704/slva704.pdf</a:t>
            </a:r>
            <a:endParaRPr lang="en-US" dirty="0"/>
          </a:p>
          <a:p>
            <a:pPr marL="0" indent="0">
              <a:buNone/>
            </a:pPr>
            <a:r>
              <a:rPr lang="en-US" dirty="0"/>
              <a:t>[2] Serial Peripheral Interface (</a:t>
            </a:r>
            <a:r>
              <a:rPr lang="en-US" dirty="0" err="1"/>
              <a:t>wikipedia</a:t>
            </a:r>
            <a:r>
              <a:rPr lang="en-US" dirty="0"/>
              <a:t>)</a:t>
            </a:r>
            <a:br>
              <a:rPr lang="en-US" dirty="0"/>
            </a:br>
            <a:r>
              <a:rPr lang="en-US" dirty="0"/>
              <a:t>      </a:t>
            </a:r>
            <a:r>
              <a:rPr lang="en-US" sz="2400" dirty="0">
                <a:hlinkClick r:id="rId3"/>
              </a:rPr>
              <a:t>https://en.wikipedia.org/wiki/Serial_Peripheral_Interface</a:t>
            </a:r>
            <a:endParaRPr lang="en-US" dirty="0"/>
          </a:p>
          <a:p>
            <a:pPr marL="0" indent="0">
              <a:buNone/>
            </a:pPr>
            <a:br>
              <a:rPr lang="en-US" dirty="0"/>
            </a:br>
            <a:r>
              <a:rPr lang="en-US" dirty="0"/>
              <a:t>Suggested further reading/understanding:</a:t>
            </a:r>
          </a:p>
          <a:p>
            <a:pPr marL="0" indent="0">
              <a:buNone/>
            </a:pPr>
            <a:r>
              <a:rPr lang="en-US" sz="2800" dirty="0"/>
              <a:t>  </a:t>
            </a:r>
            <a:r>
              <a:rPr lang="en-US" sz="2800" dirty="0">
                <a:hlinkClick r:id="rId4"/>
              </a:rPr>
              <a:t>STM32F0 MINI TUTORIAL – USING THE I2C (in C)</a:t>
            </a:r>
            <a:endParaRPr lang="en-US" sz="2800" dirty="0"/>
          </a:p>
          <a:p>
            <a:pPr marL="0" indent="0">
              <a:buNone/>
            </a:pPr>
            <a:r>
              <a:rPr lang="en-ZA" dirty="0"/>
              <a:t>  </a:t>
            </a:r>
            <a:r>
              <a:rPr lang="en-ZA" sz="2800" dirty="0" err="1">
                <a:hlinkClick r:id="rId5"/>
              </a:rPr>
              <a:t>MikroC</a:t>
            </a:r>
            <a:r>
              <a:rPr lang="en-ZA" sz="2800" dirty="0">
                <a:hlinkClick r:id="rId5"/>
              </a:rPr>
              <a:t> SPI Library</a:t>
            </a:r>
            <a:r>
              <a:rPr lang="en-ZA" dirty="0"/>
              <a:t> </a:t>
            </a:r>
            <a:r>
              <a:rPr lang="en-ZA" sz="2200" dirty="0"/>
              <a:t>(shows some STM code examples but these</a:t>
            </a:r>
            <a:br>
              <a:rPr lang="en-ZA" sz="2200" dirty="0"/>
            </a:br>
            <a:r>
              <a:rPr lang="en-ZA" sz="2200" dirty="0"/>
              <a:t>   are more direct H/W register access, gives a view of what happens</a:t>
            </a:r>
            <a:br>
              <a:rPr lang="en-ZA" sz="2200" dirty="0"/>
            </a:br>
            <a:r>
              <a:rPr lang="en-ZA" sz="2200" dirty="0"/>
              <a:t>   within the STM32CubeIDE HAL layer)</a:t>
            </a:r>
            <a:endParaRPr lang="en-ZA" dirty="0"/>
          </a:p>
        </p:txBody>
      </p:sp>
      <p:sp>
        <p:nvSpPr>
          <p:cNvPr id="3" name="Title 2">
            <a:extLst>
              <a:ext uri="{FF2B5EF4-FFF2-40B4-BE49-F238E27FC236}">
                <a16:creationId xmlns:a16="http://schemas.microsoft.com/office/drawing/2014/main" id="{3AC2669E-8D43-85AC-00A9-FB0E1B3BCFB9}"/>
              </a:ext>
            </a:extLst>
          </p:cNvPr>
          <p:cNvSpPr>
            <a:spLocks noGrp="1"/>
          </p:cNvSpPr>
          <p:nvPr>
            <p:ph type="title"/>
          </p:nvPr>
        </p:nvSpPr>
        <p:spPr/>
        <p:txBody>
          <a:bodyPr/>
          <a:lstStyle/>
          <a:p>
            <a:pPr algn="ctr"/>
            <a:r>
              <a:rPr lang="en-ZA" dirty="0"/>
              <a:t>Selection of References</a:t>
            </a:r>
          </a:p>
        </p:txBody>
      </p:sp>
    </p:spTree>
    <p:extLst>
      <p:ext uri="{BB962C8B-B14F-4D97-AF65-F5344CB8AC3E}">
        <p14:creationId xmlns:p14="http://schemas.microsoft.com/office/powerpoint/2010/main" val="1768416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20AEFE-3EAE-FB70-A046-704B4978645B}"/>
              </a:ext>
            </a:extLst>
          </p:cNvPr>
          <p:cNvSpPr>
            <a:spLocks noGrp="1"/>
          </p:cNvSpPr>
          <p:nvPr>
            <p:ph idx="1"/>
          </p:nvPr>
        </p:nvSpPr>
        <p:spPr/>
        <p:txBody>
          <a:bodyPr/>
          <a:lstStyle/>
          <a:p>
            <a:r>
              <a:rPr lang="en-ZA" dirty="0"/>
              <a:t>Resolving I2C Address Conﬂicts</a:t>
            </a:r>
          </a:p>
        </p:txBody>
      </p:sp>
      <p:sp>
        <p:nvSpPr>
          <p:cNvPr id="3" name="Title 2">
            <a:extLst>
              <a:ext uri="{FF2B5EF4-FFF2-40B4-BE49-F238E27FC236}">
                <a16:creationId xmlns:a16="http://schemas.microsoft.com/office/drawing/2014/main" id="{3AC2669E-8D43-85AC-00A9-FB0E1B3BCFB9}"/>
              </a:ext>
            </a:extLst>
          </p:cNvPr>
          <p:cNvSpPr>
            <a:spLocks noGrp="1"/>
          </p:cNvSpPr>
          <p:nvPr>
            <p:ph type="title"/>
          </p:nvPr>
        </p:nvSpPr>
        <p:spPr/>
        <p:txBody>
          <a:bodyPr/>
          <a:lstStyle/>
          <a:p>
            <a:pPr algn="ctr"/>
            <a:r>
              <a:rPr lang="en-ZA" dirty="0"/>
              <a:t>Suggested Reading*</a:t>
            </a:r>
          </a:p>
        </p:txBody>
      </p:sp>
      <p:sp>
        <p:nvSpPr>
          <p:cNvPr id="5" name="TextBox 4">
            <a:extLst>
              <a:ext uri="{FF2B5EF4-FFF2-40B4-BE49-F238E27FC236}">
                <a16:creationId xmlns:a16="http://schemas.microsoft.com/office/drawing/2014/main" id="{5059476F-2DCF-FE47-63D0-28B6155EFD94}"/>
              </a:ext>
            </a:extLst>
          </p:cNvPr>
          <p:cNvSpPr txBox="1"/>
          <p:nvPr/>
        </p:nvSpPr>
        <p:spPr>
          <a:xfrm>
            <a:off x="754375" y="1596540"/>
            <a:ext cx="8123274" cy="369332"/>
          </a:xfrm>
          <a:prstGeom prst="rect">
            <a:avLst/>
          </a:prstGeom>
          <a:noFill/>
        </p:spPr>
        <p:txBody>
          <a:bodyPr wrap="square">
            <a:spAutoFit/>
          </a:bodyPr>
          <a:lstStyle/>
          <a:p>
            <a:r>
              <a:rPr lang="en-ZA" dirty="0">
                <a:hlinkClick r:id="rId2"/>
              </a:rPr>
              <a:t>https://embeddedartistry.com/blog/2021/08/02/resolving-i2c-address-conflicts/</a:t>
            </a:r>
            <a:endParaRPr lang="en-ZA" dirty="0"/>
          </a:p>
        </p:txBody>
      </p:sp>
      <p:sp>
        <p:nvSpPr>
          <p:cNvPr id="7" name="TextBox 6">
            <a:extLst>
              <a:ext uri="{FF2B5EF4-FFF2-40B4-BE49-F238E27FC236}">
                <a16:creationId xmlns:a16="http://schemas.microsoft.com/office/drawing/2014/main" id="{EB194C4C-81DB-257F-15AA-C478F8CDA545}"/>
              </a:ext>
            </a:extLst>
          </p:cNvPr>
          <p:cNvSpPr txBox="1"/>
          <p:nvPr/>
        </p:nvSpPr>
        <p:spPr>
          <a:xfrm>
            <a:off x="754375" y="2022717"/>
            <a:ext cx="7635250" cy="707886"/>
          </a:xfrm>
          <a:prstGeom prst="rect">
            <a:avLst/>
          </a:prstGeom>
          <a:noFill/>
        </p:spPr>
        <p:txBody>
          <a:bodyPr wrap="square">
            <a:spAutoFit/>
          </a:bodyPr>
          <a:lstStyle/>
          <a:p>
            <a:r>
              <a:rPr lang="en-ZA" sz="2000" dirty="0"/>
              <a:t>(this is to consolidate I2C understanding and also awareness of the advantage and also drawback of I2C addressing aspect).</a:t>
            </a:r>
          </a:p>
        </p:txBody>
      </p:sp>
      <p:sp>
        <p:nvSpPr>
          <p:cNvPr id="9" name="TextBox 8">
            <a:extLst>
              <a:ext uri="{FF2B5EF4-FFF2-40B4-BE49-F238E27FC236}">
                <a16:creationId xmlns:a16="http://schemas.microsoft.com/office/drawing/2014/main" id="{4404E9EE-FBE8-EFDC-D8CE-16AF410A5596}"/>
              </a:ext>
            </a:extLst>
          </p:cNvPr>
          <p:cNvSpPr txBox="1"/>
          <p:nvPr/>
        </p:nvSpPr>
        <p:spPr>
          <a:xfrm>
            <a:off x="521656" y="5992584"/>
            <a:ext cx="8020673" cy="646331"/>
          </a:xfrm>
          <a:prstGeom prst="rect">
            <a:avLst/>
          </a:prstGeom>
          <a:noFill/>
        </p:spPr>
        <p:txBody>
          <a:bodyPr wrap="square">
            <a:spAutoFit/>
          </a:bodyPr>
          <a:lstStyle/>
          <a:p>
            <a:r>
              <a:rPr lang="en-ZA" dirty="0"/>
              <a:t>* This is of course more I2C and Prac2 related, although taking those principles further from what we would likely use in this course or the project.</a:t>
            </a:r>
          </a:p>
        </p:txBody>
      </p:sp>
    </p:spTree>
    <p:extLst>
      <p:ext uri="{BB962C8B-B14F-4D97-AF65-F5344CB8AC3E}">
        <p14:creationId xmlns:p14="http://schemas.microsoft.com/office/powerpoint/2010/main" val="1156636946"/>
      </p:ext>
    </p:extLst>
  </p:cSld>
  <p:clrMapOvr>
    <a:masterClrMapping/>
  </p:clrMapOvr>
</p:sld>
</file>

<file path=ppt/theme/theme1.xml><?xml version="1.0" encoding="utf-8"?>
<a:theme xmlns:a="http://schemas.openxmlformats.org/drawingml/2006/main" name="ES2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13310</TotalTime>
  <Words>2009</Words>
  <Application>Microsoft Office PowerPoint</Application>
  <PresentationFormat>On-screen Show (4:3)</PresentationFormat>
  <Paragraphs>210</Paragraphs>
  <Slides>30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Arial Black</vt:lpstr>
      <vt:lpstr>Calibri</vt:lpstr>
      <vt:lpstr>Castellar</vt:lpstr>
      <vt:lpstr>Times New Roman</vt:lpstr>
      <vt:lpstr>Wingdings</vt:lpstr>
      <vt:lpstr>ES2 Theme</vt:lpstr>
      <vt:lpstr>Embedded Communications 3/3</vt:lpstr>
      <vt:lpstr>ES Communications Training Plan</vt:lpstr>
      <vt:lpstr>PowerPoint Presentation</vt:lpstr>
      <vt:lpstr>SPI Overview</vt:lpstr>
      <vt:lpstr>SPI Overview</vt:lpstr>
      <vt:lpstr>SPI Protocol</vt:lpstr>
      <vt:lpstr>SPI Protocol</vt:lpstr>
      <vt:lpstr>Example transmission in spi</vt:lpstr>
      <vt:lpstr>SPI Protocol – Clock Phase (CPHA) Settings</vt:lpstr>
      <vt:lpstr>SPI Modes </vt:lpstr>
      <vt:lpstr>SPI: Multiple Slaves</vt:lpstr>
      <vt:lpstr>SPI in context</vt:lpstr>
      <vt:lpstr>PowerPoint Presentation</vt:lpstr>
      <vt:lpstr>What is meant by UART?</vt:lpstr>
      <vt:lpstr>UART &amp; RS232</vt:lpstr>
      <vt:lpstr>UART &amp; RS232</vt:lpstr>
      <vt:lpstr>RS232 Standard Configuration</vt:lpstr>
      <vt:lpstr>UART and the RS-232</vt:lpstr>
      <vt:lpstr>USB to RS232 Adapter</vt:lpstr>
      <vt:lpstr>RS232 on STM32 UART  MAX232  DM9</vt:lpstr>
      <vt:lpstr>RS-485</vt:lpstr>
      <vt:lpstr>RS-232 Limitations</vt:lpstr>
      <vt:lpstr>RS-485 differences to RS-232</vt:lpstr>
      <vt:lpstr>RS-485 differences to RS-232</vt:lpstr>
      <vt:lpstr>RS-485 differences to RS-232</vt:lpstr>
      <vt:lpstr>RS-485 differences to RS-232</vt:lpstr>
      <vt:lpstr>RS-485 versus RS232 Summary</vt:lpstr>
      <vt:lpstr>RS-485 Applications</vt:lpstr>
      <vt:lpstr>Selection of References</vt:lpstr>
      <vt:lpstr>Suggested Reading*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Communications 3/3</dc:title>
  <dc:creator>simon.winberg@uct.ac.za</dc:creator>
  <cp:keywords>Embedded Systems</cp:keywords>
  <cp:lastModifiedBy>Best Nkhumeleni</cp:lastModifiedBy>
  <cp:revision>910</cp:revision>
  <dcterms:created xsi:type="dcterms:W3CDTF">2013-08-21T19:17:07Z</dcterms:created>
  <dcterms:modified xsi:type="dcterms:W3CDTF">2025-09-15T21:25:03Z</dcterms:modified>
  <cp:category>Computer Enigneering</cp:category>
</cp:coreProperties>
</file>