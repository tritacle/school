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345" r:id="rId3"/>
    <p:sldId id="447" r:id="rId4"/>
    <p:sldId id="448" r:id="rId5"/>
    <p:sldId id="449" r:id="rId6"/>
    <p:sldId id="450" r:id="rId7"/>
    <p:sldId id="451" r:id="rId8"/>
    <p:sldId id="454" r:id="rId9"/>
    <p:sldId id="459" r:id="rId10"/>
    <p:sldId id="461" r:id="rId11"/>
    <p:sldId id="455" r:id="rId12"/>
    <p:sldId id="456" r:id="rId13"/>
    <p:sldId id="460" r:id="rId14"/>
    <p:sldId id="462" r:id="rId15"/>
    <p:sldId id="464" r:id="rId16"/>
    <p:sldId id="322" r:id="rId17"/>
    <p:sldId id="29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7AF5900-9156-4ECA-AC87-4A3FABF22F6D}">
          <p14:sldIdLst>
            <p14:sldId id="260"/>
            <p14:sldId id="345"/>
            <p14:sldId id="447"/>
            <p14:sldId id="448"/>
            <p14:sldId id="449"/>
            <p14:sldId id="450"/>
            <p14:sldId id="451"/>
            <p14:sldId id="454"/>
            <p14:sldId id="459"/>
            <p14:sldId id="461"/>
            <p14:sldId id="455"/>
            <p14:sldId id="456"/>
            <p14:sldId id="460"/>
            <p14:sldId id="462"/>
            <p14:sldId id="464"/>
            <p14:sldId id="322"/>
            <p14:sldId id="2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777777"/>
    <a:srgbClr val="E6B9B8"/>
    <a:srgbClr val="843F06"/>
    <a:srgbClr val="7ABC32"/>
    <a:srgbClr val="FF6600"/>
    <a:srgbClr val="A56303"/>
    <a:srgbClr val="FFFF66"/>
    <a:srgbClr val="2A5A06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235DFB-C8CA-411D-B82D-0EC718F1DB2C}" v="22" dt="2025-09-22T23:11:39.6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85737" autoAdjust="0"/>
  </p:normalViewPr>
  <p:slideViewPr>
    <p:cSldViewPr>
      <p:cViewPr varScale="1">
        <p:scale>
          <a:sx n="76" d="100"/>
          <a:sy n="76" d="100"/>
        </p:scale>
        <p:origin x="2532" y="48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E8575-32E8-47C1-A317-B277AE278254}" type="datetimeFigureOut">
              <a:rPr lang="en-ZA" smtClean="0"/>
              <a:t>2025/09/22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4CD1D-11D4-44B3-97CF-91828C00CDF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08543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This lecture covers aspects of ADC design. You could have a look over this to get some insight into ADCs, but the metrics are covered </a:t>
            </a:r>
            <a:r>
              <a:rPr lang="en-ZA"/>
              <a:t>in Lecture L19.</a:t>
            </a:r>
            <a:endParaRPr lang="en-ZA" dirty="0"/>
          </a:p>
          <a:p>
            <a:r>
              <a:rPr lang="en-ZA" dirty="0"/>
              <a:t>The metrics covered in these lectures are not all covered in Tut and </a:t>
            </a:r>
            <a:r>
              <a:rPr lang="en-ZA" dirty="0" err="1"/>
              <a:t>Prac</a:t>
            </a:r>
            <a:r>
              <a:rPr lang="en-ZA" dirty="0"/>
              <a:t> 4.</a:t>
            </a:r>
          </a:p>
          <a:p>
            <a:r>
              <a:rPr lang="en-ZA" dirty="0"/>
              <a:t>Practical understanding of ADC metrics. Tut describes a short scenario, for which you need to find an ADC that provides the required specifications. </a:t>
            </a:r>
          </a:p>
          <a:p>
            <a:r>
              <a:rPr lang="en-ZA" dirty="0"/>
              <a:t>The ADC use in the scenario is not all that fast, so SPI should work plenty fast enough for that.</a:t>
            </a:r>
          </a:p>
          <a:p>
            <a:r>
              <a:rPr lang="en-ZA" dirty="0"/>
              <a:t>In the tut it tasks about sampling at 10K samples per second (that is 1024 x 10 bytes per second to be clear). The ramp shows what the ADC would be reading.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4CD1D-11D4-44B3-97CF-91828C00CDF1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5443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C65F0B-EBD2-4BB5-B527-894AB34EEBD1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250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779956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1FD879-B86E-41D6-99C4-3AA55E087652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251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781308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7AD9B-8E09-4841-8686-77FDF3191305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25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397254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557313" cy="7167985"/>
          </a:xfrm>
          <a:prstGeom prst="rect">
            <a:avLst/>
          </a:prstGeom>
          <a:effectLst>
            <a:glow rad="127000">
              <a:schemeClr val="accent1"/>
            </a:glow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1670" y="3734410"/>
            <a:ext cx="7329840" cy="1527050"/>
          </a:xfrm>
          <a:effectLst/>
        </p:spPr>
        <p:txBody>
          <a:bodyPr>
            <a:normAutofit/>
          </a:bodyPr>
          <a:lstStyle>
            <a:lvl1pPr algn="l">
              <a:defRPr sz="4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1670" y="5414165"/>
            <a:ext cx="7329840" cy="458115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Lecture Number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1663706" y="4940778"/>
            <a:ext cx="62792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Embedded Systems II</a:t>
            </a:r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317" y="1063256"/>
            <a:ext cx="8076895" cy="5092995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3200">
                <a:solidFill>
                  <a:srgbClr val="002060"/>
                </a:solidFill>
              </a:defRPr>
            </a:lvl2pPr>
            <a:lvl3pPr>
              <a:defRPr sz="2800">
                <a:solidFill>
                  <a:srgbClr val="002060"/>
                </a:solidFill>
              </a:defRPr>
            </a:lvl3pPr>
            <a:lvl4pPr>
              <a:defRPr sz="2400">
                <a:solidFill>
                  <a:srgbClr val="002060"/>
                </a:solidFill>
              </a:defRPr>
            </a:lvl4pPr>
            <a:lvl5pPr>
              <a:defRPr sz="24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362" y="265814"/>
            <a:ext cx="8123275" cy="709272"/>
          </a:xfrm>
          <a:solidFill>
            <a:schemeClr val="tx2">
              <a:lumMod val="75000"/>
            </a:schemeClr>
          </a:solidFill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374901"/>
            <a:ext cx="7932424" cy="610820"/>
          </a:xfrm>
          <a:solidFill>
            <a:schemeClr val="tx2">
              <a:lumMod val="75000"/>
            </a:schemeClr>
          </a:solidFill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71" y="1138425"/>
            <a:ext cx="4733854" cy="4886560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Embedded Systems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4724705" y="1138425"/>
            <a:ext cx="3809389" cy="5039265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803345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03158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2128720" y="5971330"/>
            <a:ext cx="470019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Embedded Systems II</a:t>
            </a:r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95" y="273501"/>
            <a:ext cx="8091378" cy="651532"/>
          </a:xfrm>
          <a:solidFill>
            <a:schemeClr val="tx2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8466" y="1138425"/>
            <a:ext cx="4038600" cy="48865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6934" y="1138425"/>
            <a:ext cx="4038600" cy="48865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22194"/>
            <a:ext cx="8229600" cy="565205"/>
          </a:xfrm>
          <a:solidFill>
            <a:schemeClr val="tx2">
              <a:lumMod val="75000"/>
            </a:schemeClr>
          </a:solidFill>
        </p:spPr>
        <p:txBody>
          <a:bodyPr lIns="126000" rIns="126000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965" y="835454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965" y="1465316"/>
            <a:ext cx="4040188" cy="3490733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>
                <a:solidFill>
                  <a:srgbClr val="002060"/>
                </a:solidFill>
              </a:defRPr>
            </a:lvl2pPr>
            <a:lvl3pPr>
              <a:defRPr sz="18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6790" y="835454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6790" y="1465316"/>
            <a:ext cx="4041775" cy="3490733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>
                <a:solidFill>
                  <a:srgbClr val="002060"/>
                </a:solidFill>
              </a:defRPr>
            </a:lvl2pPr>
            <a:lvl3pPr>
              <a:defRPr sz="18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362" y="276448"/>
            <a:ext cx="8123276" cy="733646"/>
          </a:xfrm>
          <a:solidFill>
            <a:schemeClr val="tx2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19082"/>
            <a:ext cx="2133600" cy="365125"/>
          </a:xfrm>
          <a:prstGeom prst="rect">
            <a:avLst/>
          </a:prstGeom>
        </p:spPr>
        <p:txBody>
          <a:bodyPr/>
          <a:lstStyle/>
          <a:p>
            <a:fld id="{53074F12-AA26-4AC8-9962-C36BB8F32554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95" y="274638"/>
            <a:ext cx="8102010" cy="777985"/>
          </a:xfrm>
          <a:solidFill>
            <a:schemeClr val="tx2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0994" y="1201479"/>
            <a:ext cx="8102011" cy="52816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78726" y="274638"/>
            <a:ext cx="733642" cy="6317548"/>
          </a:xfrm>
          <a:solidFill>
            <a:schemeClr val="tx2">
              <a:lumMod val="75000"/>
            </a:schemeClr>
          </a:solidFill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2260" y="274638"/>
            <a:ext cx="7236544" cy="60684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19082"/>
            <a:ext cx="2133600" cy="365125"/>
          </a:xfrm>
          <a:prstGeom prst="rect">
            <a:avLst/>
          </a:prstGeom>
        </p:spPr>
        <p:txBody>
          <a:bodyPr/>
          <a:lstStyle/>
          <a:p>
            <a:fld id="{53074F12-AA26-4AC8-9962-C36BB8F32554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258" y="-14515"/>
            <a:ext cx="9218395" cy="6917141"/>
          </a:xfrm>
          <a:prstGeom prst="rect">
            <a:avLst/>
          </a:prstGeom>
        </p:spPr>
      </p:pic>
      <p:sp>
        <p:nvSpPr>
          <p:cNvPr id="18" name="Rectangle 17"/>
          <p:cNvSpPr/>
          <p:nvPr userDrawn="1"/>
        </p:nvSpPr>
        <p:spPr>
          <a:xfrm>
            <a:off x="457200" y="222195"/>
            <a:ext cx="8229600" cy="6427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82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43095"/>
            <a:ext cx="556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70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yquist%E2%80%93Shannon_sampling_theorem" TargetMode="External"/><Relationship Id="rId2" Type="http://schemas.openxmlformats.org/officeDocument/2006/relationships/hyperlink" Target="https://en.wikipedia.org/wiki/Aliasing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626324" y="5880278"/>
            <a:ext cx="254031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Lecture Best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492" y="5728038"/>
            <a:ext cx="1085871" cy="11080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70703" y="5967102"/>
            <a:ext cx="1945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Electrical Engineering</a:t>
            </a:r>
          </a:p>
          <a:p>
            <a:r>
              <a:rPr lang="en-ZA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University of Cape Town</a:t>
            </a:r>
          </a:p>
        </p:txBody>
      </p:sp>
      <p:sp>
        <p:nvSpPr>
          <p:cNvPr id="11" name="Title 10"/>
          <p:cNvSpPr>
            <a:spLocks noGrp="1"/>
          </p:cNvSpPr>
          <p:nvPr>
            <p:ph type="ctrTitle"/>
          </p:nvPr>
        </p:nvSpPr>
        <p:spPr>
          <a:xfrm>
            <a:off x="601671" y="3714890"/>
            <a:ext cx="7940660" cy="1527050"/>
          </a:xfrm>
        </p:spPr>
        <p:txBody>
          <a:bodyPr>
            <a:normAutofit/>
          </a:bodyPr>
          <a:lstStyle/>
          <a:p>
            <a:r>
              <a:rPr lang="en-ZA" dirty="0"/>
              <a:t>The ADC (part 1of2)</a:t>
            </a:r>
            <a:endParaRPr lang="en-ZA" i="1" dirty="0"/>
          </a:p>
        </p:txBody>
      </p:sp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ZA" dirty="0"/>
              <a:t>L18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022692-A5EA-A5D5-F1CA-6AE89641B7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322" y="350093"/>
            <a:ext cx="1657628" cy="13912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4360FA-54CE-A178-F763-226F4CCD759D}"/>
              </a:ext>
            </a:extLst>
          </p:cNvPr>
          <p:cNvSpPr txBox="1"/>
          <p:nvPr/>
        </p:nvSpPr>
        <p:spPr>
          <a:xfrm>
            <a:off x="160546" y="1770971"/>
            <a:ext cx="17777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cap="none" spc="0" dirty="0">
                <a:ln w="9525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Embedded </a:t>
            </a:r>
          </a:p>
          <a:p>
            <a:pPr algn="ctr"/>
            <a:r>
              <a:rPr lang="en-US" b="1" cap="none" spc="0" dirty="0">
                <a:ln w="9525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Systems II</a:t>
            </a:r>
            <a:endParaRPr lang="en-ZA" dirty="0">
              <a:ln>
                <a:solidFill>
                  <a:schemeClr val="tx2">
                    <a:lumMod val="75000"/>
                  </a:schemeClr>
                </a:solidFill>
              </a:ln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 descr="A picture containing text, electronics, circuit&#10;&#10;Description automatically generated">
            <a:extLst>
              <a:ext uri="{FF2B5EF4-FFF2-40B4-BE49-F238E27FC236}">
                <a16:creationId xmlns:a16="http://schemas.microsoft.com/office/drawing/2014/main" id="{328216B3-7F8C-6A56-FA9D-ED25B81368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523" y="297899"/>
            <a:ext cx="5074049" cy="377623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13D950-BFCC-8829-C766-2C49DD0486B8}"/>
              </a:ext>
            </a:extLst>
          </p:cNvPr>
          <p:cNvSpPr/>
          <p:nvPr/>
        </p:nvSpPr>
        <p:spPr>
          <a:xfrm>
            <a:off x="4154945" y="1604414"/>
            <a:ext cx="1068935" cy="85887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31454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5317" y="1063256"/>
            <a:ext cx="8184343" cy="5092995"/>
          </a:xfrm>
        </p:spPr>
        <p:txBody>
          <a:bodyPr>
            <a:normAutofit/>
          </a:bodyPr>
          <a:lstStyle/>
          <a:p>
            <a:r>
              <a:rPr lang="en-US" altLang="en-US" dirty="0"/>
              <a:t>ADC – basic conceptual model</a:t>
            </a:r>
          </a:p>
          <a:p>
            <a:r>
              <a:rPr lang="de-DE" altLang="en-US" dirty="0"/>
              <a:t>ADCs Design Flavours*</a:t>
            </a:r>
          </a:p>
          <a:p>
            <a:pPr lvl="1"/>
            <a:r>
              <a:rPr lang="en-ZA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Flash ADC</a:t>
            </a:r>
          </a:p>
          <a:p>
            <a:pPr lvl="1"/>
            <a:r>
              <a:rPr lang="en-ZA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Multi-stage Flash ADC</a:t>
            </a:r>
          </a:p>
          <a:p>
            <a:pPr lvl="1"/>
            <a:r>
              <a:rPr lang="en-ZA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Successive Approximation ADC (SA-ADC)</a:t>
            </a:r>
          </a:p>
          <a:p>
            <a:pPr lvl="1"/>
            <a:r>
              <a:rPr lang="en-ZA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Pipelined Flash ADC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 of Lecture</a:t>
            </a:r>
            <a:endParaRPr lang="en-Z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DC3ECF-C1F2-4D0B-81C7-B35D0DD348F2}"/>
              </a:ext>
            </a:extLst>
          </p:cNvPr>
          <p:cNvSpPr/>
          <p:nvPr/>
        </p:nvSpPr>
        <p:spPr>
          <a:xfrm>
            <a:off x="442692" y="6210661"/>
            <a:ext cx="79406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1200" b="1" dirty="0"/>
              <a:t>This presentation contains some slides adapted from course textbook “Embedded System Design Embedded Systems Foundations of Cyber-Physical Systems, and the Internet of Things” by Peter </a:t>
            </a:r>
            <a:r>
              <a:rPr lang="en-ZA" sz="1200" b="1" dirty="0" err="1"/>
              <a:t>Marwedel</a:t>
            </a:r>
            <a:endParaRPr lang="en-ZA" sz="1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E8965F-4E46-4477-B317-840E7CC709E3}"/>
              </a:ext>
            </a:extLst>
          </p:cNvPr>
          <p:cNvSpPr txBox="1"/>
          <p:nvPr/>
        </p:nvSpPr>
        <p:spPr>
          <a:xfrm>
            <a:off x="472968" y="5970966"/>
            <a:ext cx="8111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en-US" sz="1200" dirty="0"/>
              <a:t>* Note that there are many other design of ADCs, these slides review some of the most common approaches.</a:t>
            </a:r>
            <a:endParaRPr lang="en-ZA" sz="1200" dirty="0"/>
          </a:p>
        </p:txBody>
      </p:sp>
    </p:spTree>
    <p:extLst>
      <p:ext uri="{BB962C8B-B14F-4D97-AF65-F5344CB8AC3E}">
        <p14:creationId xmlns:p14="http://schemas.microsoft.com/office/powerpoint/2010/main" val="3445687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540" y="2665475"/>
            <a:ext cx="3619500" cy="1143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3310" y="4192525"/>
            <a:ext cx="56847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Analogue to Digital Convertors (ADCs)</a:t>
            </a:r>
            <a:endParaRPr lang="en-ZA" sz="2800" dirty="0"/>
          </a:p>
        </p:txBody>
      </p:sp>
      <p:sp>
        <p:nvSpPr>
          <p:cNvPr id="6" name="Rectangle 5"/>
          <p:cNvSpPr/>
          <p:nvPr/>
        </p:nvSpPr>
        <p:spPr>
          <a:xfrm>
            <a:off x="3707553" y="833015"/>
            <a:ext cx="16834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ADCs</a:t>
            </a:r>
          </a:p>
        </p:txBody>
      </p:sp>
    </p:spTree>
    <p:extLst>
      <p:ext uri="{BB962C8B-B14F-4D97-AF65-F5344CB8AC3E}">
        <p14:creationId xmlns:p14="http://schemas.microsoft.com/office/powerpoint/2010/main" val="282299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1878764" y="1234142"/>
            <a:ext cx="6754874" cy="2438400"/>
            <a:chOff x="1878764" y="1234142"/>
            <a:chExt cx="6754874" cy="2438400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4713" y="1234142"/>
              <a:ext cx="6638925" cy="2438400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1878764" y="2478358"/>
              <a:ext cx="47641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done</a:t>
              </a:r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5926" y="2457321"/>
              <a:ext cx="516803" cy="312509"/>
            </a:xfrm>
            <a:prstGeom prst="rect">
              <a:avLst/>
            </a:prstGeom>
          </p:spPr>
        </p:pic>
      </p:grp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Conceptual ADC Operation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10363" y="4209920"/>
            <a:ext cx="8123276" cy="2138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1662" i="1" dirty="0">
                <a:solidFill>
                  <a:srgbClr val="C00000"/>
                </a:solidFill>
              </a:rPr>
              <a:t>Notes about this conceptual representation:</a:t>
            </a:r>
          </a:p>
          <a:p>
            <a:pPr marL="263776" indent="-263776">
              <a:buFont typeface="Arial" panose="020B0604020202020204" pitchFamily="34" charset="0"/>
              <a:buChar char="•"/>
            </a:pPr>
            <a:r>
              <a:rPr lang="en-ZA" sz="1662" i="1" dirty="0"/>
              <a:t>While this conceptual ADC </a:t>
            </a:r>
            <a:r>
              <a:rPr lang="en-ZA" sz="1662" dirty="0"/>
              <a:t>could</a:t>
            </a:r>
            <a:r>
              <a:rPr lang="en-ZA" sz="1662" i="1" dirty="0"/>
              <a:t> be implemented, it’s not such a practical architecture! </a:t>
            </a:r>
            <a:br>
              <a:rPr lang="en-ZA" sz="1662" i="1" dirty="0"/>
            </a:br>
            <a:r>
              <a:rPr lang="en-ZA" sz="1662" i="1" dirty="0"/>
              <a:t>It is very inefficient and only really useful to illustrate the operation of an ADC.</a:t>
            </a:r>
          </a:p>
          <a:p>
            <a:pPr marL="263776" indent="-263776">
              <a:buFont typeface="Arial" panose="020B0604020202020204" pitchFamily="34" charset="0"/>
              <a:buChar char="•"/>
            </a:pPr>
            <a:r>
              <a:rPr lang="en-ZA" sz="1662" i="1" dirty="0"/>
              <a:t>In practice, a </a:t>
            </a:r>
            <a:r>
              <a:rPr lang="en-ZA" sz="1662" i="1" u="sng" dirty="0"/>
              <a:t>sample-and-hold (SAH) circuit</a:t>
            </a:r>
            <a:r>
              <a:rPr lang="en-ZA" sz="1662" i="1" dirty="0"/>
              <a:t> grabs the ADC input, a time-varying analogue voltage x(t), and prevents it from changing during conversion (see earlier slides on SAH).</a:t>
            </a:r>
          </a:p>
          <a:p>
            <a:pPr marL="263776" indent="-263776">
              <a:buFont typeface="Arial" panose="020B0604020202020204" pitchFamily="34" charset="0"/>
              <a:buChar char="•"/>
            </a:pPr>
            <a:r>
              <a:rPr lang="en-ZA" sz="1662" i="1" dirty="0"/>
              <a:t>The counter stops counting when its output, which is converted into a voltage by the DAC (digital-to-analogue converter), equals x(t), indicated by comparator. The counter output is then the ADC output code corresponding to x(t).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4846320" y="3509010"/>
            <a:ext cx="327456" cy="281684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927619" y="3708526"/>
            <a:ext cx="2337499" cy="348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1662" i="1" dirty="0">
                <a:solidFill>
                  <a:srgbClr val="C00000"/>
                </a:solidFill>
              </a:rPr>
              <a:t>Sampled analogue signal</a:t>
            </a:r>
            <a:endParaRPr lang="en-ZA" sz="1662" dirty="0"/>
          </a:p>
        </p:txBody>
      </p:sp>
      <p:sp>
        <p:nvSpPr>
          <p:cNvPr id="4" name="TextBox 3"/>
          <p:cNvSpPr txBox="1"/>
          <p:nvPr/>
        </p:nvSpPr>
        <p:spPr>
          <a:xfrm>
            <a:off x="1059785" y="2858120"/>
            <a:ext cx="25907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600" dirty="0">
                <a:solidFill>
                  <a:srgbClr val="0070C0"/>
                </a:solidFill>
              </a:rPr>
              <a:t>The ADC is paramount in many embedded system designs. We will therefore delve into some detail of ADC issues.</a:t>
            </a:r>
          </a:p>
        </p:txBody>
      </p:sp>
      <p:sp>
        <p:nvSpPr>
          <p:cNvPr id="11" name="Rectangle 10"/>
          <p:cNvSpPr/>
          <p:nvPr/>
        </p:nvSpPr>
        <p:spPr>
          <a:xfrm rot="20271630">
            <a:off x="127605" y="1776353"/>
            <a:ext cx="1864358" cy="900246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ZA" sz="1400" i="1" dirty="0"/>
              <a:t>Main point: a common approach is the use of a DAC within an ADC. </a:t>
            </a:r>
            <a:r>
              <a:rPr lang="en-ZA" sz="1050" i="1" dirty="0"/>
              <a:t>(why we presented DACs first)</a:t>
            </a:r>
            <a:endParaRPr lang="en-ZA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A119F1-85A7-4439-8F97-55570812774E}"/>
              </a:ext>
            </a:extLst>
          </p:cNvPr>
          <p:cNvSpPr txBox="1"/>
          <p:nvPr/>
        </p:nvSpPr>
        <p:spPr>
          <a:xfrm>
            <a:off x="3964265" y="6212220"/>
            <a:ext cx="4606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ZA" sz="1800" i="1" dirty="0"/>
              <a:t>[2]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92746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Example DAC output voltages from the changing binary counter values (i.e. the DAC’s transfer function) shown in the table below:</a:t>
            </a:r>
          </a:p>
          <a:p>
            <a:endParaRPr lang="en-Z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Conceptual ADC Operation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6799" y="5486791"/>
            <a:ext cx="8196838" cy="1371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1662" i="1" dirty="0">
                <a:solidFill>
                  <a:srgbClr val="C00000"/>
                </a:solidFill>
              </a:rPr>
              <a:t>Notes about this conceptual representation:</a:t>
            </a:r>
          </a:p>
          <a:p>
            <a:r>
              <a:rPr lang="en-ZA" sz="1662" i="1" dirty="0"/>
              <a:t>In this conceptual design, the least significant bit (LSB), Q0, is the step size of 0.25 volts. This can also be quite an artificial assumption for a real system where the step size may fluctuate due to the physical properties of the system and environment.</a:t>
            </a:r>
          </a:p>
          <a:p>
            <a:pPr marL="263776" indent="-263776">
              <a:buFont typeface="Arial" panose="020B0604020202020204" pitchFamily="34" charset="0"/>
              <a:buChar char="•"/>
            </a:pPr>
            <a:endParaRPr lang="en-ZA" sz="1662" i="1" dirty="0"/>
          </a:p>
        </p:txBody>
      </p:sp>
      <p:pic>
        <p:nvPicPr>
          <p:cNvPr id="8" name="Picture 2" descr="C:\Users\Nick\Desktop\tab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961" y="2773340"/>
            <a:ext cx="2500038" cy="261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955216" y="2861606"/>
            <a:ext cx="3263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Basically you need to remember: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0518" y="3728078"/>
            <a:ext cx="35584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digital Output Codes corresponds to a input voltage and there will be metrics that described how these relate…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61A478-53CB-4106-B12B-FD768A9CB41F}"/>
              </a:ext>
            </a:extLst>
          </p:cNvPr>
          <p:cNvSpPr txBox="1"/>
          <p:nvPr/>
        </p:nvSpPr>
        <p:spPr>
          <a:xfrm>
            <a:off x="3964265" y="6212220"/>
            <a:ext cx="4606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ZA" sz="1800" i="1" dirty="0"/>
              <a:t>[2]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7561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718" y="4744978"/>
            <a:ext cx="3619500" cy="1143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42766" y="5937435"/>
            <a:ext cx="56847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Analogue to Digital Convertors (ADCs)</a:t>
            </a:r>
            <a:endParaRPr lang="en-ZA" sz="2800" dirty="0"/>
          </a:p>
        </p:txBody>
      </p:sp>
      <p:sp>
        <p:nvSpPr>
          <p:cNvPr id="6" name="Rectangle 5"/>
          <p:cNvSpPr/>
          <p:nvPr/>
        </p:nvSpPr>
        <p:spPr>
          <a:xfrm>
            <a:off x="2351734" y="374900"/>
            <a:ext cx="4395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ADCs </a:t>
            </a:r>
            <a:r>
              <a:rPr lang="en-ZA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Flavours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810" y="1937922"/>
            <a:ext cx="4140147" cy="167717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181673" y="3800345"/>
            <a:ext cx="29073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dirty="0"/>
              <a:t>What flavour is your ADC?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DD54A-42DA-46D5-8898-D05EDBB673E2}"/>
              </a:ext>
            </a:extLst>
          </p:cNvPr>
          <p:cNvSpPr/>
          <p:nvPr/>
        </p:nvSpPr>
        <p:spPr>
          <a:xfrm>
            <a:off x="2194430" y="4146201"/>
            <a:ext cx="500290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ZA" sz="1400" dirty="0">
                <a:latin typeface="Candara" panose="020E0502030303020204" pitchFamily="34" charset="0"/>
              </a:rPr>
              <a:t>You want </a:t>
            </a:r>
            <a:r>
              <a:rPr lang="en-ZA" sz="1400" dirty="0">
                <a:solidFill>
                  <a:srgbClr val="C00000"/>
                </a:solidFill>
                <a:latin typeface="Candara" panose="020E0502030303020204" pitchFamily="34" charset="0"/>
              </a:rPr>
              <a:t>Raspberry Pi</a:t>
            </a:r>
            <a:r>
              <a:rPr lang="en-ZA" sz="1400" dirty="0">
                <a:latin typeface="Candara" panose="020E0502030303020204" pitchFamily="34" charset="0"/>
              </a:rPr>
              <a:t> flavour? Sorry, isn't a flavour; try anther. </a:t>
            </a:r>
            <a:br>
              <a:rPr lang="en-ZA" sz="1400" dirty="0">
                <a:latin typeface="Candara" panose="020E0502030303020204" pitchFamily="34" charset="0"/>
              </a:rPr>
            </a:br>
            <a:r>
              <a:rPr lang="en-ZA" sz="1100" dirty="0">
                <a:latin typeface="Candara" panose="020E0502030303020204" pitchFamily="34" charset="0"/>
              </a:rPr>
              <a:t>The Raspberry Pi doesn’t have a built-in ADC alas.</a:t>
            </a:r>
            <a:endParaRPr lang="en-ZA" sz="14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515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Flash ADC converter</a:t>
            </a:r>
            <a:endParaRPr lang="en-US" altLang="en-US" b="0" i="1" baseline="-250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26214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1" y="1441450"/>
            <a:ext cx="5976937" cy="393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2150" name="Line 6"/>
          <p:cNvSpPr>
            <a:spLocks noChangeShapeType="1"/>
          </p:cNvSpPr>
          <p:nvPr/>
        </p:nvSpPr>
        <p:spPr bwMode="auto">
          <a:xfrm>
            <a:off x="4973104" y="6292489"/>
            <a:ext cx="3563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ZA"/>
          </a:p>
        </p:txBody>
      </p:sp>
      <p:sp>
        <p:nvSpPr>
          <p:cNvPr id="262151" name="Line 7"/>
          <p:cNvSpPr>
            <a:spLocks noChangeShapeType="1"/>
          </p:cNvSpPr>
          <p:nvPr/>
        </p:nvSpPr>
        <p:spPr bwMode="auto">
          <a:xfrm flipV="1">
            <a:off x="4973104" y="4420826"/>
            <a:ext cx="0" cy="1871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ZA"/>
          </a:p>
        </p:txBody>
      </p:sp>
      <p:sp>
        <p:nvSpPr>
          <p:cNvPr id="262152" name="Text Box 8"/>
          <p:cNvSpPr txBox="1">
            <a:spLocks noChangeArrowheads="1"/>
          </p:cNvSpPr>
          <p:nvPr/>
        </p:nvSpPr>
        <p:spPr bwMode="auto">
          <a:xfrm>
            <a:off x="7600417" y="6292489"/>
            <a:ext cx="4619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 i="1">
                <a:latin typeface="Times New Roman" panose="02020603050405020304" pitchFamily="18" charset="0"/>
              </a:rPr>
              <a:t>V</a:t>
            </a:r>
            <a:r>
              <a:rPr lang="en-US" altLang="en-US" sz="1600" i="1" baseline="-25000">
                <a:latin typeface="Times New Roman" panose="02020603050405020304" pitchFamily="18" charset="0"/>
              </a:rPr>
              <a:t>ref</a:t>
            </a:r>
          </a:p>
        </p:txBody>
      </p:sp>
      <p:sp>
        <p:nvSpPr>
          <p:cNvPr id="262153" name="Text Box 9"/>
          <p:cNvSpPr txBox="1">
            <a:spLocks noChangeArrowheads="1"/>
          </p:cNvSpPr>
          <p:nvPr/>
        </p:nvSpPr>
        <p:spPr bwMode="auto">
          <a:xfrm>
            <a:off x="6117692" y="6292489"/>
            <a:ext cx="6556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 i="1">
                <a:latin typeface="Times New Roman" panose="02020603050405020304" pitchFamily="18" charset="0"/>
              </a:rPr>
              <a:t>V</a:t>
            </a:r>
            <a:r>
              <a:rPr lang="en-US" altLang="en-US" sz="1600" i="1" baseline="-25000">
                <a:latin typeface="Times New Roman" panose="02020603050405020304" pitchFamily="18" charset="0"/>
              </a:rPr>
              <a:t>ref </a:t>
            </a:r>
            <a:r>
              <a:rPr lang="en-US" altLang="en-US" sz="1600">
                <a:latin typeface="Times New Roman" panose="02020603050405020304" pitchFamily="18" charset="0"/>
              </a:rPr>
              <a:t>/2</a:t>
            </a:r>
          </a:p>
        </p:txBody>
      </p:sp>
      <p:sp>
        <p:nvSpPr>
          <p:cNvPr id="262154" name="Line 10"/>
          <p:cNvSpPr>
            <a:spLocks noChangeShapeType="1"/>
          </p:cNvSpPr>
          <p:nvPr/>
        </p:nvSpPr>
        <p:spPr bwMode="auto">
          <a:xfrm>
            <a:off x="6412967" y="6292489"/>
            <a:ext cx="0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ZA"/>
          </a:p>
        </p:txBody>
      </p:sp>
      <p:sp>
        <p:nvSpPr>
          <p:cNvPr id="262155" name="Line 11"/>
          <p:cNvSpPr>
            <a:spLocks noChangeShapeType="1"/>
          </p:cNvSpPr>
          <p:nvPr/>
        </p:nvSpPr>
        <p:spPr bwMode="auto">
          <a:xfrm>
            <a:off x="7852829" y="6292489"/>
            <a:ext cx="0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ZA"/>
          </a:p>
        </p:txBody>
      </p:sp>
      <p:sp>
        <p:nvSpPr>
          <p:cNvPr id="262156" name="Line 12"/>
          <p:cNvSpPr>
            <a:spLocks noChangeShapeType="1"/>
          </p:cNvSpPr>
          <p:nvPr/>
        </p:nvSpPr>
        <p:spPr bwMode="auto">
          <a:xfrm>
            <a:off x="5692242" y="6292489"/>
            <a:ext cx="0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ZA"/>
          </a:p>
        </p:txBody>
      </p:sp>
      <p:sp>
        <p:nvSpPr>
          <p:cNvPr id="262157" name="Line 13"/>
          <p:cNvSpPr>
            <a:spLocks noChangeShapeType="1"/>
          </p:cNvSpPr>
          <p:nvPr/>
        </p:nvSpPr>
        <p:spPr bwMode="auto">
          <a:xfrm>
            <a:off x="7132104" y="6292489"/>
            <a:ext cx="0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ZA"/>
          </a:p>
        </p:txBody>
      </p:sp>
      <p:sp>
        <p:nvSpPr>
          <p:cNvPr id="262158" name="Freeform 14"/>
          <p:cNvSpPr>
            <a:spLocks/>
          </p:cNvSpPr>
          <p:nvPr/>
        </p:nvSpPr>
        <p:spPr bwMode="auto">
          <a:xfrm>
            <a:off x="4979454" y="5392376"/>
            <a:ext cx="3586163" cy="904875"/>
          </a:xfrm>
          <a:custGeom>
            <a:avLst/>
            <a:gdLst>
              <a:gd name="T0" fmla="*/ 0 w 2259"/>
              <a:gd name="T1" fmla="*/ 570 h 570"/>
              <a:gd name="T2" fmla="*/ 453 w 2259"/>
              <a:gd name="T3" fmla="*/ 570 h 570"/>
              <a:gd name="T4" fmla="*/ 451 w 2259"/>
              <a:gd name="T5" fmla="*/ 389 h 570"/>
              <a:gd name="T6" fmla="*/ 905 w 2259"/>
              <a:gd name="T7" fmla="*/ 389 h 570"/>
              <a:gd name="T8" fmla="*/ 907 w 2259"/>
              <a:gd name="T9" fmla="*/ 207 h 570"/>
              <a:gd name="T10" fmla="*/ 1360 w 2259"/>
              <a:gd name="T11" fmla="*/ 207 h 570"/>
              <a:gd name="T12" fmla="*/ 1360 w 2259"/>
              <a:gd name="T13" fmla="*/ 3 h 570"/>
              <a:gd name="T14" fmla="*/ 2259 w 2259"/>
              <a:gd name="T15" fmla="*/ 0 h 5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59" h="570">
                <a:moveTo>
                  <a:pt x="0" y="570"/>
                </a:moveTo>
                <a:lnTo>
                  <a:pt x="453" y="570"/>
                </a:lnTo>
                <a:lnTo>
                  <a:pt x="451" y="389"/>
                </a:lnTo>
                <a:lnTo>
                  <a:pt x="905" y="389"/>
                </a:lnTo>
                <a:lnTo>
                  <a:pt x="907" y="207"/>
                </a:lnTo>
                <a:lnTo>
                  <a:pt x="1360" y="207"/>
                </a:lnTo>
                <a:lnTo>
                  <a:pt x="1360" y="3"/>
                </a:lnTo>
                <a:lnTo>
                  <a:pt x="2259" y="0"/>
                </a:ln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ZA"/>
          </a:p>
        </p:txBody>
      </p:sp>
      <p:sp>
        <p:nvSpPr>
          <p:cNvPr id="262159" name="Text Box 15"/>
          <p:cNvSpPr txBox="1">
            <a:spLocks noChangeArrowheads="1"/>
          </p:cNvSpPr>
          <p:nvPr/>
        </p:nvSpPr>
        <p:spPr bwMode="auto">
          <a:xfrm>
            <a:off x="4396842" y="6113101"/>
            <a:ext cx="546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“00“</a:t>
            </a:r>
          </a:p>
        </p:txBody>
      </p:sp>
      <p:sp>
        <p:nvSpPr>
          <p:cNvPr id="262160" name="Text Box 16"/>
          <p:cNvSpPr txBox="1">
            <a:spLocks noChangeArrowheads="1"/>
          </p:cNvSpPr>
          <p:nvPr/>
        </p:nvSpPr>
        <p:spPr bwMode="auto">
          <a:xfrm>
            <a:off x="4396842" y="5824176"/>
            <a:ext cx="546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“01“</a:t>
            </a:r>
          </a:p>
        </p:txBody>
      </p:sp>
      <p:sp>
        <p:nvSpPr>
          <p:cNvPr id="262161" name="Text Box 17"/>
          <p:cNvSpPr txBox="1">
            <a:spLocks noChangeArrowheads="1"/>
          </p:cNvSpPr>
          <p:nvPr/>
        </p:nvSpPr>
        <p:spPr bwMode="auto">
          <a:xfrm>
            <a:off x="4360329" y="5536839"/>
            <a:ext cx="546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“10“</a:t>
            </a:r>
          </a:p>
        </p:txBody>
      </p:sp>
      <p:sp>
        <p:nvSpPr>
          <p:cNvPr id="262162" name="Text Box 18"/>
          <p:cNvSpPr txBox="1">
            <a:spLocks noChangeArrowheads="1"/>
          </p:cNvSpPr>
          <p:nvPr/>
        </p:nvSpPr>
        <p:spPr bwMode="auto">
          <a:xfrm>
            <a:off x="4360329" y="5224101"/>
            <a:ext cx="546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“11“</a:t>
            </a:r>
          </a:p>
        </p:txBody>
      </p:sp>
      <p:sp>
        <p:nvSpPr>
          <p:cNvPr id="262163" name="Line 19"/>
          <p:cNvSpPr>
            <a:spLocks noChangeShapeType="1"/>
          </p:cNvSpPr>
          <p:nvPr/>
        </p:nvSpPr>
        <p:spPr bwMode="auto">
          <a:xfrm>
            <a:off x="4865154" y="6005151"/>
            <a:ext cx="107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ZA"/>
          </a:p>
        </p:txBody>
      </p:sp>
      <p:sp>
        <p:nvSpPr>
          <p:cNvPr id="262164" name="Line 20"/>
          <p:cNvSpPr>
            <a:spLocks noChangeShapeType="1"/>
          </p:cNvSpPr>
          <p:nvPr/>
        </p:nvSpPr>
        <p:spPr bwMode="auto">
          <a:xfrm>
            <a:off x="4865154" y="5716226"/>
            <a:ext cx="107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ZA"/>
          </a:p>
        </p:txBody>
      </p:sp>
      <p:sp>
        <p:nvSpPr>
          <p:cNvPr id="262165" name="Line 21"/>
          <p:cNvSpPr>
            <a:spLocks noChangeShapeType="1"/>
          </p:cNvSpPr>
          <p:nvPr/>
        </p:nvSpPr>
        <p:spPr bwMode="auto">
          <a:xfrm>
            <a:off x="4865154" y="5392376"/>
            <a:ext cx="107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ZA"/>
          </a:p>
        </p:txBody>
      </p:sp>
      <p:sp>
        <p:nvSpPr>
          <p:cNvPr id="262166" name="Line 22"/>
          <p:cNvSpPr>
            <a:spLocks noChangeShapeType="1"/>
          </p:cNvSpPr>
          <p:nvPr/>
        </p:nvSpPr>
        <p:spPr bwMode="auto">
          <a:xfrm>
            <a:off x="4865154" y="6292489"/>
            <a:ext cx="107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ZA"/>
          </a:p>
        </p:txBody>
      </p:sp>
      <p:sp>
        <p:nvSpPr>
          <p:cNvPr id="262167" name="Text Box 23"/>
          <p:cNvSpPr txBox="1">
            <a:spLocks noChangeArrowheads="1"/>
          </p:cNvSpPr>
          <p:nvPr/>
        </p:nvSpPr>
        <p:spPr bwMode="auto">
          <a:xfrm>
            <a:off x="5368392" y="6292489"/>
            <a:ext cx="6556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 i="1">
                <a:latin typeface="Times New Roman" panose="02020603050405020304" pitchFamily="18" charset="0"/>
              </a:rPr>
              <a:t>V</a:t>
            </a:r>
            <a:r>
              <a:rPr lang="en-US" altLang="en-US" sz="1600" i="1" baseline="-25000">
                <a:latin typeface="Times New Roman" panose="02020603050405020304" pitchFamily="18" charset="0"/>
              </a:rPr>
              <a:t>ref </a:t>
            </a:r>
            <a:r>
              <a:rPr lang="en-US" altLang="en-US" sz="1600">
                <a:latin typeface="Times New Roman" panose="02020603050405020304" pitchFamily="18" charset="0"/>
              </a:rPr>
              <a:t>/4</a:t>
            </a:r>
          </a:p>
        </p:txBody>
      </p:sp>
      <p:sp>
        <p:nvSpPr>
          <p:cNvPr id="262168" name="Text Box 24"/>
          <p:cNvSpPr txBox="1">
            <a:spLocks noChangeArrowheads="1"/>
          </p:cNvSpPr>
          <p:nvPr/>
        </p:nvSpPr>
        <p:spPr bwMode="auto">
          <a:xfrm>
            <a:off x="6808254" y="6292489"/>
            <a:ext cx="7572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>
                <a:latin typeface="Times New Roman" panose="02020603050405020304" pitchFamily="18" charset="0"/>
              </a:rPr>
              <a:t>3</a:t>
            </a:r>
            <a:r>
              <a:rPr lang="en-US" altLang="en-US" sz="1600" i="1">
                <a:latin typeface="Times New Roman" panose="02020603050405020304" pitchFamily="18" charset="0"/>
              </a:rPr>
              <a:t>V</a:t>
            </a:r>
            <a:r>
              <a:rPr lang="en-US" altLang="en-US" sz="1600" i="1" baseline="-25000">
                <a:latin typeface="Times New Roman" panose="02020603050405020304" pitchFamily="18" charset="0"/>
              </a:rPr>
              <a:t>ref </a:t>
            </a:r>
            <a:r>
              <a:rPr lang="en-US" altLang="en-US" sz="1600">
                <a:latin typeface="Times New Roman" panose="02020603050405020304" pitchFamily="18" charset="0"/>
              </a:rPr>
              <a:t>/4</a:t>
            </a:r>
          </a:p>
        </p:txBody>
      </p:sp>
      <p:sp>
        <p:nvSpPr>
          <p:cNvPr id="262169" name="Text Box 25"/>
          <p:cNvSpPr txBox="1">
            <a:spLocks noChangeArrowheads="1"/>
          </p:cNvSpPr>
          <p:nvPr/>
        </p:nvSpPr>
        <p:spPr bwMode="auto">
          <a:xfrm>
            <a:off x="5220754" y="4312876"/>
            <a:ext cx="3105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Encoding of voltage intervals</a:t>
            </a:r>
          </a:p>
        </p:txBody>
      </p:sp>
      <p:sp>
        <p:nvSpPr>
          <p:cNvPr id="262170" name="Text Box 26"/>
          <p:cNvSpPr txBox="1">
            <a:spLocks noChangeArrowheads="1"/>
          </p:cNvSpPr>
          <p:nvPr/>
        </p:nvSpPr>
        <p:spPr bwMode="auto">
          <a:xfrm>
            <a:off x="8213192" y="6292489"/>
            <a:ext cx="479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 i="1">
                <a:latin typeface="Times New Roman" panose="02020603050405020304" pitchFamily="18" charset="0"/>
              </a:rPr>
              <a:t>h</a:t>
            </a:r>
            <a:r>
              <a:rPr lang="en-US" altLang="en-US" sz="1600"/>
              <a:t>(</a:t>
            </a:r>
            <a:r>
              <a:rPr lang="en-US" altLang="en-US" sz="1600" i="1">
                <a:latin typeface="Times New Roman" panose="02020603050405020304" pitchFamily="18" charset="0"/>
              </a:rPr>
              <a:t>t</a:t>
            </a:r>
            <a:r>
              <a:rPr lang="en-US" altLang="en-US" sz="1600"/>
              <a:t>)</a:t>
            </a:r>
            <a:endParaRPr lang="de-DE" altLang="en-US" sz="1600"/>
          </a:p>
        </p:txBody>
      </p:sp>
      <p:sp>
        <p:nvSpPr>
          <p:cNvPr id="262171" name="Text Box 27"/>
          <p:cNvSpPr txBox="1">
            <a:spLocks noChangeArrowheads="1"/>
          </p:cNvSpPr>
          <p:nvPr/>
        </p:nvSpPr>
        <p:spPr bwMode="auto">
          <a:xfrm>
            <a:off x="569960" y="6168072"/>
            <a:ext cx="3519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No decoding of </a:t>
            </a:r>
            <a:r>
              <a:rPr lang="en-US" altLang="en-US" i="1" dirty="0">
                <a:latin typeface="Times New Roman" panose="02020603050405020304" pitchFamily="18" charset="0"/>
              </a:rPr>
              <a:t>h</a:t>
            </a:r>
            <a:r>
              <a:rPr lang="en-US" altLang="en-US" dirty="0"/>
              <a:t>(</a:t>
            </a:r>
            <a:r>
              <a:rPr lang="en-US" altLang="en-US" i="1" dirty="0">
                <a:latin typeface="Times New Roman" panose="02020603050405020304" pitchFamily="18" charset="0"/>
              </a:rPr>
              <a:t>t</a:t>
            </a:r>
            <a:r>
              <a:rPr lang="en-US" altLang="en-US" dirty="0"/>
              <a:t>) &gt; </a:t>
            </a:r>
            <a:r>
              <a:rPr lang="en-US" altLang="en-US" i="1" dirty="0" err="1">
                <a:latin typeface="Times New Roman" panose="02020603050405020304" pitchFamily="18" charset="0"/>
              </a:rPr>
              <a:t>V</a:t>
            </a:r>
            <a:r>
              <a:rPr lang="en-US" altLang="en-US" i="1" baseline="-25000" dirty="0" err="1">
                <a:latin typeface="Times New Roman" panose="02020603050405020304" pitchFamily="18" charset="0"/>
              </a:rPr>
              <a:t>ref</a:t>
            </a:r>
            <a:endParaRPr lang="en-US" altLang="en-US" i="1" baseline="-25000" dirty="0">
              <a:latin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09515" y="1018461"/>
            <a:ext cx="492752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dirty="0"/>
              <a:t>The Flash ADC is essentially the fastest but most resource expensive and uses most power. But the power consumption is sometimes not trivial because it is done in a moment whereas the other designs use clocks and take a longer time.</a:t>
            </a:r>
          </a:p>
        </p:txBody>
      </p:sp>
    </p:spTree>
    <p:extLst>
      <p:ext uri="{BB962C8B-B14F-4D97-AF65-F5344CB8AC3E}">
        <p14:creationId xmlns:p14="http://schemas.microsoft.com/office/powerpoint/2010/main" val="3099853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altLang="en-US" sz="3200" dirty="0"/>
              <a:t>Resolution and speed of Flash A/D-converter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4375" y="1596540"/>
            <a:ext cx="6805613" cy="1881188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ct val="30000"/>
              </a:spcBef>
            </a:pPr>
            <a:r>
              <a:rPr lang="en-US" altLang="en-US" b="1" dirty="0"/>
              <a:t>Parallel comparison with reference voltage</a:t>
            </a:r>
          </a:p>
          <a:p>
            <a:pPr>
              <a:spcBef>
                <a:spcPct val="30000"/>
              </a:spcBef>
            </a:pPr>
            <a:r>
              <a:rPr lang="en-US" altLang="en-US" dirty="0"/>
              <a:t>Speed: 			</a:t>
            </a:r>
            <a:r>
              <a:rPr lang="en-US" altLang="en-US" i="1" dirty="0"/>
              <a:t>O</a:t>
            </a:r>
            <a:r>
              <a:rPr lang="en-US" altLang="en-US" dirty="0"/>
              <a:t>(1)</a:t>
            </a:r>
          </a:p>
          <a:p>
            <a:pPr>
              <a:spcBef>
                <a:spcPct val="30000"/>
              </a:spcBef>
            </a:pPr>
            <a:r>
              <a:rPr lang="en-US" altLang="en-US" dirty="0"/>
              <a:t>Hardware complexity: 	</a:t>
            </a:r>
            <a:r>
              <a:rPr lang="en-US" altLang="en-US" i="1" dirty="0"/>
              <a:t>O</a:t>
            </a:r>
            <a:r>
              <a:rPr lang="en-US" altLang="en-US" dirty="0"/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/>
              <a:t>)</a:t>
            </a:r>
          </a:p>
          <a:p>
            <a:pPr>
              <a:spcBef>
                <a:spcPct val="30000"/>
              </a:spcBef>
            </a:pPr>
            <a:r>
              <a:rPr lang="en-US" altLang="en-US" b="1" dirty="0"/>
              <a:t>Applications</a:t>
            </a:r>
            <a:r>
              <a:rPr lang="en-US" altLang="en-US" dirty="0"/>
              <a:t>: e.g. in video processing</a:t>
            </a:r>
            <a:endParaRPr lang="de-DE" altLang="en-US" dirty="0"/>
          </a:p>
        </p:txBody>
      </p:sp>
    </p:spTree>
    <p:extLst>
      <p:ext uri="{BB962C8B-B14F-4D97-AF65-F5344CB8AC3E}">
        <p14:creationId xmlns:p14="http://schemas.microsoft.com/office/powerpoint/2010/main" val="3562894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5336159" y="3596355"/>
            <a:ext cx="3245951" cy="1437880"/>
            <a:chOff x="5143674" y="2601940"/>
            <a:chExt cx="4893689" cy="2360065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3674" y="2601940"/>
              <a:ext cx="1655870" cy="2360065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5623" y="2601940"/>
              <a:ext cx="1655870" cy="2360065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1493" y="2601940"/>
              <a:ext cx="1655870" cy="2360065"/>
            </a:xfrm>
            <a:prstGeom prst="rect">
              <a:avLst/>
            </a:prstGeom>
          </p:spPr>
        </p:pic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3179" y="276448"/>
            <a:ext cx="8123276" cy="733646"/>
          </a:xfrm>
        </p:spPr>
        <p:txBody>
          <a:bodyPr>
            <a:normAutofit fontScale="90000"/>
          </a:bodyPr>
          <a:lstStyle/>
          <a:p>
            <a:r>
              <a:rPr lang="en-ZA" dirty="0"/>
              <a:t>Pipelined FLASH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5313" y="1198236"/>
            <a:ext cx="6439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dirty="0"/>
              <a:t>Generally this is the best bang for your buck…  but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67380" y="2169803"/>
            <a:ext cx="3615664" cy="4196718"/>
            <a:chOff x="567380" y="2169803"/>
            <a:chExt cx="3615664" cy="4196718"/>
          </a:xfrm>
        </p:grpSpPr>
        <p:sp>
          <p:nvSpPr>
            <p:cNvPr id="9" name="TextBox 8"/>
            <p:cNvSpPr txBox="1"/>
            <p:nvPr/>
          </p:nvSpPr>
          <p:spPr>
            <a:xfrm>
              <a:off x="567380" y="5166192"/>
              <a:ext cx="361566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2400" dirty="0"/>
                <a:t>I’m the FLASH ADC</a:t>
              </a:r>
            </a:p>
            <a:p>
              <a:r>
                <a:rPr lang="en-ZA" sz="2400" dirty="0"/>
                <a:t>I might be… a little heavy,</a:t>
              </a:r>
            </a:p>
            <a:p>
              <a:r>
                <a:rPr lang="en-ZA" sz="2400" dirty="0"/>
                <a:t>But I’m FAST!</a:t>
              </a: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341" y="2169803"/>
              <a:ext cx="2606283" cy="2916379"/>
            </a:xfrm>
            <a:prstGeom prst="rect">
              <a:avLst/>
            </a:prstGeom>
          </p:spPr>
        </p:pic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365" y="2601940"/>
            <a:ext cx="3450078" cy="26178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36179" y="5094783"/>
            <a:ext cx="3615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/>
              <a:t>We’re the Pipeline FLASH</a:t>
            </a:r>
          </a:p>
          <a:p>
            <a:r>
              <a:rPr lang="en-ZA" sz="2400" dirty="0"/>
              <a:t>We’re almost as FAST</a:t>
            </a:r>
          </a:p>
          <a:p>
            <a:r>
              <a:rPr lang="en-ZA" sz="2400" dirty="0"/>
              <a:t>But we’re a little cheeky!</a:t>
            </a:r>
          </a:p>
        </p:txBody>
      </p:sp>
    </p:spTree>
    <p:extLst>
      <p:ext uri="{BB962C8B-B14F-4D97-AF65-F5344CB8AC3E}">
        <p14:creationId xmlns:p14="http://schemas.microsoft.com/office/powerpoint/2010/main" val="420993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1670" y="1291130"/>
            <a:ext cx="77879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/>
              <a:t>But to understand the Pipeline Flash ADC </a:t>
            </a:r>
          </a:p>
          <a:p>
            <a:r>
              <a:rPr lang="en-ZA" sz="2400" dirty="0"/>
              <a:t>   you need to first understand the SA-ADC </a:t>
            </a:r>
            <a:br>
              <a:rPr lang="en-ZA" sz="2400" dirty="0"/>
            </a:br>
            <a:r>
              <a:rPr lang="en-ZA" sz="2400" dirty="0"/>
              <a:t>     (i.e. the Successive Approximation ADC) which is up next…</a:t>
            </a:r>
          </a:p>
          <a:p>
            <a:endParaRPr lang="en-ZA" sz="2400" dirty="0"/>
          </a:p>
          <a:p>
            <a:r>
              <a:rPr lang="en-ZA" sz="2400" dirty="0"/>
              <a:t>The Pipeline Flash is essentially a combination of the two</a:t>
            </a:r>
          </a:p>
        </p:txBody>
      </p:sp>
    </p:spTree>
    <p:extLst>
      <p:ext uri="{BB962C8B-B14F-4D97-AF65-F5344CB8AC3E}">
        <p14:creationId xmlns:p14="http://schemas.microsoft.com/office/powerpoint/2010/main" val="1321673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8" t="32608" r="6461" b="22763"/>
          <a:stretch>
            <a:fillRect/>
          </a:stretch>
        </p:blipFill>
        <p:spPr bwMode="auto">
          <a:xfrm>
            <a:off x="1049358" y="1173506"/>
            <a:ext cx="6269727" cy="2285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Successive Approximation ADC (SA-ADC)</a:t>
            </a:r>
            <a:endParaRPr lang="en-ZA" sz="36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53337" y="3704730"/>
            <a:ext cx="4519753" cy="28241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BE"/>
                </a:solidFill>
              </a14:hiddenFill>
            </a:ext>
          </a:extLst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en-US" sz="2400" b="1" dirty="0"/>
              <a:t>Key idea: binary search…</a:t>
            </a:r>
          </a:p>
          <a:p>
            <a:pPr marL="0" indent="0">
              <a:buNone/>
            </a:pPr>
            <a:r>
              <a:rPr lang="en-US" altLang="en-US" sz="2400" dirty="0"/>
              <a:t>Set MSB='1‘ (all other =‘0’)</a:t>
            </a:r>
          </a:p>
          <a:p>
            <a:pPr marL="0" indent="0">
              <a:buNone/>
            </a:pPr>
            <a:r>
              <a:rPr lang="en-US" altLang="en-US" sz="2400" dirty="0"/>
              <a:t>if too large:</a:t>
            </a:r>
            <a:br>
              <a:rPr lang="en-US" altLang="en-US" sz="2400" dirty="0"/>
            </a:br>
            <a:r>
              <a:rPr lang="en-US" altLang="en-US" sz="2400" dirty="0"/>
              <a:t>    reset MSB, set MSB-1='1‘</a:t>
            </a:r>
          </a:p>
          <a:p>
            <a:pPr marL="0" indent="0">
              <a:buNone/>
            </a:pPr>
            <a:r>
              <a:rPr lang="en-US" altLang="en-US" sz="2400" dirty="0"/>
              <a:t>    if too large:</a:t>
            </a:r>
          </a:p>
          <a:p>
            <a:pPr marL="0" indent="0">
              <a:buNone/>
            </a:pPr>
            <a:r>
              <a:rPr lang="en-US" altLang="en-US" sz="2400" dirty="0"/>
              <a:t>        reset MSB-1, set MSB-2=‘1’</a:t>
            </a:r>
          </a:p>
          <a:p>
            <a:pPr marL="0" indent="0">
              <a:buNone/>
            </a:pPr>
            <a:r>
              <a:rPr lang="en-US" altLang="en-US" sz="2400" dirty="0"/>
              <a:t>        etc..</a:t>
            </a:r>
          </a:p>
          <a:p>
            <a:pPr marL="0" indent="0">
              <a:buNone/>
            </a:pPr>
            <a:r>
              <a:rPr lang="en-US" altLang="en-US" sz="2400" dirty="0"/>
              <a:t>else if too small: </a:t>
            </a:r>
            <a:br>
              <a:rPr lang="en-US" altLang="en-US" sz="2400" dirty="0"/>
            </a:br>
            <a:r>
              <a:rPr lang="en-US" altLang="en-US" sz="2400" dirty="0"/>
              <a:t>    set MSB-1=‘1’ …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4419295" y="3863909"/>
            <a:ext cx="5105400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B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6200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811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Speed:  	          </a:t>
            </a:r>
            <a:r>
              <a:rPr lang="en-US" altLang="en-US" sz="2000" i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O</a:t>
            </a:r>
            <a:r>
              <a:rPr lang="en-US" alt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(log</a:t>
            </a:r>
            <a:r>
              <a:rPr lang="en-US" altLang="en-US" sz="2000" baseline="-25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altLang="en-US" sz="2000" i="1" dirty="0">
                <a:solidFill>
                  <a:schemeClr val="tx2">
                    <a:lumMod val="75000"/>
                  </a:schemeClr>
                </a:solidFill>
              </a:rPr>
              <a:t>n</a:t>
            </a:r>
            <a:r>
              <a:rPr lang="en-US" alt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))</a:t>
            </a:r>
          </a:p>
          <a:p>
            <a:r>
              <a:rPr lang="en-US" alt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Hardware complexity: </a:t>
            </a:r>
            <a:r>
              <a:rPr lang="en-US" altLang="en-US" sz="2000" i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O</a:t>
            </a:r>
            <a:r>
              <a:rPr lang="en-US" alt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(log</a:t>
            </a:r>
            <a:r>
              <a:rPr lang="en-US" altLang="en-US" sz="2000" baseline="-25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altLang="en-US" sz="2000" i="1" dirty="0">
                <a:solidFill>
                  <a:schemeClr val="tx2">
                    <a:lumMod val="75000"/>
                  </a:schemeClr>
                </a:solidFill>
              </a:rPr>
              <a:t>n</a:t>
            </a:r>
            <a:r>
              <a:rPr lang="en-US" alt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))</a:t>
            </a:r>
          </a:p>
          <a:p>
            <a:r>
              <a:rPr lang="en-US" alt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with </a:t>
            </a:r>
            <a:r>
              <a:rPr lang="en-US" altLang="en-US" sz="2000" i="1" dirty="0">
                <a:solidFill>
                  <a:schemeClr val="tx2">
                    <a:lumMod val="75000"/>
                  </a:schemeClr>
                </a:solidFill>
              </a:rPr>
              <a:t>n</a:t>
            </a:r>
            <a:r>
              <a:rPr lang="en-US" alt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= # of distinguished</a:t>
            </a:r>
            <a:br>
              <a:rPr lang="en-US" alt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voltage levels;</a:t>
            </a:r>
          </a:p>
          <a:p>
            <a:r>
              <a:rPr lang="en-US" alt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slow, but high precision possible.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gray">
          <a:xfrm>
            <a:off x="974001" y="1259212"/>
            <a:ext cx="518091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de-DE" altLang="en-US" i="1" dirty="0">
                <a:latin typeface="Times New Roman" panose="02020603050405020304" pitchFamily="18" charset="0"/>
              </a:rPr>
              <a:t>h(t)</a:t>
            </a:r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gray">
          <a:xfrm>
            <a:off x="7291200" y="2240349"/>
            <a:ext cx="674688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en-US" i="1" dirty="0">
                <a:latin typeface="Times New Roman" panose="02020603050405020304" pitchFamily="18" charset="0"/>
              </a:rPr>
              <a:t>w(t)</a:t>
            </a:r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1273017" y="2344315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en-US" i="1" dirty="0">
                <a:latin typeface="Times New Roman" panose="02020603050405020304" pitchFamily="18" charset="0"/>
              </a:rPr>
              <a:t>V</a:t>
            </a:r>
            <a:r>
              <a:rPr lang="de-DE" altLang="en-US" baseline="-25000" dirty="0"/>
              <a:t>-</a:t>
            </a:r>
            <a:endParaRPr lang="en-US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948134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Successive Approximation ADC (SA-ADC)</a:t>
            </a:r>
          </a:p>
        </p:txBody>
      </p:sp>
      <p:sp>
        <p:nvSpPr>
          <p:cNvPr id="101379" name="Line 3"/>
          <p:cNvSpPr>
            <a:spLocks noChangeShapeType="1"/>
          </p:cNvSpPr>
          <p:nvPr/>
        </p:nvSpPr>
        <p:spPr bwMode="auto">
          <a:xfrm>
            <a:off x="1706885" y="17526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01380" name="Line 4"/>
          <p:cNvSpPr>
            <a:spLocks noChangeShapeType="1"/>
          </p:cNvSpPr>
          <p:nvPr/>
        </p:nvSpPr>
        <p:spPr bwMode="auto">
          <a:xfrm>
            <a:off x="1706885" y="5867400"/>
            <a:ext cx="670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01386" name="Line 10"/>
          <p:cNvSpPr>
            <a:spLocks noChangeShapeType="1"/>
          </p:cNvSpPr>
          <p:nvPr/>
        </p:nvSpPr>
        <p:spPr bwMode="auto">
          <a:xfrm>
            <a:off x="1021085" y="2971800"/>
            <a:ext cx="731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01388" name="Text Box 12"/>
          <p:cNvSpPr txBox="1">
            <a:spLocks noChangeArrowheads="1"/>
          </p:cNvSpPr>
          <p:nvPr/>
        </p:nvSpPr>
        <p:spPr bwMode="auto">
          <a:xfrm>
            <a:off x="2392685" y="2362200"/>
            <a:ext cx="749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en-US" sz="2000"/>
              <a:t>1100</a:t>
            </a:r>
            <a:endParaRPr lang="en-US" altLang="en-US" sz="2000"/>
          </a:p>
        </p:txBody>
      </p:sp>
      <p:sp>
        <p:nvSpPr>
          <p:cNvPr id="101389" name="Text Box 13"/>
          <p:cNvSpPr txBox="1">
            <a:spLocks noChangeArrowheads="1"/>
          </p:cNvSpPr>
          <p:nvPr/>
        </p:nvSpPr>
        <p:spPr bwMode="auto">
          <a:xfrm>
            <a:off x="1783085" y="3429000"/>
            <a:ext cx="749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en-US" sz="2000"/>
              <a:t>1000</a:t>
            </a:r>
            <a:endParaRPr lang="en-US" altLang="en-US" sz="2000"/>
          </a:p>
        </p:txBody>
      </p:sp>
      <p:sp>
        <p:nvSpPr>
          <p:cNvPr id="101390" name="Text Box 14"/>
          <p:cNvSpPr txBox="1">
            <a:spLocks noChangeArrowheads="1"/>
          </p:cNvSpPr>
          <p:nvPr/>
        </p:nvSpPr>
        <p:spPr bwMode="auto">
          <a:xfrm>
            <a:off x="3002285" y="2971800"/>
            <a:ext cx="749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en-US" sz="2000"/>
              <a:t>1010</a:t>
            </a:r>
            <a:endParaRPr lang="en-US" altLang="en-US" sz="2000"/>
          </a:p>
        </p:txBody>
      </p:sp>
      <p:sp>
        <p:nvSpPr>
          <p:cNvPr id="101395" name="Text Box 19"/>
          <p:cNvSpPr txBox="1">
            <a:spLocks noChangeArrowheads="1"/>
          </p:cNvSpPr>
          <p:nvPr/>
        </p:nvSpPr>
        <p:spPr bwMode="auto">
          <a:xfrm>
            <a:off x="3535685" y="2590800"/>
            <a:ext cx="749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en-US" sz="2000"/>
              <a:t>1011</a:t>
            </a:r>
            <a:endParaRPr lang="en-US" altLang="en-US" sz="2000"/>
          </a:p>
        </p:txBody>
      </p:sp>
      <p:sp>
        <p:nvSpPr>
          <p:cNvPr id="101396" name="Text Box 20"/>
          <p:cNvSpPr txBox="1">
            <a:spLocks noChangeArrowheads="1"/>
          </p:cNvSpPr>
          <p:nvPr/>
        </p:nvSpPr>
        <p:spPr bwMode="auto">
          <a:xfrm>
            <a:off x="8015610" y="5830888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en-US" i="1">
                <a:latin typeface="Times New Roman" panose="02020603050405020304" pitchFamily="18" charset="0"/>
              </a:rPr>
              <a:t>t</a:t>
            </a:r>
            <a:endParaRPr lang="en-US" altLang="en-US" i="1">
              <a:latin typeface="Times New Roman" panose="02020603050405020304" pitchFamily="18" charset="0"/>
            </a:endParaRPr>
          </a:p>
        </p:txBody>
      </p:sp>
      <p:sp>
        <p:nvSpPr>
          <p:cNvPr id="101397" name="Text Box 21"/>
          <p:cNvSpPr txBox="1">
            <a:spLocks noChangeArrowheads="1"/>
          </p:cNvSpPr>
          <p:nvPr/>
        </p:nvSpPr>
        <p:spPr bwMode="auto">
          <a:xfrm>
            <a:off x="1173485" y="160178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en-US" i="1">
                <a:latin typeface="Times New Roman" panose="02020603050405020304" pitchFamily="18" charset="0"/>
              </a:rPr>
              <a:t>V</a:t>
            </a:r>
            <a:endParaRPr lang="en-US" altLang="en-US" i="1">
              <a:latin typeface="Times New Roman" panose="02020603050405020304" pitchFamily="18" charset="0"/>
            </a:endParaRPr>
          </a:p>
        </p:txBody>
      </p:sp>
      <p:sp>
        <p:nvSpPr>
          <p:cNvPr id="101398" name="Text Box 22"/>
          <p:cNvSpPr txBox="1">
            <a:spLocks noChangeArrowheads="1"/>
          </p:cNvSpPr>
          <p:nvPr/>
        </p:nvSpPr>
        <p:spPr bwMode="auto">
          <a:xfrm>
            <a:off x="640085" y="28194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en-US"/>
              <a:t>V</a:t>
            </a:r>
            <a:r>
              <a:rPr lang="de-DE" altLang="en-US" baseline="-25000"/>
              <a:t>x</a:t>
            </a:r>
            <a:endParaRPr lang="en-US" altLang="en-US" baseline="-25000"/>
          </a:p>
        </p:txBody>
      </p:sp>
      <p:sp>
        <p:nvSpPr>
          <p:cNvPr id="101399" name="Text Box 23"/>
          <p:cNvSpPr txBox="1">
            <a:spLocks noChangeArrowheads="1"/>
          </p:cNvSpPr>
          <p:nvPr/>
        </p:nvSpPr>
        <p:spPr bwMode="auto">
          <a:xfrm>
            <a:off x="1983110" y="4116388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en-US" i="1" dirty="0">
                <a:latin typeface="Times New Roman" panose="02020603050405020304" pitchFamily="18" charset="0"/>
              </a:rPr>
              <a:t>V</a:t>
            </a:r>
            <a:r>
              <a:rPr lang="de-DE" altLang="en-US" baseline="-25000" dirty="0"/>
              <a:t>-</a:t>
            </a:r>
            <a:endParaRPr lang="en-US" altLang="en-US" baseline="-25000" dirty="0"/>
          </a:p>
        </p:txBody>
      </p:sp>
      <p:sp>
        <p:nvSpPr>
          <p:cNvPr id="101401" name="Line 25"/>
          <p:cNvSpPr>
            <a:spLocks noChangeShapeType="1"/>
          </p:cNvSpPr>
          <p:nvPr/>
        </p:nvSpPr>
        <p:spPr bwMode="auto">
          <a:xfrm flipV="1">
            <a:off x="1954535" y="3789363"/>
            <a:ext cx="0" cy="208756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01402" name="Line 26"/>
          <p:cNvSpPr>
            <a:spLocks noChangeShapeType="1"/>
          </p:cNvSpPr>
          <p:nvPr/>
        </p:nvSpPr>
        <p:spPr bwMode="auto">
          <a:xfrm>
            <a:off x="1954535" y="3789363"/>
            <a:ext cx="576263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01404" name="Line 28"/>
          <p:cNvSpPr>
            <a:spLocks noChangeShapeType="1"/>
          </p:cNvSpPr>
          <p:nvPr/>
        </p:nvSpPr>
        <p:spPr bwMode="auto">
          <a:xfrm>
            <a:off x="2530798" y="2744788"/>
            <a:ext cx="53975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01405" name="Line 29"/>
          <p:cNvSpPr>
            <a:spLocks noChangeShapeType="1"/>
          </p:cNvSpPr>
          <p:nvPr/>
        </p:nvSpPr>
        <p:spPr bwMode="auto">
          <a:xfrm>
            <a:off x="3070548" y="3357563"/>
            <a:ext cx="612775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01406" name="Line 30"/>
          <p:cNvSpPr>
            <a:spLocks noChangeShapeType="1"/>
          </p:cNvSpPr>
          <p:nvPr/>
        </p:nvSpPr>
        <p:spPr bwMode="auto">
          <a:xfrm>
            <a:off x="3683323" y="3068638"/>
            <a:ext cx="576262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01407" name="Line 31"/>
          <p:cNvSpPr>
            <a:spLocks noChangeShapeType="1"/>
          </p:cNvSpPr>
          <p:nvPr/>
        </p:nvSpPr>
        <p:spPr bwMode="auto">
          <a:xfrm>
            <a:off x="2530798" y="2744788"/>
            <a:ext cx="0" cy="104457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01408" name="Line 32"/>
          <p:cNvSpPr>
            <a:spLocks noChangeShapeType="1"/>
          </p:cNvSpPr>
          <p:nvPr/>
        </p:nvSpPr>
        <p:spPr bwMode="auto">
          <a:xfrm>
            <a:off x="3070548" y="2744788"/>
            <a:ext cx="0" cy="61277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01409" name="Line 33"/>
          <p:cNvSpPr>
            <a:spLocks noChangeShapeType="1"/>
          </p:cNvSpPr>
          <p:nvPr/>
        </p:nvSpPr>
        <p:spPr bwMode="auto">
          <a:xfrm>
            <a:off x="3683323" y="3068638"/>
            <a:ext cx="0" cy="2889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01410" name="Text Box 34"/>
          <p:cNvSpPr txBox="1">
            <a:spLocks noChangeArrowheads="1"/>
          </p:cNvSpPr>
          <p:nvPr/>
        </p:nvSpPr>
        <p:spPr bwMode="gray">
          <a:xfrm>
            <a:off x="643260" y="2772728"/>
            <a:ext cx="623888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en-US" i="1" dirty="0">
                <a:latin typeface="Times New Roman" panose="02020603050405020304" pitchFamily="18" charset="0"/>
              </a:rPr>
              <a:t>h(t)</a:t>
            </a:r>
          </a:p>
        </p:txBody>
      </p:sp>
      <p:sp>
        <p:nvSpPr>
          <p:cNvPr id="23" name="Text Box 34"/>
          <p:cNvSpPr txBox="1">
            <a:spLocks noChangeArrowheads="1"/>
          </p:cNvSpPr>
          <p:nvPr/>
        </p:nvSpPr>
        <p:spPr bwMode="gray">
          <a:xfrm>
            <a:off x="672792" y="6109653"/>
            <a:ext cx="4315605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en-US" i="1" dirty="0">
                <a:latin typeface="Times New Roman" panose="02020603050405020304" pitchFamily="18" charset="0"/>
              </a:rPr>
              <a:t>h(t) = input analugye signal to be quantized</a:t>
            </a:r>
          </a:p>
        </p:txBody>
      </p:sp>
    </p:spTree>
    <p:extLst>
      <p:ext uri="{BB962C8B-B14F-4D97-AF65-F5344CB8AC3E}">
        <p14:creationId xmlns:p14="http://schemas.microsoft.com/office/powerpoint/2010/main" val="1691844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8" grpId="0"/>
      <p:bldP spid="101389" grpId="0"/>
      <p:bldP spid="101390" grpId="0"/>
      <p:bldP spid="101395" grpId="0"/>
      <p:bldP spid="101401" grpId="0" animBg="1"/>
      <p:bldP spid="101402" grpId="0" animBg="1"/>
      <p:bldP spid="101404" grpId="0" animBg="1"/>
      <p:bldP spid="101405" grpId="0" animBg="1"/>
      <p:bldP spid="101406" grpId="0" animBg="1"/>
      <p:bldP spid="101407" grpId="0" animBg="1"/>
      <p:bldP spid="101408" grpId="0" animBg="1"/>
      <p:bldP spid="10140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Pipelined FLASH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47" y="1028700"/>
            <a:ext cx="7425419" cy="4232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0362" y="5143045"/>
            <a:ext cx="7960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The conceptual operation isn’t too tricky. Stage 1 runs first and does a coarse estimate. Then stage 2 runs and does a fine estimate … but simultaneously stage 1 start a course estimate on a new sample. The key aspect here is the SHA at each stage, essentially a smaller and smaller residual moves down the pipeline until the final LSB is decided. </a:t>
            </a:r>
            <a:r>
              <a:rPr lang="en-ZA" dirty="0">
                <a:solidFill>
                  <a:srgbClr val="2A5A06"/>
                </a:solidFill>
              </a:rPr>
              <a:t>I think it’s a really cleaver hybrid </a:t>
            </a:r>
            <a:r>
              <a:rPr lang="en-ZA" dirty="0" err="1">
                <a:solidFill>
                  <a:srgbClr val="2A5A06"/>
                </a:solidFill>
              </a:rPr>
              <a:t>digital+analogue</a:t>
            </a:r>
            <a:r>
              <a:rPr lang="en-ZA" dirty="0">
                <a:solidFill>
                  <a:srgbClr val="2A5A06"/>
                </a:solidFill>
              </a:rPr>
              <a:t> design!!</a:t>
            </a:r>
          </a:p>
        </p:txBody>
      </p:sp>
    </p:spTree>
    <p:extLst>
      <p:ext uri="{BB962C8B-B14F-4D97-AF65-F5344CB8AC3E}">
        <p14:creationId xmlns:p14="http://schemas.microsoft.com/office/powerpoint/2010/main" val="1283957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Quick Understanding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7080" y="1443835"/>
            <a:ext cx="74825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/>
              <a:t>Q1. Does a SA-ADC usually use more comparators than a standard (i.e. ‘fat’) Flash?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7080" y="2970885"/>
            <a:ext cx="74825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/>
              <a:t>Q2. Will a pipeline Flash probably be quicker than a SA-ADC?  (explain your answer)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34C8E3-DDBF-4088-BBF9-5EA5B5102C89}"/>
              </a:ext>
            </a:extLst>
          </p:cNvPr>
          <p:cNvSpPr txBox="1"/>
          <p:nvPr/>
        </p:nvSpPr>
        <p:spPr>
          <a:xfrm>
            <a:off x="1059785" y="5414165"/>
            <a:ext cx="4606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>
                <a:solidFill>
                  <a:srgbClr val="C00000"/>
                </a:solidFill>
              </a:rPr>
              <a:t>Answers…</a:t>
            </a:r>
          </a:p>
        </p:txBody>
      </p:sp>
    </p:spTree>
    <p:extLst>
      <p:ext uri="{BB962C8B-B14F-4D97-AF65-F5344CB8AC3E}">
        <p14:creationId xmlns:p14="http://schemas.microsoft.com/office/powerpoint/2010/main" val="219081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Quick Understanding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7080" y="1443835"/>
            <a:ext cx="74825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/>
              <a:t>Q1. Will a SA-ADC probably use more comparators than a standard (i.e. ‘fat’) Flash?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7080" y="2970885"/>
            <a:ext cx="74825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/>
              <a:t>Q2. Will a pipeline Flash probably be quicker than a SA-ADC?  (explain your answer)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E96E92-B8DE-40F5-B577-4DC9E36BBDE8}"/>
              </a:ext>
            </a:extLst>
          </p:cNvPr>
          <p:cNvSpPr txBox="1"/>
          <p:nvPr/>
        </p:nvSpPr>
        <p:spPr>
          <a:xfrm>
            <a:off x="1212490" y="2397942"/>
            <a:ext cx="70244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>
                <a:solidFill>
                  <a:srgbClr val="C00000"/>
                </a:solidFill>
              </a:rPr>
              <a:t>No. A FAT flash needs n-1 </a:t>
            </a:r>
            <a:r>
              <a:rPr lang="en-ZA" dirty="0" err="1">
                <a:solidFill>
                  <a:srgbClr val="C00000"/>
                </a:solidFill>
              </a:rPr>
              <a:t>comparitors</a:t>
            </a:r>
            <a:r>
              <a:rPr lang="en-ZA" dirty="0">
                <a:solidFill>
                  <a:srgbClr val="C00000"/>
                </a:solidFill>
              </a:rPr>
              <a:t>, whereas a SA-ADC, a bit slower, needs log2(n), i.e. in it pipeline of log(n) hot/cold comparators.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52E0FE-AF1F-471C-9E0A-3561976A67E6}"/>
              </a:ext>
            </a:extLst>
          </p:cNvPr>
          <p:cNvSpPr txBox="1"/>
          <p:nvPr/>
        </p:nvSpPr>
        <p:spPr>
          <a:xfrm>
            <a:off x="1212490" y="3998380"/>
            <a:ext cx="70244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>
                <a:solidFill>
                  <a:srgbClr val="C00000"/>
                </a:solidFill>
              </a:rPr>
              <a:t>Yes, it does the whole kit and caboodle in one go, faster than the SA-ADC. The voltage input to the FAT flash is tested by all n-1 comparators in one go. Whereas for the SA-ADC the voltage moves down the line being tested for too high / too low in each stage until it gets to the last stage and final bit decision.</a:t>
            </a:r>
          </a:p>
        </p:txBody>
      </p:sp>
    </p:spTree>
    <p:extLst>
      <p:ext uri="{BB962C8B-B14F-4D97-AF65-F5344CB8AC3E}">
        <p14:creationId xmlns:p14="http://schemas.microsoft.com/office/powerpoint/2010/main" val="1765242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E0B639-371D-4E56-B638-C48003E10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ZA" dirty="0"/>
              <a:t>“Embedded System Design Embedded Systems Foundations of Cyber-Physical Systems, and the Internet of Things”. Peter </a:t>
            </a:r>
            <a:r>
              <a:rPr lang="en-ZA" dirty="0" err="1"/>
              <a:t>Marwedel</a:t>
            </a:r>
            <a:r>
              <a:rPr lang="en-ZA" dirty="0"/>
              <a:t> (2018)</a:t>
            </a:r>
          </a:p>
          <a:p>
            <a:pPr marL="514350" indent="-514350">
              <a:buFont typeface="+mj-lt"/>
              <a:buAutoNum type="arabicPeriod"/>
            </a:pPr>
            <a:r>
              <a:rPr lang="en-ZA" dirty="0"/>
              <a:t>“High performance embedded computing handbook: a systems perspective”. Martinez, D., Bond, R. and </a:t>
            </a:r>
            <a:r>
              <a:rPr lang="en-ZA" dirty="0" err="1"/>
              <a:t>Vai</a:t>
            </a:r>
            <a:r>
              <a:rPr lang="en-ZA" dirty="0"/>
              <a:t>, M. eds. CRC Press (2008)</a:t>
            </a:r>
          </a:p>
          <a:p>
            <a:pPr marL="514350" indent="-514350">
              <a:buFont typeface="+mj-lt"/>
              <a:buAutoNum type="arabicPeriod"/>
            </a:pPr>
            <a:r>
              <a:rPr lang="en-ZA" sz="3200" dirty="0">
                <a:hlinkClick r:id="rId2"/>
              </a:rPr>
              <a:t>https://en.wikipedia.org/wiki/Aliasing</a:t>
            </a:r>
            <a:endParaRPr lang="en-ZA" dirty="0"/>
          </a:p>
          <a:p>
            <a:pPr marL="514350" indent="-514350">
              <a:buFont typeface="+mj-lt"/>
              <a:buAutoNum type="arabicPeriod"/>
            </a:pPr>
            <a:r>
              <a:rPr lang="en-ZA" dirty="0">
                <a:hlinkClick r:id="rId3"/>
              </a:rPr>
              <a:t>https://en.wikipedia.org/wiki/Nyquist%E2%80%93Shannon_sampling_theorem</a:t>
            </a:r>
            <a:endParaRPr lang="en-ZA" dirty="0"/>
          </a:p>
          <a:p>
            <a:pPr marL="514350" indent="-514350">
              <a:buFont typeface="+mj-lt"/>
              <a:buAutoNum type="arabicPeriod"/>
            </a:pPr>
            <a:endParaRPr lang="en-Z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85F6CA-2E8E-4943-8CD8-71387C01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61923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1670" y="527605"/>
            <a:ext cx="57138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Next Episode…</a:t>
            </a:r>
          </a:p>
        </p:txBody>
      </p:sp>
      <p:sp>
        <p:nvSpPr>
          <p:cNvPr id="3" name="Rectangle 2"/>
          <p:cNvSpPr/>
          <p:nvPr/>
        </p:nvSpPr>
        <p:spPr>
          <a:xfrm>
            <a:off x="2417337" y="1596540"/>
            <a:ext cx="34678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Lecture L19</a:t>
            </a:r>
          </a:p>
        </p:txBody>
      </p:sp>
      <p:sp>
        <p:nvSpPr>
          <p:cNvPr id="4" name="Rectangle 3"/>
          <p:cNvSpPr/>
          <p:nvPr/>
        </p:nvSpPr>
        <p:spPr>
          <a:xfrm>
            <a:off x="1365195" y="2818180"/>
            <a:ext cx="6108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dirty="0"/>
              <a:t>ADC Metrics : how good is your ADC?</a:t>
            </a:r>
          </a:p>
          <a:p>
            <a:r>
              <a:rPr lang="en-ZA" sz="2400" dirty="0"/>
              <a:t> (connects with tut3 and prac3)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5195" y="2665475"/>
            <a:ext cx="6108200" cy="1679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2632555" y="2207360"/>
            <a:ext cx="305410" cy="4581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601670" y="4417685"/>
            <a:ext cx="1819330" cy="1442312"/>
            <a:chOff x="2586835" y="3649158"/>
            <a:chExt cx="3360304" cy="2663952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6835" y="3649158"/>
              <a:ext cx="3360304" cy="2663952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 rot="633497">
              <a:off x="3862964" y="5486243"/>
              <a:ext cx="808046" cy="230802"/>
            </a:xfrm>
            <a:prstGeom prst="rect">
              <a:avLst/>
            </a:prstGeom>
            <a:noFill/>
          </p:spPr>
          <p:txBody>
            <a:bodyPr wrap="none" rtlCol="0">
              <a:prstTxWarp prst="textChevron">
                <a:avLst>
                  <a:gd name="adj" fmla="val 26289"/>
                </a:avLst>
              </a:prstTxWarp>
              <a:spAutoFit/>
            </a:bodyPr>
            <a:lstStyle/>
            <a:p>
              <a:r>
                <a:rPr lang="en-ZA" sz="1400" dirty="0">
                  <a:solidFill>
                    <a:schemeClr val="bg1">
                      <a:lumMod val="95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Embedded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448785">
              <a:off x="3703340" y="5768702"/>
              <a:ext cx="808046" cy="230802"/>
            </a:xfrm>
            <a:prstGeom prst="rect">
              <a:avLst/>
            </a:prstGeom>
            <a:noFill/>
          </p:spPr>
          <p:txBody>
            <a:bodyPr wrap="none" rtlCol="0">
              <a:prstTxWarp prst="textChevron">
                <a:avLst>
                  <a:gd name="adj" fmla="val 26289"/>
                </a:avLst>
              </a:prstTxWarp>
              <a:spAutoFit/>
            </a:bodyPr>
            <a:lstStyle/>
            <a:p>
              <a:r>
                <a:rPr lang="en-ZA" sz="1400" dirty="0">
                  <a:solidFill>
                    <a:schemeClr val="bg1">
                      <a:lumMod val="95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Systems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4410853"/>
      </p:ext>
    </p:extLst>
  </p:cSld>
  <p:clrMapOvr>
    <a:masterClrMapping/>
  </p:clrMapOvr>
</p:sld>
</file>

<file path=ppt/theme/theme1.xml><?xml version="1.0" encoding="utf-8"?>
<a:theme xmlns:a="http://schemas.openxmlformats.org/drawingml/2006/main" name="ES2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14730</TotalTime>
  <Words>1299</Words>
  <Application>Microsoft Office PowerPoint</Application>
  <PresentationFormat>On-screen Show (4:3)</PresentationFormat>
  <Paragraphs>126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Aharoni</vt:lpstr>
      <vt:lpstr>Arial</vt:lpstr>
      <vt:lpstr>Arial Black</vt:lpstr>
      <vt:lpstr>Calibri</vt:lpstr>
      <vt:lpstr>Candara</vt:lpstr>
      <vt:lpstr>Times New Roman</vt:lpstr>
      <vt:lpstr>ES2 Theme</vt:lpstr>
      <vt:lpstr>The ADC (part 1of2)</vt:lpstr>
      <vt:lpstr>Outline of Lecture</vt:lpstr>
      <vt:lpstr>PowerPoint Presentation</vt:lpstr>
      <vt:lpstr>Conceptual ADC Operation</vt:lpstr>
      <vt:lpstr>Conceptual ADC Operation</vt:lpstr>
      <vt:lpstr>PowerPoint Presentation</vt:lpstr>
      <vt:lpstr>Flash ADC converter</vt:lpstr>
      <vt:lpstr>Resolution and speed of Flash A/D-converter</vt:lpstr>
      <vt:lpstr>Pipelined FLASH</vt:lpstr>
      <vt:lpstr>PowerPoint Presentation</vt:lpstr>
      <vt:lpstr>Successive Approximation ADC (SA-ADC)</vt:lpstr>
      <vt:lpstr>Successive Approximation ADC (SA-ADC)</vt:lpstr>
      <vt:lpstr>Pipelined FLASH</vt:lpstr>
      <vt:lpstr>Quick Understanding Check</vt:lpstr>
      <vt:lpstr>Quick Understanding Check</vt:lpstr>
      <vt:lpstr>References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Systems 2 Lecture</dc:title>
  <dc:creator>simon.winberg@uct.ac.za</dc:creator>
  <cp:keywords>Embedded Systems</cp:keywords>
  <cp:lastModifiedBy>Best Nkhumeleni</cp:lastModifiedBy>
  <cp:revision>1018</cp:revision>
  <dcterms:created xsi:type="dcterms:W3CDTF">2013-08-21T19:17:07Z</dcterms:created>
  <dcterms:modified xsi:type="dcterms:W3CDTF">2025-09-22T23:25:44Z</dcterms:modified>
  <cp:category>Computer Enigneering</cp:category>
</cp:coreProperties>
</file>