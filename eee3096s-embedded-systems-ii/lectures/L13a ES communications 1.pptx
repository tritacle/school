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78" r:id="rId3"/>
    <p:sldId id="329" r:id="rId4"/>
    <p:sldId id="331" r:id="rId5"/>
    <p:sldId id="332" r:id="rId6"/>
    <p:sldId id="333" r:id="rId7"/>
    <p:sldId id="334" r:id="rId8"/>
    <p:sldId id="341" r:id="rId9"/>
    <p:sldId id="342" r:id="rId10"/>
    <p:sldId id="335" r:id="rId11"/>
    <p:sldId id="336" r:id="rId12"/>
    <p:sldId id="337" r:id="rId13"/>
    <p:sldId id="339" r:id="rId14"/>
    <p:sldId id="340" r:id="rId15"/>
    <p:sldId id="338" r:id="rId16"/>
    <p:sldId id="33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843F06"/>
    <a:srgbClr val="FFFF99"/>
    <a:srgbClr val="7ABC32"/>
    <a:srgbClr val="FF6600"/>
    <a:srgbClr val="A56303"/>
    <a:srgbClr val="2A5A06"/>
    <a:srgbClr val="C0504D"/>
    <a:srgbClr val="D0962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820AC-EECB-4BCF-921E-1457BDB2158C}" v="10" dt="2025-08-31T20:43:34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277" autoAdjust="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st Nkhumeleni" userId="b300e668-787d-4599-876b-43d08ebe587e" providerId="ADAL" clId="{0916B446-E069-44F4-AB94-DF6427CE7736}"/>
    <pc:docChg chg="undo custSel addSld delSld modSld sldOrd">
      <pc:chgData name="Best Nkhumeleni" userId="b300e668-787d-4599-876b-43d08ebe587e" providerId="ADAL" clId="{0916B446-E069-44F4-AB94-DF6427CE7736}" dt="2025-08-31T20:58:29.110" v="507" actId="20577"/>
      <pc:docMkLst>
        <pc:docMk/>
      </pc:docMkLst>
      <pc:sldChg chg="modSp mod">
        <pc:chgData name="Best Nkhumeleni" userId="b300e668-787d-4599-876b-43d08ebe587e" providerId="ADAL" clId="{0916B446-E069-44F4-AB94-DF6427CE7736}" dt="2025-08-31T15:05:55.741" v="1" actId="313"/>
        <pc:sldMkLst>
          <pc:docMk/>
          <pc:sldMk cId="3247914920" sldId="329"/>
        </pc:sldMkLst>
        <pc:spChg chg="mod">
          <ac:chgData name="Best Nkhumeleni" userId="b300e668-787d-4599-876b-43d08ebe587e" providerId="ADAL" clId="{0916B446-E069-44F4-AB94-DF6427CE7736}" dt="2025-08-31T15:05:55.741" v="1" actId="313"/>
          <ac:spMkLst>
            <pc:docMk/>
            <pc:sldMk cId="3247914920" sldId="329"/>
            <ac:spMk id="2" creationId="{822EBBBF-0867-8A83-573C-CCFA35D43BEA}"/>
          </ac:spMkLst>
        </pc:spChg>
        <pc:spChg chg="mod">
          <ac:chgData name="Best Nkhumeleni" userId="b300e668-787d-4599-876b-43d08ebe587e" providerId="ADAL" clId="{0916B446-E069-44F4-AB94-DF6427CE7736}" dt="2025-08-31T15:05:50.582" v="0" actId="20577"/>
          <ac:spMkLst>
            <pc:docMk/>
            <pc:sldMk cId="3247914920" sldId="329"/>
            <ac:spMk id="3" creationId="{B545D61A-4AD9-08E7-431A-8DA41B4BAA57}"/>
          </ac:spMkLst>
        </pc:spChg>
      </pc:sldChg>
      <pc:sldChg chg="modSp mod">
        <pc:chgData name="Best Nkhumeleni" userId="b300e668-787d-4599-876b-43d08ebe587e" providerId="ADAL" clId="{0916B446-E069-44F4-AB94-DF6427CE7736}" dt="2025-08-31T17:24:11.818" v="8" actId="1035"/>
        <pc:sldMkLst>
          <pc:docMk/>
          <pc:sldMk cId="416731165" sldId="333"/>
        </pc:sldMkLst>
        <pc:spChg chg="mod">
          <ac:chgData name="Best Nkhumeleni" userId="b300e668-787d-4599-876b-43d08ebe587e" providerId="ADAL" clId="{0916B446-E069-44F4-AB94-DF6427CE7736}" dt="2025-08-31T17:24:11.818" v="8" actId="1035"/>
          <ac:spMkLst>
            <pc:docMk/>
            <pc:sldMk cId="416731165" sldId="333"/>
            <ac:spMk id="10" creationId="{379093E5-CD14-4405-AF8A-09FA565C1F14}"/>
          </ac:spMkLst>
        </pc:spChg>
        <pc:picChg chg="mod">
          <ac:chgData name="Best Nkhumeleni" userId="b300e668-787d-4599-876b-43d08ebe587e" providerId="ADAL" clId="{0916B446-E069-44F4-AB94-DF6427CE7736}" dt="2025-08-31T17:23:34.392" v="3" actId="1076"/>
          <ac:picMkLst>
            <pc:docMk/>
            <pc:sldMk cId="416731165" sldId="333"/>
            <ac:picMk id="4" creationId="{ED71A074-0DBE-A5AB-1989-618EE8ACFA12}"/>
          </ac:picMkLst>
        </pc:picChg>
      </pc:sldChg>
      <pc:sldChg chg="addSp delSp modSp mod modNotesTx">
        <pc:chgData name="Best Nkhumeleni" userId="b300e668-787d-4599-876b-43d08ebe587e" providerId="ADAL" clId="{0916B446-E069-44F4-AB94-DF6427CE7736}" dt="2025-08-31T20:39:54.183" v="373" actId="20577"/>
        <pc:sldMkLst>
          <pc:docMk/>
          <pc:sldMk cId="3919677195" sldId="334"/>
        </pc:sldMkLst>
        <pc:spChg chg="add del mod">
          <ac:chgData name="Best Nkhumeleni" userId="b300e668-787d-4599-876b-43d08ebe587e" providerId="ADAL" clId="{0916B446-E069-44F4-AB94-DF6427CE7736}" dt="2025-08-31T18:50:39.311" v="235"/>
          <ac:spMkLst>
            <pc:docMk/>
            <pc:sldMk cId="3919677195" sldId="334"/>
            <ac:spMk id="3" creationId="{5C90686B-BB9D-C8B7-4E9D-A3C3BB6A214E}"/>
          </ac:spMkLst>
        </pc:spChg>
        <pc:spChg chg="mod">
          <ac:chgData name="Best Nkhumeleni" userId="b300e668-787d-4599-876b-43d08ebe587e" providerId="ADAL" clId="{0916B446-E069-44F4-AB94-DF6427CE7736}" dt="2025-08-31T18:51:41.871" v="239" actId="5793"/>
          <ac:spMkLst>
            <pc:docMk/>
            <pc:sldMk cId="3919677195" sldId="334"/>
            <ac:spMk id="4" creationId="{23167F0C-AA9D-1B90-3B7C-AFD82101D062}"/>
          </ac:spMkLst>
        </pc:spChg>
        <pc:spChg chg="add mod">
          <ac:chgData name="Best Nkhumeleni" userId="b300e668-787d-4599-876b-43d08ebe587e" providerId="ADAL" clId="{0916B446-E069-44F4-AB94-DF6427CE7736}" dt="2025-08-31T18:50:21.142" v="231"/>
          <ac:spMkLst>
            <pc:docMk/>
            <pc:sldMk cId="3919677195" sldId="334"/>
            <ac:spMk id="6" creationId="{4F1FE5F4-F855-D727-9590-5817F3BAB825}"/>
          </ac:spMkLst>
        </pc:spChg>
        <pc:spChg chg="add mod">
          <ac:chgData name="Best Nkhumeleni" userId="b300e668-787d-4599-876b-43d08ebe587e" providerId="ADAL" clId="{0916B446-E069-44F4-AB94-DF6427CE7736}" dt="2025-08-31T18:50:20.919" v="230"/>
          <ac:spMkLst>
            <pc:docMk/>
            <pc:sldMk cId="3919677195" sldId="334"/>
            <ac:spMk id="8" creationId="{652DCCB8-A070-22B3-C9AE-AD1229BB99B6}"/>
          </ac:spMkLst>
        </pc:spChg>
      </pc:sldChg>
      <pc:sldChg chg="ord">
        <pc:chgData name="Best Nkhumeleni" userId="b300e668-787d-4599-876b-43d08ebe587e" providerId="ADAL" clId="{0916B446-E069-44F4-AB94-DF6427CE7736}" dt="2025-08-31T18:44:29.830" v="76"/>
        <pc:sldMkLst>
          <pc:docMk/>
          <pc:sldMk cId="3802611994" sldId="335"/>
        </pc:sldMkLst>
      </pc:sldChg>
      <pc:sldChg chg="modSp mod">
        <pc:chgData name="Best Nkhumeleni" userId="b300e668-787d-4599-876b-43d08ebe587e" providerId="ADAL" clId="{0916B446-E069-44F4-AB94-DF6427CE7736}" dt="2025-08-31T20:58:29.110" v="507" actId="20577"/>
        <pc:sldMkLst>
          <pc:docMk/>
          <pc:sldMk cId="2144615479" sldId="337"/>
        </pc:sldMkLst>
        <pc:spChg chg="mod">
          <ac:chgData name="Best Nkhumeleni" userId="b300e668-787d-4599-876b-43d08ebe587e" providerId="ADAL" clId="{0916B446-E069-44F4-AB94-DF6427CE7736}" dt="2025-08-31T20:58:29.110" v="507" actId="20577"/>
          <ac:spMkLst>
            <pc:docMk/>
            <pc:sldMk cId="2144615479" sldId="337"/>
            <ac:spMk id="4" creationId="{D095F016-0A82-9A9D-B537-4DDBBD8B24F4}"/>
          </ac:spMkLst>
        </pc:spChg>
      </pc:sldChg>
      <pc:sldChg chg="addSp delSp modSp new mod">
        <pc:chgData name="Best Nkhumeleni" userId="b300e668-787d-4599-876b-43d08ebe587e" providerId="ADAL" clId="{0916B446-E069-44F4-AB94-DF6427CE7736}" dt="2025-08-31T20:47:11.375" v="475" actId="113"/>
        <pc:sldMkLst>
          <pc:docMk/>
          <pc:sldMk cId="1058439631" sldId="341"/>
        </pc:sldMkLst>
        <pc:spChg chg="mod">
          <ac:chgData name="Best Nkhumeleni" userId="b300e668-787d-4599-876b-43d08ebe587e" providerId="ADAL" clId="{0916B446-E069-44F4-AB94-DF6427CE7736}" dt="2025-08-31T18:52:07.262" v="274" actId="20577"/>
          <ac:spMkLst>
            <pc:docMk/>
            <pc:sldMk cId="1058439631" sldId="341"/>
            <ac:spMk id="2" creationId="{02E8260D-642F-D42A-3915-B9729409344F}"/>
          </ac:spMkLst>
        </pc:spChg>
        <pc:spChg chg="add mod">
          <ac:chgData name="Best Nkhumeleni" userId="b300e668-787d-4599-876b-43d08ebe587e" providerId="ADAL" clId="{0916B446-E069-44F4-AB94-DF6427CE7736}" dt="2025-08-31T20:47:11.375" v="475" actId="113"/>
          <ac:spMkLst>
            <pc:docMk/>
            <pc:sldMk cId="1058439631" sldId="341"/>
            <ac:spMk id="4" creationId="{4BCD373E-175F-27A6-1698-CF180EC46670}"/>
          </ac:spMkLst>
        </pc:spChg>
        <pc:spChg chg="add mod">
          <ac:chgData name="Best Nkhumeleni" userId="b300e668-787d-4599-876b-43d08ebe587e" providerId="ADAL" clId="{0916B446-E069-44F4-AB94-DF6427CE7736}" dt="2025-08-31T20:47:09.100" v="474" actId="113"/>
          <ac:spMkLst>
            <pc:docMk/>
            <pc:sldMk cId="1058439631" sldId="341"/>
            <ac:spMk id="6" creationId="{44DB8A67-746E-1A0D-0E6E-FF11F285B4D5}"/>
          </ac:spMkLst>
        </pc:spChg>
        <pc:spChg chg="add del">
          <ac:chgData name="Best Nkhumeleni" userId="b300e668-787d-4599-876b-43d08ebe587e" providerId="ADAL" clId="{0916B446-E069-44F4-AB94-DF6427CE7736}" dt="2025-08-31T20:43:02.027" v="375" actId="478"/>
          <ac:spMkLst>
            <pc:docMk/>
            <pc:sldMk cId="1058439631" sldId="341"/>
            <ac:spMk id="7" creationId="{7C360BF8-8297-B992-62E4-221A517916A6}"/>
          </ac:spMkLst>
        </pc:spChg>
        <pc:spChg chg="add del mod">
          <ac:chgData name="Best Nkhumeleni" userId="b300e668-787d-4599-876b-43d08ebe587e" providerId="ADAL" clId="{0916B446-E069-44F4-AB94-DF6427CE7736}" dt="2025-08-31T20:44:55.205" v="394"/>
          <ac:spMkLst>
            <pc:docMk/>
            <pc:sldMk cId="1058439631" sldId="341"/>
            <ac:spMk id="9" creationId="{6DE5585A-892D-CD95-B96F-2E0B79C786B9}"/>
          </ac:spMkLst>
        </pc:spChg>
        <pc:spChg chg="add del mod">
          <ac:chgData name="Best Nkhumeleni" userId="b300e668-787d-4599-876b-43d08ebe587e" providerId="ADAL" clId="{0916B446-E069-44F4-AB94-DF6427CE7736}" dt="2025-08-31T20:45:05.695" v="399"/>
          <ac:spMkLst>
            <pc:docMk/>
            <pc:sldMk cId="1058439631" sldId="341"/>
            <ac:spMk id="11" creationId="{3B6C7100-216F-324F-A083-97C50DB390F9}"/>
          </ac:spMkLst>
        </pc:spChg>
      </pc:sldChg>
      <pc:sldChg chg="del">
        <pc:chgData name="Best Nkhumeleni" userId="b300e668-787d-4599-876b-43d08ebe587e" providerId="ADAL" clId="{0916B446-E069-44F4-AB94-DF6427CE7736}" dt="2025-08-31T18:09:48.612" v="11" actId="47"/>
        <pc:sldMkLst>
          <pc:docMk/>
          <pc:sldMk cId="3955458950" sldId="341"/>
        </pc:sldMkLst>
      </pc:sldChg>
      <pc:sldChg chg="del">
        <pc:chgData name="Best Nkhumeleni" userId="b300e668-787d-4599-876b-43d08ebe587e" providerId="ADAL" clId="{0916B446-E069-44F4-AB94-DF6427CE7736}" dt="2025-08-31T18:09:47.700" v="10" actId="47"/>
        <pc:sldMkLst>
          <pc:docMk/>
          <pc:sldMk cId="2158219944" sldId="342"/>
        </pc:sldMkLst>
      </pc:sldChg>
      <pc:sldChg chg="addSp delSp modSp new mod modClrScheme chgLayout">
        <pc:chgData name="Best Nkhumeleni" userId="b300e668-787d-4599-876b-43d08ebe587e" providerId="ADAL" clId="{0916B446-E069-44F4-AB94-DF6427CE7736}" dt="2025-08-31T20:46:07.084" v="470" actId="20577"/>
        <pc:sldMkLst>
          <pc:docMk/>
          <pc:sldMk cId="2655085151" sldId="342"/>
        </pc:sldMkLst>
        <pc:spChg chg="del">
          <ac:chgData name="Best Nkhumeleni" userId="b300e668-787d-4599-876b-43d08ebe587e" providerId="ADAL" clId="{0916B446-E069-44F4-AB94-DF6427CE7736}" dt="2025-08-31T20:45:21.426" v="402" actId="26606"/>
          <ac:spMkLst>
            <pc:docMk/>
            <pc:sldMk cId="2655085151" sldId="342"/>
            <ac:spMk id="2" creationId="{0957764C-4478-2272-E7EA-0A16CFC336E7}"/>
          </ac:spMkLst>
        </pc:spChg>
        <pc:spChg chg="add mod ord">
          <ac:chgData name="Best Nkhumeleni" userId="b300e668-787d-4599-876b-43d08ebe587e" providerId="ADAL" clId="{0916B446-E069-44F4-AB94-DF6427CE7736}" dt="2025-08-31T20:45:21.426" v="402" actId="26606"/>
          <ac:spMkLst>
            <pc:docMk/>
            <pc:sldMk cId="2655085151" sldId="342"/>
            <ac:spMk id="4" creationId="{42872232-150C-8168-0BDC-6A1CD9D037E7}"/>
          </ac:spMkLst>
        </pc:spChg>
        <pc:spChg chg="add mod">
          <ac:chgData name="Best Nkhumeleni" userId="b300e668-787d-4599-876b-43d08ebe587e" providerId="ADAL" clId="{0916B446-E069-44F4-AB94-DF6427CE7736}" dt="2025-08-31T20:45:21.426" v="402" actId="26606"/>
          <ac:spMkLst>
            <pc:docMk/>
            <pc:sldMk cId="2655085151" sldId="342"/>
            <ac:spMk id="6" creationId="{615360E0-7292-4BEB-9677-0F6CC7C0A05F}"/>
          </ac:spMkLst>
        </pc:spChg>
        <pc:spChg chg="add mod">
          <ac:chgData name="Best Nkhumeleni" userId="b300e668-787d-4599-876b-43d08ebe587e" providerId="ADAL" clId="{0916B446-E069-44F4-AB94-DF6427CE7736}" dt="2025-08-31T20:46:07.084" v="470" actId="20577"/>
          <ac:spMkLst>
            <pc:docMk/>
            <pc:sldMk cId="2655085151" sldId="342"/>
            <ac:spMk id="11" creationId="{50B885F2-3FC1-FBEB-6063-57CEDDB857EA}"/>
          </ac:spMkLst>
        </pc:spChg>
        <pc:spChg chg="add mod">
          <ac:chgData name="Best Nkhumeleni" userId="b300e668-787d-4599-876b-43d08ebe587e" providerId="ADAL" clId="{0916B446-E069-44F4-AB94-DF6427CE7736}" dt="2025-08-31T20:45:31.958" v="427" actId="20577"/>
          <ac:spMkLst>
            <pc:docMk/>
            <pc:sldMk cId="2655085151" sldId="342"/>
            <ac:spMk id="13" creationId="{129D4C33-36CC-6A81-C216-6DBC855783CF}"/>
          </ac:spMkLst>
        </pc:spChg>
        <pc:spChg chg="add mod">
          <ac:chgData name="Best Nkhumeleni" userId="b300e668-787d-4599-876b-43d08ebe587e" providerId="ADAL" clId="{0916B446-E069-44F4-AB94-DF6427CE7736}" dt="2025-08-31T20:45:40.133" v="449" actId="20577"/>
          <ac:spMkLst>
            <pc:docMk/>
            <pc:sldMk cId="2655085151" sldId="342"/>
            <ac:spMk id="15" creationId="{3895A716-7F72-72F3-C1D9-E4C7168630ED}"/>
          </ac:spMkLst>
        </pc:spChg>
      </pc:sldChg>
      <pc:sldChg chg="del">
        <pc:chgData name="Best Nkhumeleni" userId="b300e668-787d-4599-876b-43d08ebe587e" providerId="ADAL" clId="{0916B446-E069-44F4-AB94-DF6427CE7736}" dt="2025-08-31T18:09:46.889" v="9" actId="47"/>
        <pc:sldMkLst>
          <pc:docMk/>
          <pc:sldMk cId="3450050098" sldId="343"/>
        </pc:sldMkLst>
      </pc:sldChg>
      <pc:sldChg chg="del">
        <pc:chgData name="Best Nkhumeleni" userId="b300e668-787d-4599-876b-43d08ebe587e" providerId="ADAL" clId="{0916B446-E069-44F4-AB94-DF6427CE7736}" dt="2025-08-31T18:20:58.803" v="12" actId="47"/>
        <pc:sldMkLst>
          <pc:docMk/>
          <pc:sldMk cId="895552723" sldId="344"/>
        </pc:sldMkLst>
      </pc:sldChg>
      <pc:sldChg chg="del">
        <pc:chgData name="Best Nkhumeleni" userId="b300e668-787d-4599-876b-43d08ebe587e" providerId="ADAL" clId="{0916B446-E069-44F4-AB94-DF6427CE7736}" dt="2025-08-31T18:21:02.267" v="13" actId="47"/>
        <pc:sldMkLst>
          <pc:docMk/>
          <pc:sldMk cId="4257826616" sldId="345"/>
        </pc:sldMkLst>
      </pc:sldChg>
      <pc:sldChg chg="del">
        <pc:chgData name="Best Nkhumeleni" userId="b300e668-787d-4599-876b-43d08ebe587e" providerId="ADAL" clId="{0916B446-E069-44F4-AB94-DF6427CE7736}" dt="2025-08-31T18:21:10.312" v="14" actId="47"/>
        <pc:sldMkLst>
          <pc:docMk/>
          <pc:sldMk cId="3767365987" sldId="346"/>
        </pc:sldMkLst>
      </pc:sldChg>
      <pc:sldChg chg="del">
        <pc:chgData name="Best Nkhumeleni" userId="b300e668-787d-4599-876b-43d08ebe587e" providerId="ADAL" clId="{0916B446-E069-44F4-AB94-DF6427CE7736}" dt="2025-08-31T18:22:49.287" v="15" actId="47"/>
        <pc:sldMkLst>
          <pc:docMk/>
          <pc:sldMk cId="685823280" sldId="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E8575-32E8-47C1-A317-B277AE278254}" type="datetimeFigureOut">
              <a:rPr lang="en-ZA" smtClean="0"/>
              <a:t>2025/08/31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4CD1D-11D4-44B3-97CF-91828C00CDF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854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Big END – smallest mem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4CD1D-11D4-44B3-97CF-91828C00CDF1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387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57313" cy="7167985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0" y="3734410"/>
            <a:ext cx="7329840" cy="1527050"/>
          </a:xfrm>
          <a:effectLst/>
        </p:spPr>
        <p:txBody>
          <a:bodyPr>
            <a:normAutofit/>
          </a:bodyPr>
          <a:lstStyle>
            <a:lvl1pPr algn="l">
              <a:defRPr sz="4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1670" y="5414165"/>
            <a:ext cx="7329840" cy="458115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Lecture Number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663706" y="4940778"/>
            <a:ext cx="62792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Embedded Systems II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317" y="1063256"/>
            <a:ext cx="8076895" cy="509299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3200">
                <a:solidFill>
                  <a:srgbClr val="002060"/>
                </a:solidFill>
              </a:defRPr>
            </a:lvl2pPr>
            <a:lvl3pPr>
              <a:defRPr sz="2800">
                <a:solidFill>
                  <a:srgbClr val="002060"/>
                </a:solidFill>
              </a:defRPr>
            </a:lvl3pPr>
            <a:lvl4pPr>
              <a:defRPr sz="2400">
                <a:solidFill>
                  <a:srgbClr val="002060"/>
                </a:solidFill>
              </a:defRPr>
            </a:lvl4pPr>
            <a:lvl5pPr>
              <a:defRPr sz="2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62" y="265814"/>
            <a:ext cx="8123275" cy="709272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374901"/>
            <a:ext cx="7932424" cy="610820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1" y="1138425"/>
            <a:ext cx="4733854" cy="488656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Embedded Systems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4724705" y="1138425"/>
            <a:ext cx="3809389" cy="503926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80334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03158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2128720" y="5971330"/>
            <a:ext cx="47001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Embedded Systems II</a:t>
            </a:r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95" y="273501"/>
            <a:ext cx="8091378" cy="651532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8466" y="1138425"/>
            <a:ext cx="4038600" cy="4886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6934" y="1138425"/>
            <a:ext cx="4038600" cy="4886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22194"/>
            <a:ext cx="8229600" cy="565205"/>
          </a:xfrm>
          <a:solidFill>
            <a:schemeClr val="tx2">
              <a:lumMod val="75000"/>
            </a:schemeClr>
          </a:solidFill>
        </p:spPr>
        <p:txBody>
          <a:bodyPr lIns="126000" rIns="12600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965" y="835454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965" y="1465316"/>
            <a:ext cx="4040188" cy="3490733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>
                <a:solidFill>
                  <a:srgbClr val="002060"/>
                </a:solidFill>
              </a:defRPr>
            </a:lvl2pPr>
            <a:lvl3pPr>
              <a:defRPr sz="18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90" y="835454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90" y="1465316"/>
            <a:ext cx="4041775" cy="3490733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>
                <a:solidFill>
                  <a:srgbClr val="002060"/>
                </a:solidFill>
              </a:defRPr>
            </a:lvl2pPr>
            <a:lvl3pPr>
              <a:defRPr sz="18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62" y="276448"/>
            <a:ext cx="8123276" cy="733646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19082"/>
            <a:ext cx="2133600" cy="365125"/>
          </a:xfrm>
          <a:prstGeom prst="rect">
            <a:avLst/>
          </a:prstGeom>
        </p:spPr>
        <p:txBody>
          <a:bodyPr/>
          <a:lstStyle/>
          <a:p>
            <a:fld id="{53074F12-AA26-4AC8-9962-C36BB8F32554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95" y="274638"/>
            <a:ext cx="8102010" cy="777985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0994" y="1201479"/>
            <a:ext cx="8102011" cy="5281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78726" y="274638"/>
            <a:ext cx="733642" cy="6317548"/>
          </a:xfrm>
          <a:solidFill>
            <a:schemeClr val="tx2">
              <a:lumMod val="75000"/>
            </a:schemeClr>
          </a:solidFill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2260" y="274638"/>
            <a:ext cx="7236544" cy="60684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19082"/>
            <a:ext cx="2133600" cy="365125"/>
          </a:xfrm>
          <a:prstGeom prst="rect">
            <a:avLst/>
          </a:prstGeom>
        </p:spPr>
        <p:txBody>
          <a:bodyPr/>
          <a:lstStyle/>
          <a:p>
            <a:fld id="{53074F12-AA26-4AC8-9962-C36BB8F32554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258" y="-14515"/>
            <a:ext cx="9218395" cy="6917141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457200" y="222195"/>
            <a:ext cx="8229600" cy="6427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8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43095"/>
            <a:ext cx="556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70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synchronous_communication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en.wikipedia.org/wiki/Synchronous_serial_communication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rallel_communication#/media/File:Parallel_and_Serial_Transmission.gif" TargetMode="External"/><Relationship Id="rId2" Type="http://schemas.openxmlformats.org/officeDocument/2006/relationships/hyperlink" Target="https://en.wikipedia.org/wiki/Endiannes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aveshare.com/raspberry-pi-zero-wh.htm" TargetMode="External"/><Relationship Id="rId5" Type="http://schemas.openxmlformats.org/officeDocument/2006/relationships/hyperlink" Target="https://ilmversity.com/importance-of-iot-in-education/" TargetMode="External"/><Relationship Id="rId4" Type="http://schemas.openxmlformats.org/officeDocument/2006/relationships/hyperlink" Target="https://www.watelectronics.com/classification-of-embedded-system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021102" y="5872280"/>
            <a:ext cx="421211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Mr. Nkhumeleni Best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492" y="5728038"/>
            <a:ext cx="1085871" cy="11080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0703" y="5967102"/>
            <a:ext cx="1945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Electrical Engineering</a:t>
            </a:r>
          </a:p>
          <a:p>
            <a:r>
              <a:rPr lang="en-ZA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University of Cape Town</a:t>
            </a:r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601671" y="3714890"/>
            <a:ext cx="7940660" cy="1527050"/>
          </a:xfrm>
        </p:spPr>
        <p:txBody>
          <a:bodyPr>
            <a:normAutofit/>
          </a:bodyPr>
          <a:lstStyle/>
          <a:p>
            <a:r>
              <a:rPr lang="en-ZA" dirty="0"/>
              <a:t>Embedded Communications 1/3</a:t>
            </a:r>
            <a:endParaRPr lang="en-ZA" i="1" dirty="0"/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A" dirty="0"/>
              <a:t>L09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A126EC-5845-64CF-E557-01C698327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322" y="350093"/>
            <a:ext cx="1657628" cy="139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960508-0A56-DB8F-FBC1-E8D43F7DA3A9}"/>
              </a:ext>
            </a:extLst>
          </p:cNvPr>
          <p:cNvSpPr txBox="1"/>
          <p:nvPr/>
        </p:nvSpPr>
        <p:spPr>
          <a:xfrm>
            <a:off x="160546" y="1770971"/>
            <a:ext cx="1777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Embedded </a:t>
            </a:r>
          </a:p>
          <a:p>
            <a:pPr algn="ctr"/>
            <a:r>
              <a:rPr lang="en-US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Systems II</a:t>
            </a:r>
            <a:endParaRPr lang="en-ZA" dirty="0">
              <a:ln>
                <a:solidFill>
                  <a:schemeClr val="tx2">
                    <a:lumMod val="75000"/>
                  </a:schemeClr>
                </a:solidFill>
              </a:ln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D85A185-12D7-485B-183B-64253936D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696" y="1035639"/>
            <a:ext cx="4630195" cy="29409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2E7C83-B049-B137-07B1-03FCEADE43FE}"/>
              </a:ext>
            </a:extLst>
          </p:cNvPr>
          <p:cNvSpPr txBox="1"/>
          <p:nvPr/>
        </p:nvSpPr>
        <p:spPr>
          <a:xfrm rot="20286210">
            <a:off x="4748908" y="2020197"/>
            <a:ext cx="1079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b="1" dirty="0">
                <a:solidFill>
                  <a:schemeClr val="accent6">
                    <a:lumMod val="50000"/>
                  </a:schemeClr>
                </a:solidFill>
              </a:rPr>
              <a:t>V.S.</a:t>
            </a:r>
            <a:endParaRPr lang="en-ZA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5317" y="1044006"/>
            <a:ext cx="8184343" cy="5092995"/>
          </a:xfrm>
        </p:spPr>
        <p:txBody>
          <a:bodyPr>
            <a:normAutofit/>
          </a:bodyPr>
          <a:lstStyle/>
          <a:p>
            <a:r>
              <a:rPr lang="en-ZA" altLang="en-US" dirty="0"/>
              <a:t>Intro to embedded communications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Lecture</a:t>
            </a:r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C0146-FB4F-5EF9-1675-68D643DE1E02}"/>
              </a:ext>
            </a:extLst>
          </p:cNvPr>
          <p:cNvSpPr txBox="1"/>
          <p:nvPr/>
        </p:nvSpPr>
        <p:spPr>
          <a:xfrm>
            <a:off x="510362" y="6137001"/>
            <a:ext cx="7726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altLang="en-US" dirty="0"/>
              <a:t>Acknowledgement: these slides adapted from ESII 2021 slides by J. Wyngaard.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EFD63-7354-D3B8-892F-E8413DA1099A}"/>
              </a:ext>
            </a:extLst>
          </p:cNvPr>
          <p:cNvSpPr txBox="1"/>
          <p:nvPr/>
        </p:nvSpPr>
        <p:spPr>
          <a:xfrm>
            <a:off x="708721" y="2355714"/>
            <a:ext cx="7329840" cy="1200329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ZA" altLang="en-US" b="1" dirty="0"/>
              <a:t>Plan for today: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altLang="en-US" dirty="0"/>
              <a:t>Quick training (or ‘review’ for most of you probably) regarding</a:t>
            </a:r>
            <a:br>
              <a:rPr lang="en-ZA" altLang="en-US" dirty="0"/>
            </a:br>
            <a:r>
              <a:rPr lang="en-ZA" altLang="en-US" dirty="0"/>
              <a:t>   “Embedded Communications essentials“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altLang="en-US" dirty="0"/>
              <a:t>Diving into I2C  and a few semaphore-answered questions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6474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2EBBBF-0867-8A83-573C-CCFA35D43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/>
              <a:t>Comms 1: </a:t>
            </a:r>
          </a:p>
          <a:p>
            <a:pPr lvl="1"/>
            <a:r>
              <a:rPr lang="en-ZA" dirty="0"/>
              <a:t>Intro: Serial vs Parallel, Synch/</a:t>
            </a:r>
            <a:r>
              <a:rPr lang="en-ZA" dirty="0" err="1"/>
              <a:t>Asynch</a:t>
            </a:r>
            <a:endParaRPr lang="en-ZA" dirty="0"/>
          </a:p>
          <a:p>
            <a:r>
              <a:rPr lang="en-ZA" dirty="0"/>
              <a:t>Comms 2:</a:t>
            </a:r>
          </a:p>
          <a:p>
            <a:pPr lvl="1"/>
            <a:r>
              <a:rPr lang="en-ZA" dirty="0"/>
              <a:t>I2C &amp; SPI </a:t>
            </a:r>
          </a:p>
          <a:p>
            <a:pPr lvl="1"/>
            <a:r>
              <a:rPr lang="en-ZA" dirty="0"/>
              <a:t>PWMs &amp; Peripherals</a:t>
            </a:r>
          </a:p>
          <a:p>
            <a:r>
              <a:rPr lang="en-ZA" dirty="0"/>
              <a:t>Comms 3:</a:t>
            </a:r>
          </a:p>
          <a:p>
            <a:pPr lvl="1"/>
            <a:r>
              <a:rPr lang="en-ZA" dirty="0"/>
              <a:t>Timers</a:t>
            </a:r>
          </a:p>
          <a:p>
            <a:pPr lvl="1"/>
            <a:r>
              <a:rPr lang="en-ZA" dirty="0"/>
              <a:t>RS232 &amp; RS485</a:t>
            </a:r>
          </a:p>
          <a:p>
            <a:pPr lvl="1"/>
            <a:r>
              <a:rPr lang="en-ZA" dirty="0"/>
              <a:t>Brieﬂy, some other interface protocols</a:t>
            </a:r>
          </a:p>
          <a:p>
            <a:pPr lvl="1"/>
            <a:r>
              <a:rPr lang="en-ZA" dirty="0"/>
              <a:t>{Brief Introduction to Wireless Communications – if time permits}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45D61A-4AD9-08E7-431A-8DA41B4B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ES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24791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9B4B61-72E7-0355-6D51-A18D9311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700"/>
              <a:t>EE Communications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CB5AB03-F06F-5F8D-02B4-A3AD5A958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096" y="2665476"/>
            <a:ext cx="5148824" cy="3784386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22F8AD-2FD6-EEBF-23C7-D81BCF5602D7}"/>
              </a:ext>
            </a:extLst>
          </p:cNvPr>
          <p:cNvSpPr txBox="1"/>
          <p:nvPr/>
        </p:nvSpPr>
        <p:spPr>
          <a:xfrm>
            <a:off x="624075" y="1188206"/>
            <a:ext cx="7862013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i="1" dirty="0"/>
              <a:t>Reminder:</a:t>
            </a:r>
            <a:r>
              <a:rPr lang="en-US" sz="2000" dirty="0"/>
              <a:t> Definition of an embedded system: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An ES is a task-specific computer, built into a larger system for the purpose of controlling and monitoring the larger system.  </a:t>
            </a:r>
            <a:r>
              <a:rPr lang="en-US" dirty="0"/>
              <a:t>(i.e., as per earlier “Brisbane” definition [John </a:t>
            </a:r>
            <a:r>
              <a:rPr lang="en-US" dirty="0" err="1"/>
              <a:t>Catsoulis</a:t>
            </a:r>
            <a:r>
              <a:rPr lang="en-US" dirty="0"/>
              <a:t>]) 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C04C-EF06-37B1-6C44-871D0D25D078}"/>
              </a:ext>
            </a:extLst>
          </p:cNvPr>
          <p:cNvSpPr txBox="1"/>
          <p:nvPr/>
        </p:nvSpPr>
        <p:spPr>
          <a:xfrm>
            <a:off x="586580" y="2992819"/>
            <a:ext cx="28876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microcontroller or microprocessor </a:t>
            </a:r>
            <a:r>
              <a:rPr lang="en-US" sz="2000" i="1" dirty="0"/>
              <a:t>is just 1 part</a:t>
            </a:r>
            <a:r>
              <a:rPr lang="en-US" sz="2000" dirty="0"/>
              <a:t> of that larger system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These micros need to be able to interact with the larger system and the physical world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is do via either or both wired and wireless interfaces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1647614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73A90-DFCD-5FE1-741F-1A477BDA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View of a wired ES comms interface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39C472EB-3315-5E8C-B3BF-E83E9D389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83" y="1595714"/>
            <a:ext cx="7666123" cy="3783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994A9D-0778-D682-47BC-0182CFC6F3C9}"/>
              </a:ext>
            </a:extLst>
          </p:cNvPr>
          <p:cNvSpPr txBox="1"/>
          <p:nvPr/>
        </p:nvSpPr>
        <p:spPr>
          <a:xfrm>
            <a:off x="589683" y="1118238"/>
            <a:ext cx="7678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Classification hierarchy of wired communications, formal standards at bottom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8BFE7-1F22-DB20-55F2-84DF92896AFD}"/>
              </a:ext>
            </a:extLst>
          </p:cNvPr>
          <p:cNvSpPr txBox="1"/>
          <p:nvPr/>
        </p:nvSpPr>
        <p:spPr>
          <a:xfrm>
            <a:off x="589683" y="5555096"/>
            <a:ext cx="79526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In this course we will look at serial standards of:</a:t>
            </a:r>
          </a:p>
          <a:p>
            <a:r>
              <a:rPr lang="en-ZA" dirty="0"/>
              <a:t> UART / RS232 (quite similar but wiring and voltages for RS232 are more specific),</a:t>
            </a:r>
            <a:br>
              <a:rPr lang="en-ZA" dirty="0"/>
            </a:br>
            <a:r>
              <a:rPr lang="en-ZA" dirty="0"/>
              <a:t> Serial Peripheral Interface (SPI) and Inter-Integrated Circuit (I2C) protocols</a:t>
            </a:r>
          </a:p>
        </p:txBody>
      </p:sp>
    </p:spTree>
    <p:extLst>
      <p:ext uri="{BB962C8B-B14F-4D97-AF65-F5344CB8AC3E}">
        <p14:creationId xmlns:p14="http://schemas.microsoft.com/office/powerpoint/2010/main" val="276669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B923-A8FE-10F0-D276-E52B9CA2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Parallel vs Serial Communications</a:t>
            </a:r>
          </a:p>
        </p:txBody>
      </p:sp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ED71A074-0DBE-A5AB-1989-618EE8ACF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15" y="1071049"/>
            <a:ext cx="4189658" cy="4346648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00BB637-5CE8-DDF7-13D5-17E727491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830" y="2183700"/>
            <a:ext cx="3908933" cy="2482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15C0FD-0915-CAF9-F627-3A7E47771A6B}"/>
              </a:ext>
            </a:extLst>
          </p:cNvPr>
          <p:cNvSpPr txBox="1"/>
          <p:nvPr/>
        </p:nvSpPr>
        <p:spPr>
          <a:xfrm>
            <a:off x="543627" y="5408072"/>
            <a:ext cx="47726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b="1" dirty="0"/>
              <a:t>Serial vs Parallel Interface structure</a:t>
            </a:r>
          </a:p>
          <a:p>
            <a:r>
              <a:rPr lang="en-ZA" sz="1400" dirty="0"/>
              <a:t>Parallel sends multiple bits of data in one go on separate lines; whereas serial sends one bit of data on one line at a time*.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CDB7A-56E7-73D9-9D79-FB2C50EEBF35}"/>
              </a:ext>
            </a:extLst>
          </p:cNvPr>
          <p:cNvSpPr txBox="1"/>
          <p:nvPr/>
        </p:nvSpPr>
        <p:spPr>
          <a:xfrm>
            <a:off x="453618" y="6223736"/>
            <a:ext cx="8014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/>
              <a:t>* actually, that is the simplest half-duplex form, serial may be full-duplex and possibly send multiple bits in parallel but not technically a whole word of data in one moment.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093E5-CD14-4405-AF8A-09FA565C1F14}"/>
              </a:ext>
            </a:extLst>
          </p:cNvPr>
          <p:cNvSpPr txBox="1"/>
          <p:nvPr/>
        </p:nvSpPr>
        <p:spPr>
          <a:xfrm>
            <a:off x="4705986" y="1291130"/>
            <a:ext cx="35904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b="1" dirty="0"/>
              <a:t>Illustration of data waveforms in time illustrating that parallel sends multiple bits in one time unit vs. serial sending a bit at a time.</a:t>
            </a:r>
            <a:endParaRPr lang="en-ZA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CC1B1-5D8C-3D3C-C5CE-548F1A3E77A3}"/>
              </a:ext>
            </a:extLst>
          </p:cNvPr>
          <p:cNvSpPr txBox="1"/>
          <p:nvPr/>
        </p:nvSpPr>
        <p:spPr>
          <a:xfrm rot="20286210">
            <a:off x="6468360" y="2947761"/>
            <a:ext cx="952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b="1" dirty="0">
                <a:solidFill>
                  <a:schemeClr val="accent6">
                    <a:lumMod val="50000"/>
                  </a:schemeClr>
                </a:solidFill>
              </a:rPr>
              <a:t>V.S.</a:t>
            </a:r>
            <a:endParaRPr lang="en-ZA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31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6295F328-53F5-7A78-9CAA-B446D38A3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480" y="1760234"/>
            <a:ext cx="2866281" cy="4854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13E614-9DBA-3025-934E-ECB73BEA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Wired Comms </a:t>
            </a:r>
            <a:r>
              <a:rPr lang="en-ZA" dirty="0" err="1"/>
              <a:t>Endianess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67F0C-AA9D-1B90-3B7C-AFD82101D062}"/>
              </a:ext>
            </a:extLst>
          </p:cNvPr>
          <p:cNvSpPr txBox="1"/>
          <p:nvPr/>
        </p:nvSpPr>
        <p:spPr>
          <a:xfrm>
            <a:off x="632368" y="2025628"/>
            <a:ext cx="46056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b="1" dirty="0"/>
              <a:t>Big-endian (BE):</a:t>
            </a:r>
            <a:r>
              <a:rPr lang="en-ZA" sz="2000" dirty="0"/>
              <a:t> The most signiﬁcant byte (MSB) of a word is stored at the smallest memory address and the least signiﬁcant byte (LSB) at the largest.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b="1" dirty="0"/>
              <a:t>Little-endian (LE):</a:t>
            </a:r>
            <a:r>
              <a:rPr lang="en-ZA" sz="2000" dirty="0"/>
              <a:t> The LSB is stored at the smallest address.</a:t>
            </a:r>
          </a:p>
          <a:p>
            <a:endParaRPr lang="en-ZA" sz="2000" dirty="0"/>
          </a:p>
          <a:p>
            <a:r>
              <a:rPr lang="en-ZA" sz="2000" dirty="0"/>
              <a:t>For data transmission: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b="1" dirty="0"/>
              <a:t>Big-endian (BE):</a:t>
            </a:r>
            <a:r>
              <a:rPr lang="en-ZA" sz="2000" dirty="0"/>
              <a:t> Means the most signiﬁcant bit is transmitted ﬁrst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b="1" dirty="0"/>
              <a:t>Little-endian (LE):</a:t>
            </a:r>
            <a:r>
              <a:rPr lang="en-ZA" sz="2000" dirty="0"/>
              <a:t> Means the most signiﬁcant bit is transmitted last</a:t>
            </a:r>
          </a:p>
          <a:p>
            <a:endParaRPr lang="en-Z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B4ED5-0306-D42E-D4DC-119D93BFB3EA}"/>
              </a:ext>
            </a:extLst>
          </p:cNvPr>
          <p:cNvSpPr txBox="1"/>
          <p:nvPr/>
        </p:nvSpPr>
        <p:spPr>
          <a:xfrm>
            <a:off x="632368" y="1010094"/>
            <a:ext cx="78792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dirty="0" err="1"/>
              <a:t>Endianess</a:t>
            </a:r>
            <a:r>
              <a:rPr lang="en-ZA" sz="2400" dirty="0"/>
              <a:t> =  the order or sequence of bytes of a word of digital data in computer memory (or in a data register).</a:t>
            </a:r>
          </a:p>
        </p:txBody>
      </p:sp>
    </p:spTree>
    <p:extLst>
      <p:ext uri="{BB962C8B-B14F-4D97-AF65-F5344CB8AC3E}">
        <p14:creationId xmlns:p14="http://schemas.microsoft.com/office/powerpoint/2010/main" val="3919677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60D-642F-D42A-3915-B9729409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Endian Examples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D373E-175F-27A6-1698-CF180EC46670}"/>
              </a:ext>
            </a:extLst>
          </p:cNvPr>
          <p:cNvSpPr txBox="1"/>
          <p:nvPr/>
        </p:nvSpPr>
        <p:spPr>
          <a:xfrm>
            <a:off x="601670" y="1596540"/>
            <a:ext cx="46135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dirty="0"/>
              <a:t>Big Endian</a:t>
            </a:r>
          </a:p>
          <a:p>
            <a:r>
              <a:rPr lang="en-ZA" b="1" dirty="0"/>
              <a:t>Address → Value</a:t>
            </a:r>
          </a:p>
          <a:p>
            <a:r>
              <a:rPr lang="en-ZA" dirty="0"/>
              <a:t>0x00    12</a:t>
            </a:r>
          </a:p>
          <a:p>
            <a:r>
              <a:rPr lang="en-ZA" dirty="0"/>
              <a:t>0x01    34</a:t>
            </a:r>
          </a:p>
          <a:p>
            <a:r>
              <a:rPr lang="en-ZA" dirty="0"/>
              <a:t>0x02    56</a:t>
            </a:r>
          </a:p>
          <a:p>
            <a:r>
              <a:rPr lang="en-ZA" dirty="0"/>
              <a:t>0x03    78</a:t>
            </a:r>
          </a:p>
          <a:p>
            <a:endParaRPr lang="en-ZA" dirty="0"/>
          </a:p>
          <a:p>
            <a:r>
              <a:rPr lang="en-US" dirty="0"/>
              <a:t>(MSB 12 is stored first)</a:t>
            </a:r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B8A67-746E-1A0D-0E6E-FF11F285B4D5}"/>
              </a:ext>
            </a:extLst>
          </p:cNvPr>
          <p:cNvSpPr txBox="1"/>
          <p:nvPr/>
        </p:nvSpPr>
        <p:spPr>
          <a:xfrm>
            <a:off x="4113885" y="1596540"/>
            <a:ext cx="46135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dirty="0"/>
              <a:t>Little Endian</a:t>
            </a:r>
          </a:p>
          <a:p>
            <a:r>
              <a:rPr lang="en-ZA" b="1" dirty="0"/>
              <a:t>Address → Value</a:t>
            </a:r>
          </a:p>
          <a:p>
            <a:r>
              <a:rPr lang="en-ZA" dirty="0"/>
              <a:t>0x00    78</a:t>
            </a:r>
          </a:p>
          <a:p>
            <a:r>
              <a:rPr lang="en-ZA" dirty="0"/>
              <a:t>0x01    56</a:t>
            </a:r>
          </a:p>
          <a:p>
            <a:r>
              <a:rPr lang="en-ZA" dirty="0"/>
              <a:t>0x02    34</a:t>
            </a:r>
          </a:p>
          <a:p>
            <a:r>
              <a:rPr lang="en-ZA" dirty="0"/>
              <a:t>0x03    12</a:t>
            </a:r>
          </a:p>
          <a:p>
            <a:endParaRPr lang="en-ZA" dirty="0"/>
          </a:p>
          <a:p>
            <a:r>
              <a:rPr lang="en-US" dirty="0"/>
              <a:t>(LSB 78 is stored first)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8439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0B885F2-3FC1-FBEB-6063-57CEDDB85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65" y="222194"/>
            <a:ext cx="8229600" cy="565205"/>
          </a:xfrm>
        </p:spPr>
        <p:txBody>
          <a:bodyPr>
            <a:normAutofit fontScale="90000"/>
          </a:bodyPr>
          <a:lstStyle/>
          <a:p>
            <a:r>
              <a:rPr lang="en-US" dirty="0"/>
              <a:t>Endian use cases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29D4C33-36CC-6A81-C216-6DBC8557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965" y="835454"/>
            <a:ext cx="4040188" cy="639762"/>
          </a:xfrm>
        </p:spPr>
        <p:txBody>
          <a:bodyPr/>
          <a:lstStyle/>
          <a:p>
            <a:r>
              <a:rPr lang="en-US" dirty="0"/>
              <a:t>Big endian uses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360E0-7292-4BEB-9677-0F6CC7C0A05F}"/>
              </a:ext>
            </a:extLst>
          </p:cNvPr>
          <p:cNvSpPr txBox="1"/>
          <p:nvPr/>
        </p:nvSpPr>
        <p:spPr>
          <a:xfrm>
            <a:off x="448965" y="1465316"/>
            <a:ext cx="4040188" cy="3490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Big Endian Systems (less common today)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Old Motorola 68k processors</a:t>
            </a:r>
            <a:r>
              <a:rPr lang="en-US" sz="1500">
                <a:solidFill>
                  <a:srgbClr val="002060"/>
                </a:solidFill>
              </a:rPr>
              <a:t> (used in early Apple Macs, Amigas, etc.)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SPARC</a:t>
            </a:r>
            <a:r>
              <a:rPr lang="en-US" sz="1500">
                <a:solidFill>
                  <a:srgbClr val="002060"/>
                </a:solidFill>
              </a:rPr>
              <a:t> (used in some Sun/Oracle servers)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IBM PowerPC (older Macs, game consoles like PS3, Xbox 360, Wii)</a:t>
            </a:r>
            <a:r>
              <a:rPr lang="en-US" sz="1500">
                <a:solidFill>
                  <a:srgbClr val="002060"/>
                </a:solidFill>
              </a:rPr>
              <a:t> — typically big endian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Mainframes</a:t>
            </a:r>
            <a:r>
              <a:rPr lang="en-US" sz="1500">
                <a:solidFill>
                  <a:srgbClr val="002060"/>
                </a:solidFill>
              </a:rPr>
              <a:t> (IBM z/Architecture) often use big endian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Networking protocols</a:t>
            </a:r>
            <a:r>
              <a:rPr lang="en-US" sz="1500">
                <a:solidFill>
                  <a:srgbClr val="002060"/>
                </a:solidFill>
              </a:rPr>
              <a:t> (TCP/IP, IPv4/IPv6 headers, etc.) always define data in </a:t>
            </a:r>
            <a:r>
              <a:rPr lang="en-US" sz="1500" b="1">
                <a:solidFill>
                  <a:srgbClr val="002060"/>
                </a:solidFill>
              </a:rPr>
              <a:t>big endian</a:t>
            </a:r>
            <a:r>
              <a:rPr lang="en-US" sz="1500">
                <a:solidFill>
                  <a:srgbClr val="002060"/>
                </a:solidFill>
              </a:rPr>
              <a:t> (that’s why we call it </a:t>
            </a:r>
            <a:r>
              <a:rPr lang="en-US" sz="1500" i="1">
                <a:solidFill>
                  <a:srgbClr val="002060"/>
                </a:solidFill>
              </a:rPr>
              <a:t>network byte order</a:t>
            </a:r>
            <a:r>
              <a:rPr lang="en-US" sz="1500">
                <a:solidFill>
                  <a:srgbClr val="002060"/>
                </a:solidFill>
              </a:rPr>
              <a:t>).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895A716-7F72-72F3-C1D9-E4C716863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36790" y="835454"/>
            <a:ext cx="4041775" cy="639762"/>
          </a:xfrm>
        </p:spPr>
        <p:txBody>
          <a:bodyPr/>
          <a:lstStyle/>
          <a:p>
            <a:r>
              <a:rPr lang="en-US" dirty="0"/>
              <a:t>Little endian uses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72232-150C-8168-0BDC-6A1CD9D037E7}"/>
              </a:ext>
            </a:extLst>
          </p:cNvPr>
          <p:cNvSpPr txBox="1"/>
          <p:nvPr/>
        </p:nvSpPr>
        <p:spPr>
          <a:xfrm>
            <a:off x="4636790" y="1465316"/>
            <a:ext cx="4041775" cy="3490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Little Endian Systems (most common today)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Intel x86 / x86-64 CPUs</a:t>
            </a:r>
            <a:r>
              <a:rPr lang="en-US" sz="1500">
                <a:solidFill>
                  <a:srgbClr val="002060"/>
                </a:solidFill>
              </a:rPr>
              <a:t> (all modern desktops and laptops — Windows, Linux, macOS on Intel chips)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AMD processors</a:t>
            </a:r>
            <a:r>
              <a:rPr lang="en-US" sz="1500">
                <a:solidFill>
                  <a:srgbClr val="002060"/>
                </a:solidFill>
              </a:rPr>
              <a:t> (since they’re also x86-64)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RISC-V</a:t>
            </a:r>
            <a:r>
              <a:rPr lang="en-US" sz="1500">
                <a:solidFill>
                  <a:srgbClr val="002060"/>
                </a:solidFill>
              </a:rPr>
              <a:t> (default is little endian, though spec allows both)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b="1">
                <a:solidFill>
                  <a:srgbClr val="002060"/>
                </a:solidFill>
              </a:rPr>
              <a:t>ARM (most modern)</a:t>
            </a:r>
            <a:r>
              <a:rPr lang="en-US" sz="1500">
                <a:solidFill>
                  <a:srgbClr val="002060"/>
                </a:solidFill>
              </a:rPr>
              <a:t> — runs in little endian mode by default on phones, tablets, Raspberry Pi, etc.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>
                <a:solidFill>
                  <a:srgbClr val="002060"/>
                </a:solidFill>
              </a:rPr>
              <a:t>👉 Basically, </a:t>
            </a:r>
            <a:r>
              <a:rPr lang="en-US" sz="1500" b="1">
                <a:solidFill>
                  <a:srgbClr val="002060"/>
                </a:solidFill>
              </a:rPr>
              <a:t>your laptop or phone is almost certainly little endian</a:t>
            </a:r>
            <a:r>
              <a:rPr lang="en-US" sz="150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508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E62D-3D66-F2F0-BD6D-60930078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ES Wired Comms: Asynchronous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71FAE-7223-2BEB-E57A-098F920EA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13" y="2750805"/>
            <a:ext cx="8113650" cy="1068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EF8D94-E67E-5C52-0552-3E076AC81168}"/>
              </a:ext>
            </a:extLst>
          </p:cNvPr>
          <p:cNvSpPr txBox="1"/>
          <p:nvPr/>
        </p:nvSpPr>
        <p:spPr>
          <a:xfrm>
            <a:off x="529612" y="1291130"/>
            <a:ext cx="77073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dirty="0"/>
              <a:t>Asynchronous = un-clocked in electronics terms</a:t>
            </a:r>
          </a:p>
          <a:p>
            <a:r>
              <a:rPr lang="en-ZA" dirty="0"/>
              <a:t>i.e. it does not have a separate clock (or clock somehow incorporated) that is used to indicate when actions or decisions occur, e.g. when to check if the signal is high or 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E2E6E-0650-6009-A417-3074333EA9A5}"/>
              </a:ext>
            </a:extLst>
          </p:cNvPr>
          <p:cNvSpPr txBox="1"/>
          <p:nvPr/>
        </p:nvSpPr>
        <p:spPr>
          <a:xfrm>
            <a:off x="718346" y="4366542"/>
            <a:ext cx="77073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 More formal definition of asynchronous </a:t>
            </a:r>
            <a:r>
              <a:rPr lang="en-ZA" sz="1800" b="1" dirty="0" err="1"/>
              <a:t>communicatios</a:t>
            </a:r>
            <a:r>
              <a:rPr lang="en-ZA" sz="1800" b="1" dirty="0"/>
              <a:t> *:</a:t>
            </a:r>
          </a:p>
          <a:p>
            <a:pPr lvl="1"/>
            <a:r>
              <a:rPr lang="en-US" dirty="0"/>
              <a:t>In telecommunications, asynchronous communication is transmission of data, generally without the use of an external clock signal, where data can be transmitted intermittently rather than in a steady stream. Any timing required to recover data from the communication symbols is encoded within the symbols. Wikipedia</a:t>
            </a:r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539A0-68E9-D5A2-F0EE-A73B4B4309FB}"/>
              </a:ext>
            </a:extLst>
          </p:cNvPr>
          <p:cNvSpPr txBox="1"/>
          <p:nvPr/>
        </p:nvSpPr>
        <p:spPr>
          <a:xfrm>
            <a:off x="448965" y="6240678"/>
            <a:ext cx="7444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/>
              <a:t>* source: </a:t>
            </a:r>
            <a:r>
              <a:rPr lang="en-ZA" sz="1400" dirty="0">
                <a:hlinkClick r:id="rId3"/>
              </a:rPr>
              <a:t>https://en.wikipedia.org/wiki/Asynchronous_communication</a:t>
            </a:r>
            <a:r>
              <a:rPr lang="en-Z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2611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E62D-3D66-F2F0-BD6D-60930078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ES Wired Comms: Synchronous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F8D94-E67E-5C52-0552-3E076AC81168}"/>
              </a:ext>
            </a:extLst>
          </p:cNvPr>
          <p:cNvSpPr txBox="1"/>
          <p:nvPr/>
        </p:nvSpPr>
        <p:spPr>
          <a:xfrm>
            <a:off x="552118" y="1200982"/>
            <a:ext cx="77073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dirty="0"/>
              <a:t>Synchronous = clocked in electronics terms</a:t>
            </a:r>
          </a:p>
          <a:p>
            <a:r>
              <a:rPr lang="en-ZA" dirty="0"/>
              <a:t>i.e. it means that a separate clock (or clock somehow incorporated) that is used to indicate when actions or decisions occur.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E2E6E-0650-6009-A417-3074333EA9A5}"/>
              </a:ext>
            </a:extLst>
          </p:cNvPr>
          <p:cNvSpPr txBox="1"/>
          <p:nvPr/>
        </p:nvSpPr>
        <p:spPr>
          <a:xfrm>
            <a:off x="718346" y="4366542"/>
            <a:ext cx="77073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 More formal definition of asynchronous </a:t>
            </a:r>
            <a:r>
              <a:rPr lang="en-ZA" sz="1800" b="1" dirty="0" err="1"/>
              <a:t>communicatios</a:t>
            </a:r>
            <a:r>
              <a:rPr lang="en-ZA" sz="1800" b="1" dirty="0"/>
              <a:t> *:</a:t>
            </a:r>
          </a:p>
          <a:p>
            <a:pPr lvl="1"/>
            <a:r>
              <a:rPr lang="en-US" dirty="0"/>
              <a:t>In telecommunications, synchronous communication requires that the clocks in the transmitting and receiving devices are synchronized – running at the same rate – so the receiver can sample the signal at the same time intervals used by the transmitter. No start or stop bits are required. Wikipedia</a:t>
            </a:r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539A0-68E9-D5A2-F0EE-A73B4B4309FB}"/>
              </a:ext>
            </a:extLst>
          </p:cNvPr>
          <p:cNvSpPr txBox="1"/>
          <p:nvPr/>
        </p:nvSpPr>
        <p:spPr>
          <a:xfrm>
            <a:off x="510362" y="6273775"/>
            <a:ext cx="7444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/>
              <a:t>* source: </a:t>
            </a:r>
            <a:r>
              <a:rPr lang="en-ZA" sz="1400" dirty="0">
                <a:hlinkClick r:id="rId2"/>
              </a:rPr>
              <a:t>https://en.wikipedia.org/wiki/Synchronous_serial_communication</a:t>
            </a:r>
            <a:endParaRPr lang="en-ZA" sz="1400" dirty="0"/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A152AE6-9076-1CC0-2923-A2A667845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18" y="2499289"/>
            <a:ext cx="8039763" cy="14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0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5C0E-9DC8-8111-4F94-771344E6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Sampling on an edge?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5F016-0A82-9A9D-B537-4DDBBD8B24F4}"/>
              </a:ext>
            </a:extLst>
          </p:cNvPr>
          <p:cNvSpPr txBox="1"/>
          <p:nvPr/>
        </p:nvSpPr>
        <p:spPr>
          <a:xfrm>
            <a:off x="601670" y="1138425"/>
            <a:ext cx="7940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As mentioned in the definition for synchronous communication, it indicates that a decision or action with regards </a:t>
            </a:r>
            <a:r>
              <a:rPr lang="en-ZA"/>
              <a:t>to the data </a:t>
            </a:r>
            <a:r>
              <a:rPr lang="en-ZA" dirty="0"/>
              <a:t>is actioned on a signal, which is usually a clock edge (it could, for asynchronous, be an agreed time delay). </a:t>
            </a:r>
          </a:p>
        </p:txBody>
      </p:sp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1C189216-F345-B8E0-507E-C1975D985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01" y="2216940"/>
            <a:ext cx="8045697" cy="1975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BA4B56-3E64-7350-6A23-CD39798C57DB}"/>
              </a:ext>
            </a:extLst>
          </p:cNvPr>
          <p:cNvSpPr txBox="1"/>
          <p:nvPr/>
        </p:nvSpPr>
        <p:spPr>
          <a:xfrm>
            <a:off x="601670" y="4039820"/>
            <a:ext cx="79406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This image illustrates the difference in rising and falling edge. The 2</a:t>
            </a:r>
            <a:r>
              <a:rPr lang="en-ZA" baseline="30000" dirty="0"/>
              <a:t>nd</a:t>
            </a:r>
            <a:r>
              <a:rPr lang="en-ZA" dirty="0"/>
              <a:t> waveform down can be considered the data line coming in to the receiver. The clock signal is shown on the 1</a:t>
            </a:r>
            <a:r>
              <a:rPr lang="en-ZA" baseline="30000" dirty="0"/>
              <a:t>st</a:t>
            </a:r>
            <a:r>
              <a:rPr lang="en-ZA" dirty="0"/>
              <a:t> and 4</a:t>
            </a:r>
            <a:r>
              <a:rPr lang="en-ZA" baseline="30000" dirty="0"/>
              <a:t>th</a:t>
            </a:r>
            <a:r>
              <a:rPr lang="en-ZA" dirty="0"/>
              <a:t> waveform, the 1</a:t>
            </a:r>
            <a:r>
              <a:rPr lang="en-ZA" baseline="30000" dirty="0"/>
              <a:t>st</a:t>
            </a:r>
            <a:r>
              <a:rPr lang="en-ZA" dirty="0"/>
              <a:t> indicating when a falling edge occurs, and the 4</a:t>
            </a:r>
            <a:r>
              <a:rPr lang="en-ZA" baseline="30000" dirty="0"/>
              <a:t>th</a:t>
            </a:r>
            <a:r>
              <a:rPr lang="en-ZA" dirty="0"/>
              <a:t> when a rising edge occurs. If you sample the input line on a falling edge you may get different results to sampling the line on a rising edge. This, protocols need to specify if, for a synchronous protocol at least, if the protocol is rising or falling edge triggered*.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44417-1C4F-5776-27AA-E7B41409A0AF}"/>
              </a:ext>
            </a:extLst>
          </p:cNvPr>
          <p:cNvSpPr txBox="1"/>
          <p:nvPr/>
        </p:nvSpPr>
        <p:spPr>
          <a:xfrm>
            <a:off x="524851" y="6302650"/>
            <a:ext cx="6459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>
                <a:solidFill>
                  <a:schemeClr val="accent5">
                    <a:lumMod val="75000"/>
                  </a:schemeClr>
                </a:solidFill>
              </a:rPr>
              <a:t>* hint: this can make for a convenient test or exam question!</a:t>
            </a:r>
          </a:p>
        </p:txBody>
      </p:sp>
    </p:spTree>
    <p:extLst>
      <p:ext uri="{BB962C8B-B14F-4D97-AF65-F5344CB8AC3E}">
        <p14:creationId xmlns:p14="http://schemas.microsoft.com/office/powerpoint/2010/main" val="2144615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E614-9DBA-3025-934E-ECB73BEA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Wired Comms: Simplex vs Duplex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67F0C-AA9D-1B90-3B7C-AFD82101D062}"/>
              </a:ext>
            </a:extLst>
          </p:cNvPr>
          <p:cNvSpPr txBox="1"/>
          <p:nvPr/>
        </p:nvSpPr>
        <p:spPr>
          <a:xfrm>
            <a:off x="632368" y="2025628"/>
            <a:ext cx="4605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Full Duplex:</a:t>
            </a:r>
            <a:r>
              <a:rPr lang="en-US" sz="2000" dirty="0"/>
              <a:t> Two devices can communicate simultaneously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Separate data lines for transmit (Tx) and receive (Rx)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Half Duplex:</a:t>
            </a:r>
            <a:r>
              <a:rPr lang="en-US" sz="2000" dirty="0"/>
              <a:t> Two devices communicate, one at a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Transmit and Receive share the same data 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Simplex:</a:t>
            </a:r>
            <a:r>
              <a:rPr lang="en-US" sz="2000" dirty="0"/>
              <a:t> Two devices communication in one direction 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Unidirectional communication (</a:t>
            </a:r>
            <a:r>
              <a:rPr lang="en-US" sz="2000" dirty="0" err="1"/>
              <a:t>ie</a:t>
            </a:r>
            <a:r>
              <a:rPr lang="en-US" sz="2000" dirty="0"/>
              <a:t>. only transmit or only receive)</a:t>
            </a:r>
            <a:endParaRPr lang="en-Z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B4ED5-0306-D42E-D4DC-119D93BFB3EA}"/>
              </a:ext>
            </a:extLst>
          </p:cNvPr>
          <p:cNvSpPr txBox="1"/>
          <p:nvPr/>
        </p:nvSpPr>
        <p:spPr>
          <a:xfrm>
            <a:off x="632368" y="1010094"/>
            <a:ext cx="78792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dirty="0" err="1"/>
              <a:t>Endianess</a:t>
            </a:r>
            <a:r>
              <a:rPr lang="en-ZA" sz="2400" dirty="0"/>
              <a:t> =  the order or sequence of bytes of a word of digital data in computer memory (or in a data register).</a:t>
            </a:r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5E5EADA4-61BB-3BAF-269F-79008FFD7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309" y="2342742"/>
            <a:ext cx="3353322" cy="26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1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A533-33E5-A102-CEA2-53FF1DCD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Parity bit and checking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4166E-B9FB-C08C-5790-DF9831C03CE1}"/>
              </a:ext>
            </a:extLst>
          </p:cNvPr>
          <p:cNvSpPr txBox="1"/>
          <p:nvPr/>
        </p:nvSpPr>
        <p:spPr>
          <a:xfrm>
            <a:off x="510362" y="2135199"/>
            <a:ext cx="35284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Usually applied to the smallest unit of transmission in a communication protocol (e.g. a single byte)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Even parity:</a:t>
            </a:r>
            <a:r>
              <a:rPr lang="en-US" sz="2000" dirty="0"/>
              <a:t> The sum of ‘1’s in desired data including the parity bit must be an even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Odd parity:</a:t>
            </a:r>
            <a:r>
              <a:rPr lang="en-US" sz="2000" dirty="0"/>
              <a:t> The sum of ‘1’s in desired data including the parity bit must be an odd number</a:t>
            </a:r>
            <a:endParaRPr lang="en-Z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55B6A-8304-F557-BEF9-4D08DC869C72}"/>
              </a:ext>
            </a:extLst>
          </p:cNvPr>
          <p:cNvSpPr txBox="1"/>
          <p:nvPr/>
        </p:nvSpPr>
        <p:spPr>
          <a:xfrm>
            <a:off x="540244" y="1138425"/>
            <a:ext cx="78493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 parity bit</a:t>
            </a:r>
            <a:r>
              <a:rPr lang="en-US" sz="2400" dirty="0"/>
              <a:t> (or check bit) = a single bit added to a string of binary code to provide a low-cost form of error detection.</a:t>
            </a:r>
            <a:endParaRPr lang="en-ZA" sz="2400" dirty="0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36EFF271-D44E-8B11-6057-A73D5E59B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180" y="2512770"/>
            <a:ext cx="4672458" cy="255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44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7D67-9229-C43B-5A97-0D86B828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ES Wired Comms : Summary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697EF9C-C2E0-1FA8-7D32-70E2AEF6A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13" y="1395279"/>
            <a:ext cx="7998217" cy="432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03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1D1FE-1C60-4370-9B89-C2A37631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317" y="1063256"/>
            <a:ext cx="8076895" cy="52671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dirty="0"/>
              <a:t>[1] Endianness</a:t>
            </a:r>
            <a:br>
              <a:rPr lang="en-ZA" dirty="0"/>
            </a:br>
            <a:r>
              <a:rPr lang="en-ZA" dirty="0"/>
              <a:t> </a:t>
            </a:r>
            <a:r>
              <a:rPr lang="en-ZA" sz="2400" dirty="0">
                <a:hlinkClick r:id="rId2"/>
              </a:rPr>
              <a:t>https://en.wikipedia.org/wiki/Endianness</a:t>
            </a:r>
            <a:r>
              <a:rPr lang="en-ZA" sz="2400" dirty="0"/>
              <a:t> </a:t>
            </a:r>
            <a:endParaRPr lang="en-ZA" dirty="0"/>
          </a:p>
          <a:p>
            <a:pPr marL="0" indent="0">
              <a:buNone/>
            </a:pPr>
            <a:r>
              <a:rPr lang="en-ZA" dirty="0"/>
              <a:t>[2] Parallel communication</a:t>
            </a:r>
            <a:br>
              <a:rPr lang="en-ZA" dirty="0"/>
            </a:br>
            <a:r>
              <a:rPr lang="en-ZA" dirty="0"/>
              <a:t> </a:t>
            </a:r>
            <a:r>
              <a:rPr lang="en-ZA" sz="2400" dirty="0">
                <a:hlinkClick r:id="rId3"/>
              </a:rPr>
              <a:t>https://en.wikipedia.org/wiki/Parallel_communication</a:t>
            </a:r>
            <a:endParaRPr lang="en-ZA" dirty="0"/>
          </a:p>
          <a:p>
            <a:pPr marL="0" indent="0">
              <a:buNone/>
            </a:pPr>
            <a:r>
              <a:rPr lang="en-ZA" dirty="0"/>
              <a:t>[3] Classiﬁcation of Embedded Systems with Applications</a:t>
            </a:r>
            <a:br>
              <a:rPr lang="en-ZA" dirty="0"/>
            </a:br>
            <a:r>
              <a:rPr lang="en-ZA" dirty="0"/>
              <a:t> </a:t>
            </a:r>
            <a:r>
              <a:rPr lang="en-ZA" sz="2400" dirty="0">
                <a:hlinkClick r:id="rId4"/>
              </a:rPr>
              <a:t>https://www.watelectronics.com/classification-of-embedded-systems/</a:t>
            </a:r>
            <a:endParaRPr lang="en-ZA" dirty="0"/>
          </a:p>
          <a:p>
            <a:pPr marL="0" indent="0">
              <a:buNone/>
            </a:pPr>
            <a:r>
              <a:rPr lang="en-ZA" dirty="0"/>
              <a:t>[4] Importance of IoT in Education</a:t>
            </a:r>
            <a:br>
              <a:rPr lang="en-ZA" dirty="0"/>
            </a:br>
            <a:r>
              <a:rPr lang="en-ZA" dirty="0"/>
              <a:t> </a:t>
            </a:r>
            <a:r>
              <a:rPr lang="en-ZA" sz="2600" dirty="0">
                <a:hlinkClick r:id="rId5"/>
              </a:rPr>
              <a:t>https://ilmversity.com/importance-of-iot-in-education/</a:t>
            </a:r>
            <a:endParaRPr lang="en-ZA" dirty="0"/>
          </a:p>
          <a:p>
            <a:pPr marL="0" indent="0">
              <a:buNone/>
            </a:pPr>
            <a:r>
              <a:rPr lang="en-ZA" dirty="0"/>
              <a:t>[5] Raspberry Pi Zero WH, built-in </a:t>
            </a:r>
            <a:r>
              <a:rPr lang="en-ZA" dirty="0" err="1"/>
              <a:t>WiFi</a:t>
            </a:r>
            <a:r>
              <a:rPr lang="en-ZA" dirty="0"/>
              <a:t>, </a:t>
            </a:r>
            <a:r>
              <a:rPr lang="en-ZA" dirty="0" err="1"/>
              <a:t>presoldered</a:t>
            </a:r>
            <a:r>
              <a:rPr lang="en-ZA" dirty="0"/>
              <a:t> headers</a:t>
            </a:r>
            <a:br>
              <a:rPr lang="en-ZA" dirty="0"/>
            </a:br>
            <a:r>
              <a:rPr lang="en-ZA" dirty="0"/>
              <a:t> </a:t>
            </a:r>
            <a:r>
              <a:rPr lang="en-ZA" sz="2600" dirty="0">
                <a:hlinkClick r:id="rId6"/>
              </a:rPr>
              <a:t>https://www.waveshare.com/raspberry-pi-zero-wh.htm</a:t>
            </a: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387CAF-0DDB-9ED6-75C2-CB75F860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937420426"/>
      </p:ext>
    </p:extLst>
  </p:cSld>
  <p:clrMapOvr>
    <a:masterClrMapping/>
  </p:clrMapOvr>
</p:sld>
</file>

<file path=ppt/theme/theme1.xml><?xml version="1.0" encoding="utf-8"?>
<a:theme xmlns:a="http://schemas.openxmlformats.org/drawingml/2006/main" name="ES2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12780</TotalTime>
  <Words>1411</Words>
  <Application>Microsoft Office PowerPoint</Application>
  <PresentationFormat>On-screen Show (4:3)</PresentationFormat>
  <Paragraphs>119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ES2 Theme</vt:lpstr>
      <vt:lpstr>Embedded Communications 1/3</vt:lpstr>
      <vt:lpstr>Outline of Lecture</vt:lpstr>
      <vt:lpstr>ES Communications</vt:lpstr>
      <vt:lpstr>EE Communications</vt:lpstr>
      <vt:lpstr>View of a wired ES comms interface</vt:lpstr>
      <vt:lpstr>Parallel vs Serial Communications</vt:lpstr>
      <vt:lpstr>Wired Comms Endianess</vt:lpstr>
      <vt:lpstr>Endian Examples</vt:lpstr>
      <vt:lpstr>Endian use cases</vt:lpstr>
      <vt:lpstr>ES Wired Comms: Asynchronous</vt:lpstr>
      <vt:lpstr>ES Wired Comms: Synchronous</vt:lpstr>
      <vt:lpstr>Sampling on an edge?</vt:lpstr>
      <vt:lpstr>Wired Comms: Simplex vs Duplex</vt:lpstr>
      <vt:lpstr>Parity bit and checking</vt:lpstr>
      <vt:lpstr>ES Wired Comms : Summary</vt:lpstr>
      <vt:lpstr>References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Communications 1/3</dc:title>
  <dc:creator>simon.winberg@uct.ac.za</dc:creator>
  <cp:keywords>Embedded Systems</cp:keywords>
  <cp:lastModifiedBy>Best Nkhumeleni</cp:lastModifiedBy>
  <cp:revision>893</cp:revision>
  <cp:lastPrinted>2022-08-17T09:43:47Z</cp:lastPrinted>
  <dcterms:created xsi:type="dcterms:W3CDTF">2013-08-21T19:17:07Z</dcterms:created>
  <dcterms:modified xsi:type="dcterms:W3CDTF">2025-08-31T20:58:29Z</dcterms:modified>
  <cp:category>Computer Enigneering</cp:category>
</cp:coreProperties>
</file>