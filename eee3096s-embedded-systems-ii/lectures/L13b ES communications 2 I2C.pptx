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60" r:id="rId2"/>
    <p:sldId id="278" r:id="rId3"/>
    <p:sldId id="329" r:id="rId4"/>
    <p:sldId id="317" r:id="rId5"/>
    <p:sldId id="331" r:id="rId6"/>
    <p:sldId id="342" r:id="rId7"/>
    <p:sldId id="343" r:id="rId8"/>
    <p:sldId id="344" r:id="rId9"/>
    <p:sldId id="345" r:id="rId10"/>
    <p:sldId id="346" r:id="rId11"/>
    <p:sldId id="347" r:id="rId12"/>
    <p:sldId id="348" r:id="rId13"/>
    <p:sldId id="349" r:id="rId14"/>
    <p:sldId id="350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43F06"/>
    <a:srgbClr val="FFFF99"/>
    <a:srgbClr val="7ABC32"/>
    <a:srgbClr val="FF6600"/>
    <a:srgbClr val="A56303"/>
    <a:srgbClr val="FFFF66"/>
    <a:srgbClr val="2A5A06"/>
    <a:srgbClr val="C0504D"/>
    <a:srgbClr val="D09622"/>
    <a:srgbClr val="3636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32" autoAdjust="0"/>
    <p:restoredTop sz="94277" autoAdjust="0"/>
  </p:normalViewPr>
  <p:slideViewPr>
    <p:cSldViewPr>
      <p:cViewPr varScale="1">
        <p:scale>
          <a:sx n="104" d="100"/>
          <a:sy n="104" d="100"/>
        </p:scale>
        <p:origin x="1746" y="108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152705" cy="1527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st Nkhumeleni" userId="b300e668-787d-4599-876b-43d08ebe587e" providerId="ADAL" clId="{0916B446-E069-44F4-AB94-DF6427CE7736}"/>
    <pc:docChg chg="undo custSel delSld modSld">
      <pc:chgData name="Best Nkhumeleni" userId="b300e668-787d-4599-876b-43d08ebe587e" providerId="ADAL" clId="{0916B446-E069-44F4-AB94-DF6427CE7736}" dt="2025-09-02T19:14:19.241" v="194" actId="20577"/>
      <pc:docMkLst>
        <pc:docMk/>
      </pc:docMkLst>
      <pc:sldChg chg="modSp mod">
        <pc:chgData name="Best Nkhumeleni" userId="b300e668-787d-4599-876b-43d08ebe587e" providerId="ADAL" clId="{0916B446-E069-44F4-AB94-DF6427CE7736}" dt="2025-09-01T19:45:39.527" v="82" actId="20577"/>
        <pc:sldMkLst>
          <pc:docMk/>
          <pc:sldMk cId="1931454476" sldId="260"/>
        </pc:sldMkLst>
        <pc:spChg chg="mod">
          <ac:chgData name="Best Nkhumeleni" userId="b300e668-787d-4599-876b-43d08ebe587e" providerId="ADAL" clId="{0916B446-E069-44F4-AB94-DF6427CE7736}" dt="2025-09-01T19:45:31.123" v="79" actId="5793"/>
          <ac:spMkLst>
            <pc:docMk/>
            <pc:sldMk cId="1931454476" sldId="260"/>
            <ac:spMk id="6" creationId="{00000000-0000-0000-0000-000000000000}"/>
          </ac:spMkLst>
        </pc:spChg>
        <pc:spChg chg="mod">
          <ac:chgData name="Best Nkhumeleni" userId="b300e668-787d-4599-876b-43d08ebe587e" providerId="ADAL" clId="{0916B446-E069-44F4-AB94-DF6427CE7736}" dt="2025-09-01T19:45:39.527" v="82" actId="20577"/>
          <ac:spMkLst>
            <pc:docMk/>
            <pc:sldMk cId="1931454476" sldId="260"/>
            <ac:spMk id="12" creationId="{00000000-0000-0000-0000-000000000000}"/>
          </ac:spMkLst>
        </pc:spChg>
      </pc:sldChg>
      <pc:sldChg chg="del">
        <pc:chgData name="Best Nkhumeleni" userId="b300e668-787d-4599-876b-43d08ebe587e" providerId="ADAL" clId="{0916B446-E069-44F4-AB94-DF6427CE7736}" dt="2025-09-02T19:11:56.868" v="88" actId="47"/>
        <pc:sldMkLst>
          <pc:docMk/>
          <pc:sldMk cId="1669290871" sldId="321"/>
        </pc:sldMkLst>
      </pc:sldChg>
      <pc:sldChg chg="modSp mod">
        <pc:chgData name="Best Nkhumeleni" userId="b300e668-787d-4599-876b-43d08ebe587e" providerId="ADAL" clId="{0916B446-E069-44F4-AB94-DF6427CE7736}" dt="2025-09-02T17:10:39.965" v="87" actId="20577"/>
        <pc:sldMkLst>
          <pc:docMk/>
          <pc:sldMk cId="2906219089" sldId="342"/>
        </pc:sldMkLst>
        <pc:spChg chg="mod">
          <ac:chgData name="Best Nkhumeleni" userId="b300e668-787d-4599-876b-43d08ebe587e" providerId="ADAL" clId="{0916B446-E069-44F4-AB94-DF6427CE7736}" dt="2025-09-02T17:10:39.965" v="87" actId="20577"/>
          <ac:spMkLst>
            <pc:docMk/>
            <pc:sldMk cId="2906219089" sldId="342"/>
            <ac:spMk id="7" creationId="{35D5847D-3B10-7067-79DA-F08F7CBA74A5}"/>
          </ac:spMkLst>
        </pc:spChg>
      </pc:sldChg>
      <pc:sldChg chg="modSp mod">
        <pc:chgData name="Best Nkhumeleni" userId="b300e668-787d-4599-876b-43d08ebe587e" providerId="ADAL" clId="{0916B446-E069-44F4-AB94-DF6427CE7736}" dt="2025-09-02T19:14:19.241" v="194" actId="20577"/>
        <pc:sldMkLst>
          <pc:docMk/>
          <pc:sldMk cId="2035160259" sldId="346"/>
        </pc:sldMkLst>
        <pc:spChg chg="mod">
          <ac:chgData name="Best Nkhumeleni" userId="b300e668-787d-4599-876b-43d08ebe587e" providerId="ADAL" clId="{0916B446-E069-44F4-AB94-DF6427CE7736}" dt="2025-09-02T19:14:19.241" v="194" actId="20577"/>
          <ac:spMkLst>
            <pc:docMk/>
            <pc:sldMk cId="2035160259" sldId="346"/>
            <ac:spMk id="5" creationId="{66013140-FE37-13AC-D336-34A7110B65D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AE8575-32E8-47C1-A317-B277AE278254}" type="datetimeFigureOut">
              <a:rPr lang="en-ZA" smtClean="0"/>
              <a:t>2025/09/02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D4CD1D-11D4-44B3-97CF-91828C00CDF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085433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557313" cy="7167985"/>
          </a:xfrm>
          <a:prstGeom prst="rect">
            <a:avLst/>
          </a:prstGeom>
          <a:effectLst>
            <a:glow rad="127000">
              <a:schemeClr val="accent1"/>
            </a:glow>
          </a:effec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1670" y="3734410"/>
            <a:ext cx="7329840" cy="1527050"/>
          </a:xfrm>
          <a:effectLst/>
        </p:spPr>
        <p:txBody>
          <a:bodyPr>
            <a:normAutofit/>
          </a:bodyPr>
          <a:lstStyle>
            <a:lvl1pPr algn="l">
              <a:defRPr sz="44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01670" y="5414165"/>
            <a:ext cx="7329840" cy="458115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Lecture Number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1663706" y="4940778"/>
            <a:ext cx="627928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Embedded Systems II</a:t>
            </a:r>
          </a:p>
        </p:txBody>
      </p:sp>
    </p:spTree>
    <p:extLst>
      <p:ext uri="{BB962C8B-B14F-4D97-AF65-F5344CB8AC3E}">
        <p14:creationId xmlns:p14="http://schemas.microsoft.com/office/powerpoint/2010/main" val="325387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5317" y="1063256"/>
            <a:ext cx="8076895" cy="5092995"/>
          </a:xfrm>
        </p:spPr>
        <p:txBody>
          <a:bodyPr>
            <a:normAutofit/>
          </a:bodyPr>
          <a:lstStyle>
            <a:lvl1pPr>
              <a:defRPr sz="3200">
                <a:solidFill>
                  <a:srgbClr val="002060"/>
                </a:solidFill>
              </a:defRPr>
            </a:lvl1pPr>
            <a:lvl2pPr>
              <a:defRPr sz="3200">
                <a:solidFill>
                  <a:srgbClr val="002060"/>
                </a:solidFill>
              </a:defRPr>
            </a:lvl2pPr>
            <a:lvl3pPr>
              <a:defRPr sz="2800">
                <a:solidFill>
                  <a:srgbClr val="002060"/>
                </a:solidFill>
              </a:defRPr>
            </a:lvl3pPr>
            <a:lvl4pPr>
              <a:defRPr sz="2400">
                <a:solidFill>
                  <a:srgbClr val="002060"/>
                </a:solidFill>
              </a:defRPr>
            </a:lvl4pPr>
            <a:lvl5pPr>
              <a:defRPr sz="2400"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362" y="265814"/>
            <a:ext cx="8123275" cy="709272"/>
          </a:xfrm>
          <a:solidFill>
            <a:schemeClr val="tx2">
              <a:lumMod val="75000"/>
            </a:schemeClr>
          </a:solidFill>
        </p:spPr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64471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670" y="374901"/>
            <a:ext cx="7932424" cy="610820"/>
          </a:xfrm>
          <a:solidFill>
            <a:schemeClr val="tx2">
              <a:lumMod val="75000"/>
            </a:schemeClr>
          </a:solidFill>
        </p:spPr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1671" y="1138425"/>
            <a:ext cx="4733854" cy="4886560"/>
          </a:xfrm>
        </p:spPr>
        <p:txBody>
          <a:bodyPr/>
          <a:lstStyle>
            <a:lvl1pPr>
              <a:defRPr sz="2800">
                <a:solidFill>
                  <a:srgbClr val="002060"/>
                </a:solidFill>
              </a:defRPr>
            </a:lvl1pPr>
            <a:lvl2pPr>
              <a:defRPr>
                <a:solidFill>
                  <a:srgbClr val="002060"/>
                </a:solidFill>
              </a:defRPr>
            </a:lvl2pPr>
            <a:lvl3pPr>
              <a:defRPr>
                <a:solidFill>
                  <a:srgbClr val="002060"/>
                </a:solidFill>
              </a:defRPr>
            </a:lvl3pPr>
            <a:lvl4pPr>
              <a:defRPr>
                <a:solidFill>
                  <a:srgbClr val="002060"/>
                </a:solidFill>
              </a:defRPr>
            </a:lvl4pPr>
            <a:lvl5pPr>
              <a:defRPr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Embedded Systems II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4724705" y="1138425"/>
            <a:ext cx="3809389" cy="5039265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293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803345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303158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2128720" y="5971330"/>
            <a:ext cx="4700196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Embedded Systems II</a:t>
            </a:r>
          </a:p>
        </p:txBody>
      </p:sp>
    </p:spTree>
    <p:extLst>
      <p:ext uri="{BB962C8B-B14F-4D97-AF65-F5344CB8AC3E}">
        <p14:creationId xmlns:p14="http://schemas.microsoft.com/office/powerpoint/2010/main" val="386344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995" y="273501"/>
            <a:ext cx="8091378" cy="651532"/>
          </a:xfrm>
          <a:solidFill>
            <a:schemeClr val="tx2">
              <a:lumMod val="75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8466" y="1138425"/>
            <a:ext cx="4038600" cy="488656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6934" y="1138425"/>
            <a:ext cx="4038600" cy="488656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9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965" y="222194"/>
            <a:ext cx="8229600" cy="565205"/>
          </a:xfrm>
          <a:solidFill>
            <a:schemeClr val="tx2">
              <a:lumMod val="75000"/>
            </a:schemeClr>
          </a:solidFill>
        </p:spPr>
        <p:txBody>
          <a:bodyPr lIns="126000" rIns="126000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8965" y="835454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206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8965" y="1465316"/>
            <a:ext cx="4040188" cy="3490733"/>
          </a:xfrm>
        </p:spPr>
        <p:txBody>
          <a:bodyPr/>
          <a:lstStyle>
            <a:lvl1pPr>
              <a:defRPr sz="2400">
                <a:solidFill>
                  <a:srgbClr val="002060"/>
                </a:solidFill>
              </a:defRPr>
            </a:lvl1pPr>
            <a:lvl2pPr>
              <a:defRPr sz="2000">
                <a:solidFill>
                  <a:srgbClr val="002060"/>
                </a:solidFill>
              </a:defRPr>
            </a:lvl2pPr>
            <a:lvl3pPr>
              <a:defRPr sz="1800">
                <a:solidFill>
                  <a:srgbClr val="002060"/>
                </a:solidFill>
              </a:defRPr>
            </a:lvl3pPr>
            <a:lvl4pPr>
              <a:defRPr sz="1600">
                <a:solidFill>
                  <a:srgbClr val="002060"/>
                </a:solidFill>
              </a:defRPr>
            </a:lvl4pPr>
            <a:lvl5pPr>
              <a:defRPr sz="1600">
                <a:solidFill>
                  <a:srgbClr val="002060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36790" y="835454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206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36790" y="1465316"/>
            <a:ext cx="4041775" cy="3490733"/>
          </a:xfrm>
        </p:spPr>
        <p:txBody>
          <a:bodyPr/>
          <a:lstStyle>
            <a:lvl1pPr>
              <a:defRPr sz="2400">
                <a:solidFill>
                  <a:srgbClr val="002060"/>
                </a:solidFill>
              </a:defRPr>
            </a:lvl1pPr>
            <a:lvl2pPr>
              <a:defRPr sz="2000">
                <a:solidFill>
                  <a:srgbClr val="002060"/>
                </a:solidFill>
              </a:defRPr>
            </a:lvl2pPr>
            <a:lvl3pPr>
              <a:defRPr sz="1800">
                <a:solidFill>
                  <a:srgbClr val="002060"/>
                </a:solidFill>
              </a:defRPr>
            </a:lvl3pPr>
            <a:lvl4pPr>
              <a:defRPr sz="1600">
                <a:solidFill>
                  <a:srgbClr val="002060"/>
                </a:solidFill>
              </a:defRPr>
            </a:lvl4pPr>
            <a:lvl5pPr>
              <a:defRPr sz="1600">
                <a:solidFill>
                  <a:srgbClr val="002060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11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362" y="276448"/>
            <a:ext cx="8123276" cy="733646"/>
          </a:xfrm>
          <a:solidFill>
            <a:schemeClr val="tx2">
              <a:lumMod val="75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77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64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519082"/>
            <a:ext cx="2133600" cy="365125"/>
          </a:xfrm>
          <a:prstGeom prst="rect">
            <a:avLst/>
          </a:prstGeom>
        </p:spPr>
        <p:txBody>
          <a:bodyPr/>
          <a:lstStyle/>
          <a:p>
            <a:fld id="{53074F12-AA26-4AC8-9962-C36BB8F32554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452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0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995" y="274638"/>
            <a:ext cx="8102010" cy="777985"/>
          </a:xfrm>
          <a:solidFill>
            <a:schemeClr val="tx2">
              <a:lumMod val="75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20994" y="1201479"/>
            <a:ext cx="8102011" cy="528162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65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78726" y="274638"/>
            <a:ext cx="733642" cy="6317548"/>
          </a:xfrm>
          <a:solidFill>
            <a:schemeClr val="tx2">
              <a:lumMod val="75000"/>
            </a:schemeClr>
          </a:solidFill>
        </p:spPr>
        <p:txBody>
          <a:bodyPr vert="eaVer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2260" y="274638"/>
            <a:ext cx="7236544" cy="6068457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19082"/>
            <a:ext cx="2133600" cy="365125"/>
          </a:xfrm>
          <a:prstGeom prst="rect">
            <a:avLst/>
          </a:prstGeom>
        </p:spPr>
        <p:txBody>
          <a:bodyPr/>
          <a:lstStyle/>
          <a:p>
            <a:fld id="{53074F12-AA26-4AC8-9962-C36BB8F32554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609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258" y="-14515"/>
            <a:ext cx="9218395" cy="6917141"/>
          </a:xfrm>
          <a:prstGeom prst="rect">
            <a:avLst/>
          </a:prstGeom>
        </p:spPr>
      </p:pic>
      <p:sp>
        <p:nvSpPr>
          <p:cNvPr id="18" name="Rectangle 17"/>
          <p:cNvSpPr/>
          <p:nvPr userDrawn="1"/>
        </p:nvSpPr>
        <p:spPr>
          <a:xfrm>
            <a:off x="457200" y="222195"/>
            <a:ext cx="8229600" cy="642700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82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343095"/>
            <a:ext cx="5562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7013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039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587699" y="5872280"/>
            <a:ext cx="307892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dirty="0">
                <a:ln w="9525">
                  <a:solidFill>
                    <a:schemeClr val="tx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Lecturer Best :)</a:t>
            </a:r>
            <a:endParaRPr lang="en-US" sz="3600" b="1" cap="none" spc="0" dirty="0">
              <a:ln w="9525">
                <a:solidFill>
                  <a:schemeClr val="tx1"/>
                </a:solidFill>
                <a:prstDash val="solid"/>
              </a:ln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8492" y="5728038"/>
            <a:ext cx="1085871" cy="110803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170703" y="5967102"/>
            <a:ext cx="19457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14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Electrical Engineering</a:t>
            </a:r>
          </a:p>
          <a:p>
            <a:r>
              <a:rPr lang="en-ZA" sz="14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University of Cape Town</a:t>
            </a:r>
          </a:p>
        </p:txBody>
      </p:sp>
      <p:sp>
        <p:nvSpPr>
          <p:cNvPr id="11" name="Title 10"/>
          <p:cNvSpPr>
            <a:spLocks noGrp="1"/>
          </p:cNvSpPr>
          <p:nvPr>
            <p:ph type="ctrTitle"/>
          </p:nvPr>
        </p:nvSpPr>
        <p:spPr>
          <a:xfrm>
            <a:off x="601671" y="3714890"/>
            <a:ext cx="7940660" cy="1527050"/>
          </a:xfrm>
        </p:spPr>
        <p:txBody>
          <a:bodyPr>
            <a:normAutofit/>
          </a:bodyPr>
          <a:lstStyle/>
          <a:p>
            <a:r>
              <a:rPr lang="en-ZA" dirty="0"/>
              <a:t>Embedded Communications 2/3</a:t>
            </a:r>
            <a:endParaRPr lang="en-ZA" i="1" dirty="0"/>
          </a:p>
        </p:txBody>
      </p:sp>
      <p:sp>
        <p:nvSpPr>
          <p:cNvPr id="12" name="Subtitle 11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ZA" dirty="0"/>
              <a:t>L13</a:t>
            </a:r>
          </a:p>
          <a:p>
            <a:endParaRPr lang="en-ZA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9A126EC-5845-64CF-E557-01C6983271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7322" y="350093"/>
            <a:ext cx="1657628" cy="139122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B960508-0A56-DB8F-FBC1-E8D43F7DA3A9}"/>
              </a:ext>
            </a:extLst>
          </p:cNvPr>
          <p:cNvSpPr txBox="1"/>
          <p:nvPr/>
        </p:nvSpPr>
        <p:spPr>
          <a:xfrm>
            <a:off x="160546" y="1770971"/>
            <a:ext cx="17777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cap="none" spc="0" dirty="0">
                <a:ln w="9525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 Black" panose="020B0A04020102020204" pitchFamily="34" charset="0"/>
              </a:rPr>
              <a:t>Embedded </a:t>
            </a:r>
          </a:p>
          <a:p>
            <a:pPr algn="ctr"/>
            <a:r>
              <a:rPr lang="en-US" b="1" cap="none" spc="0" dirty="0">
                <a:ln w="9525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 Black" panose="020B0A04020102020204" pitchFamily="34" charset="0"/>
              </a:rPr>
              <a:t>Systems II</a:t>
            </a:r>
            <a:endParaRPr lang="en-ZA" dirty="0">
              <a:ln>
                <a:solidFill>
                  <a:schemeClr val="tx2">
                    <a:lumMod val="75000"/>
                  </a:schemeClr>
                </a:solidFill>
              </a:ln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63A9D01-B61D-2EE8-BCC2-EBA5D65BDFF5}"/>
              </a:ext>
            </a:extLst>
          </p:cNvPr>
          <p:cNvGrpSpPr/>
          <p:nvPr/>
        </p:nvGrpSpPr>
        <p:grpSpPr>
          <a:xfrm>
            <a:off x="1462751" y="1068842"/>
            <a:ext cx="3745770" cy="2769194"/>
            <a:chOff x="1462751" y="1068842"/>
            <a:chExt cx="3745770" cy="2769194"/>
          </a:xfrm>
        </p:grpSpPr>
        <p:pic>
          <p:nvPicPr>
            <p:cNvPr id="14" name="Picture 13" descr="A picture containing rectangle&#10;&#10;Description automatically generated">
              <a:extLst>
                <a:ext uri="{FF2B5EF4-FFF2-40B4-BE49-F238E27FC236}">
                  <a16:creationId xmlns:a16="http://schemas.microsoft.com/office/drawing/2014/main" id="{EDFA3C2F-99CE-62D4-A3D7-0DCD5891305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072267">
              <a:off x="1462751" y="1068842"/>
              <a:ext cx="3745770" cy="2769194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FACB953-3132-3EDD-4290-3BC4F5A26ACE}"/>
                </a:ext>
              </a:extLst>
            </p:cNvPr>
            <p:cNvSpPr/>
            <p:nvPr/>
          </p:nvSpPr>
          <p:spPr>
            <a:xfrm rot="20383774">
              <a:off x="2552849" y="2520017"/>
              <a:ext cx="1087157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1" cap="none" spc="0" dirty="0">
                  <a:ln w="9525">
                    <a:solidFill>
                      <a:schemeClr val="bg1"/>
                    </a:solidFill>
                    <a:prstDash val="solid"/>
                  </a:ln>
                  <a:solidFill>
                    <a:schemeClr val="tx1"/>
                  </a:solidFill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</a:rPr>
                <a:t>I2C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C215AC8-5249-6FBB-3B3E-71343F6FA5B1}"/>
              </a:ext>
            </a:extLst>
          </p:cNvPr>
          <p:cNvGrpSpPr/>
          <p:nvPr/>
        </p:nvGrpSpPr>
        <p:grpSpPr>
          <a:xfrm>
            <a:off x="4266554" y="1413908"/>
            <a:ext cx="3553099" cy="2626755"/>
            <a:chOff x="4266554" y="1413908"/>
            <a:chExt cx="3553099" cy="2626755"/>
          </a:xfrm>
        </p:grpSpPr>
        <p:pic>
          <p:nvPicPr>
            <p:cNvPr id="17" name="Picture 16" descr="A picture containing icon&#10;&#10;Description automatically generated">
              <a:extLst>
                <a:ext uri="{FF2B5EF4-FFF2-40B4-BE49-F238E27FC236}">
                  <a16:creationId xmlns:a16="http://schemas.microsoft.com/office/drawing/2014/main" id="{F2B22414-8725-B5F1-4CCB-C167D07B3F6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163860">
              <a:off x="4266554" y="1413908"/>
              <a:ext cx="3553099" cy="2626755"/>
            </a:xfrm>
            <a:prstGeom prst="rect">
              <a:avLst/>
            </a:prstGeom>
          </p:spPr>
        </p:pic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2080DCC-317F-E14B-9E00-A81B9B74C424}"/>
                </a:ext>
              </a:extLst>
            </p:cNvPr>
            <p:cNvSpPr/>
            <p:nvPr/>
          </p:nvSpPr>
          <p:spPr>
            <a:xfrm rot="1544292">
              <a:off x="5089508" y="2449244"/>
              <a:ext cx="1064715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1" cap="none" spc="0" dirty="0">
                  <a:ln w="9525">
                    <a:solidFill>
                      <a:schemeClr val="bg1"/>
                    </a:solidFill>
                    <a:prstDash val="solid"/>
                  </a:ln>
                  <a:solidFill>
                    <a:schemeClr val="tx1"/>
                  </a:solidFill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</a:rPr>
                <a:t>SPI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C285CDAD-7CBA-9E7B-C3F2-D0E682A94DD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71233" flipH="1">
            <a:off x="912718" y="1379619"/>
            <a:ext cx="2337109" cy="2695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4544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25317" y="1044006"/>
            <a:ext cx="8184343" cy="5092995"/>
          </a:xfrm>
        </p:spPr>
        <p:txBody>
          <a:bodyPr>
            <a:normAutofit/>
          </a:bodyPr>
          <a:lstStyle/>
          <a:p>
            <a:r>
              <a:rPr lang="en-ZA" altLang="en-US" dirty="0"/>
              <a:t>Getting into the SPI and I2C serial protocols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Outline of Lecture</a:t>
            </a:r>
            <a:endParaRPr lang="en-ZA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DC0146-FB4F-5EF9-1675-68D643DE1E02}"/>
              </a:ext>
            </a:extLst>
          </p:cNvPr>
          <p:cNvSpPr txBox="1"/>
          <p:nvPr/>
        </p:nvSpPr>
        <p:spPr>
          <a:xfrm>
            <a:off x="510362" y="6137001"/>
            <a:ext cx="77265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altLang="en-US" dirty="0"/>
              <a:t>Acknowledgement: these slides adapted from ESII 2021 slides by J. Wyngaard.</a:t>
            </a:r>
            <a:endParaRPr lang="en-Z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88AC02-4DF2-23EC-6648-DA25323693B7}"/>
              </a:ext>
            </a:extLst>
          </p:cNvPr>
          <p:cNvSpPr txBox="1"/>
          <p:nvPr/>
        </p:nvSpPr>
        <p:spPr>
          <a:xfrm>
            <a:off x="708721" y="2343839"/>
            <a:ext cx="7329840" cy="646331"/>
          </a:xfrm>
          <a:prstGeom prst="rect">
            <a:avLst/>
          </a:prstGeom>
          <a:solidFill>
            <a:srgbClr val="FFFF66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ZA" altLang="en-US" b="1" dirty="0"/>
              <a:t>Plan for 03 Sept: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altLang="en-US" dirty="0"/>
              <a:t>Training for I2C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164745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22EBBBF-0867-8A83-573C-CCFA35D43B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ZA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Comms 1: </a:t>
            </a:r>
          </a:p>
          <a:p>
            <a:pPr lvl="1"/>
            <a:r>
              <a:rPr lang="en-ZA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Intro: Serial vs </a:t>
            </a:r>
            <a:r>
              <a:rPr lang="en-ZA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Parallal</a:t>
            </a:r>
            <a:r>
              <a:rPr lang="en-ZA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Synch/</a:t>
            </a:r>
            <a:r>
              <a:rPr lang="en-ZA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Asynch</a:t>
            </a:r>
            <a:endParaRPr lang="en-ZA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ZA" dirty="0"/>
              <a:t>Comms 2:</a:t>
            </a:r>
          </a:p>
          <a:p>
            <a:pPr lvl="1"/>
            <a:r>
              <a:rPr lang="en-ZA" dirty="0"/>
              <a:t>I2C</a:t>
            </a:r>
            <a:r>
              <a:rPr lang="en-ZA" dirty="0">
                <a:solidFill>
                  <a:schemeClr val="bg1">
                    <a:lumMod val="50000"/>
                  </a:schemeClr>
                </a:solidFill>
              </a:rPr>
              <a:t> &amp; SPI </a:t>
            </a:r>
          </a:p>
          <a:p>
            <a:pPr lvl="1"/>
            <a:r>
              <a:rPr lang="en-ZA" dirty="0">
                <a:solidFill>
                  <a:schemeClr val="bg1">
                    <a:lumMod val="50000"/>
                  </a:schemeClr>
                </a:solidFill>
              </a:rPr>
              <a:t>PWMs &amp; Peripherals</a:t>
            </a:r>
          </a:p>
          <a:p>
            <a:r>
              <a:rPr lang="en-ZA" dirty="0"/>
              <a:t>Comms 3:</a:t>
            </a:r>
          </a:p>
          <a:p>
            <a:pPr lvl="1"/>
            <a:r>
              <a:rPr lang="en-ZA" dirty="0"/>
              <a:t>Timers</a:t>
            </a:r>
          </a:p>
          <a:p>
            <a:pPr lvl="1"/>
            <a:r>
              <a:rPr lang="en-ZA" dirty="0"/>
              <a:t>RS232 &amp; RS485</a:t>
            </a:r>
          </a:p>
          <a:p>
            <a:pPr lvl="1"/>
            <a:r>
              <a:rPr lang="en-ZA" dirty="0"/>
              <a:t>Brieﬂy, some other interface protocols</a:t>
            </a:r>
          </a:p>
          <a:p>
            <a:pPr lvl="1"/>
            <a:r>
              <a:rPr lang="en-ZA" dirty="0"/>
              <a:t>{Brief Introduction to Wireless Communications – if time permits}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545D61A-4AD9-08E7-431A-8DA41B4BA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ES Communications Training Plan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58D6AB6-B5F2-5532-AEC7-CF92ACA1B0B2}"/>
              </a:ext>
            </a:extLst>
          </p:cNvPr>
          <p:cNvCxnSpPr>
            <a:cxnSpLocks/>
          </p:cNvCxnSpPr>
          <p:nvPr/>
        </p:nvCxnSpPr>
        <p:spPr>
          <a:xfrm>
            <a:off x="818147" y="2425566"/>
            <a:ext cx="317991" cy="794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7914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133351" y="2054655"/>
            <a:ext cx="487729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The I2C Protocol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076A64D-2406-0AF5-4B7C-91E02F4005DA}"/>
              </a:ext>
            </a:extLst>
          </p:cNvPr>
          <p:cNvGrpSpPr/>
          <p:nvPr/>
        </p:nvGrpSpPr>
        <p:grpSpPr>
          <a:xfrm>
            <a:off x="2434130" y="3276295"/>
            <a:ext cx="3745770" cy="2769194"/>
            <a:chOff x="1462751" y="1068842"/>
            <a:chExt cx="3745770" cy="2769194"/>
          </a:xfrm>
        </p:grpSpPr>
        <p:pic>
          <p:nvPicPr>
            <p:cNvPr id="4" name="Picture 3" descr="A picture containing rectangle&#10;&#10;Description automatically generated">
              <a:extLst>
                <a:ext uri="{FF2B5EF4-FFF2-40B4-BE49-F238E27FC236}">
                  <a16:creationId xmlns:a16="http://schemas.microsoft.com/office/drawing/2014/main" id="{4B334C30-8DBA-99E7-BCD7-A40AE64C36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072267">
              <a:off x="1462751" y="1068842"/>
              <a:ext cx="3745770" cy="2769194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CD03499-1B42-73A7-CC4E-9F300642207B}"/>
                </a:ext>
              </a:extLst>
            </p:cNvPr>
            <p:cNvSpPr/>
            <p:nvPr/>
          </p:nvSpPr>
          <p:spPr>
            <a:xfrm rot="20383774">
              <a:off x="2552849" y="2520017"/>
              <a:ext cx="1087157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1" cap="none" spc="0" dirty="0">
                  <a:ln w="9525">
                    <a:solidFill>
                      <a:schemeClr val="bg1"/>
                    </a:solidFill>
                    <a:prstDash val="solid"/>
                  </a:ln>
                  <a:solidFill>
                    <a:schemeClr val="tx1"/>
                  </a:solidFill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</a:rPr>
                <a:t>I2C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863884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iagram, schematic&#10;&#10;Description automatically generated">
            <a:extLst>
              <a:ext uri="{FF2B5EF4-FFF2-40B4-BE49-F238E27FC236}">
                <a16:creationId xmlns:a16="http://schemas.microsoft.com/office/drawing/2014/main" id="{CB72DBE7-A133-8361-0C03-3C12FD782E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9740" y="1710535"/>
            <a:ext cx="4276420" cy="3586675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C9B4B61-72E7-0355-6D51-A18D9311B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ZA" sz="3700" dirty="0"/>
              <a:t>I2C Protocol Overview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22F8AD-2FD6-EEBF-23C7-D81BCF5602D7}"/>
              </a:ext>
            </a:extLst>
          </p:cNvPr>
          <p:cNvSpPr txBox="1"/>
          <p:nvPr/>
        </p:nvSpPr>
        <p:spPr>
          <a:xfrm>
            <a:off x="624075" y="1188206"/>
            <a:ext cx="7862013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sz="2400" dirty="0"/>
              <a:t>I2C = Inter-Integrated Circuit, aka “eye squared” (I2C)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0CC04C-EF06-37B1-6C44-871D0D25D078}"/>
              </a:ext>
            </a:extLst>
          </p:cNvPr>
          <p:cNvSpPr txBox="1"/>
          <p:nvPr/>
        </p:nvSpPr>
        <p:spPr>
          <a:xfrm>
            <a:off x="552998" y="1724781"/>
            <a:ext cx="4142831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 communication protocol Invented by Philips Semiconductor in 1989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Half duplex</a:t>
            </a:r>
            <a:r>
              <a:rPr lang="en-US" sz="2000" dirty="0"/>
              <a:t> (both ends can send but not simultaneously)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Serial</a:t>
            </a:r>
            <a:r>
              <a:rPr lang="en-US" sz="2000" dirty="0"/>
              <a:t> (bits sent sequentially</a:t>
            </a:r>
            <a:br>
              <a:rPr lang="en-US" sz="2000" dirty="0"/>
            </a:br>
            <a:r>
              <a:rPr lang="en-US" sz="2000" dirty="0"/>
              <a:t>one at a time)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Synchronous</a:t>
            </a:r>
            <a:r>
              <a:rPr lang="en-US" sz="2000" dirty="0"/>
              <a:t> (uses shared clock)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Simple</a:t>
            </a:r>
            <a:r>
              <a:rPr lang="en-US" sz="2000" dirty="0"/>
              <a:t>, robust, low cost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Easy to use when you need communication between a chain of devices and a microprocessor / microcontroller</a:t>
            </a:r>
            <a:endParaRPr lang="en-ZA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255AE8-E1FD-13E2-1D1A-9381940F6282}"/>
              </a:ext>
            </a:extLst>
          </p:cNvPr>
          <p:cNvSpPr txBox="1"/>
          <p:nvPr/>
        </p:nvSpPr>
        <p:spPr>
          <a:xfrm>
            <a:off x="543373" y="5378731"/>
            <a:ext cx="539334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2 wires:</a:t>
            </a:r>
          </a:p>
          <a:p>
            <a:pPr marL="800100" lvl="1" indent="-342900">
              <a:lnSpc>
                <a:spcPct val="90000"/>
              </a:lnSpc>
              <a:buFontTx/>
              <a:buChar char="-"/>
            </a:pPr>
            <a:r>
              <a:rPr lang="en-US" sz="2000" b="1" dirty="0"/>
              <a:t>SDA:</a:t>
            </a:r>
            <a:r>
              <a:rPr lang="en-US" sz="2000" dirty="0"/>
              <a:t> Serial Data Line</a:t>
            </a:r>
          </a:p>
          <a:p>
            <a:pPr marL="800100" lvl="1" indent="-342900">
              <a:lnSpc>
                <a:spcPct val="90000"/>
              </a:lnSpc>
              <a:buFontTx/>
              <a:buChar char="-"/>
            </a:pPr>
            <a:r>
              <a:rPr lang="en-US" sz="2000" b="1" dirty="0"/>
              <a:t>SCL:</a:t>
            </a:r>
            <a:r>
              <a:rPr lang="en-US" sz="2000" dirty="0"/>
              <a:t> Serial Clock Line</a:t>
            </a:r>
          </a:p>
          <a:p>
            <a:pPr marL="800100" lvl="1" indent="-342900">
              <a:lnSpc>
                <a:spcPct val="90000"/>
              </a:lnSpc>
              <a:buFontTx/>
              <a:buChar char="-"/>
            </a:pPr>
            <a:r>
              <a:rPr lang="en-US" sz="2000" b="1" dirty="0"/>
              <a:t>SDA:</a:t>
            </a:r>
            <a:r>
              <a:rPr lang="en-US" sz="2000" dirty="0"/>
              <a:t> state changes when SCL is low</a:t>
            </a:r>
            <a:endParaRPr lang="en-ZA" sz="2000" dirty="0"/>
          </a:p>
        </p:txBody>
      </p:sp>
    </p:spTree>
    <p:extLst>
      <p:ext uri="{BB962C8B-B14F-4D97-AF65-F5344CB8AC3E}">
        <p14:creationId xmlns:p14="http://schemas.microsoft.com/office/powerpoint/2010/main" val="1647614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C9B4B61-72E7-0355-6D51-A18D9311B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ZA" sz="3700" dirty="0"/>
              <a:t>I2C Protocol Overview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0CC04C-EF06-37B1-6C44-871D0D25D078}"/>
              </a:ext>
            </a:extLst>
          </p:cNvPr>
          <p:cNvSpPr txBox="1"/>
          <p:nvPr/>
        </p:nvSpPr>
        <p:spPr>
          <a:xfrm>
            <a:off x="543373" y="1080675"/>
            <a:ext cx="525026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Supports multiple master and multiple slaves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Widely used for short distance on PCB / nearby oﬀ-board communications </a:t>
            </a:r>
            <a:br>
              <a:rPr lang="en-US" sz="2000" dirty="0"/>
            </a:br>
            <a:r>
              <a:rPr lang="en-US" sz="2000" dirty="0"/>
              <a:t>(</a:t>
            </a:r>
            <a:r>
              <a:rPr lang="en-US" sz="2000" dirty="0" err="1"/>
              <a:t>Eg</a:t>
            </a:r>
            <a:r>
              <a:rPr lang="en-US" sz="2000" dirty="0"/>
              <a:t>: RTC, Temp sensors, ADC, EEPROM...)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Board layout is simple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Many libraries in many languages are readily available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Veriﬁcation of every byte is built in: </a:t>
            </a:r>
          </a:p>
          <a:p>
            <a:pPr marL="800100" lvl="1" indent="-342900">
              <a:lnSpc>
                <a:spcPct val="90000"/>
              </a:lnSpc>
              <a:buFontTx/>
              <a:buChar char="-"/>
            </a:pPr>
            <a:r>
              <a:rPr lang="en-US" sz="2000" dirty="0"/>
              <a:t>An acknowledge (ACK) signal is built into the protocol after every data word</a:t>
            </a:r>
            <a:endParaRPr lang="en-ZA" sz="2000" dirty="0"/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19416028-E0C7-E6E1-3D60-461E3AEC0F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0935" y="1495365"/>
            <a:ext cx="2792987" cy="287299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5D5847D-3B10-7067-79DA-F08F7CBA74A5}"/>
              </a:ext>
            </a:extLst>
          </p:cNvPr>
          <p:cNvSpPr txBox="1"/>
          <p:nvPr/>
        </p:nvSpPr>
        <p:spPr>
          <a:xfrm>
            <a:off x="543373" y="3802599"/>
            <a:ext cx="784625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Speeds:</a:t>
            </a:r>
          </a:p>
          <a:p>
            <a:pPr marL="800100" lvl="1" indent="-342900">
              <a:lnSpc>
                <a:spcPct val="90000"/>
              </a:lnSpc>
              <a:buFontTx/>
              <a:buChar char="-"/>
            </a:pPr>
            <a:r>
              <a:rPr lang="en-US" sz="2000" dirty="0"/>
              <a:t>Standard mode: 100 kbit/s</a:t>
            </a:r>
          </a:p>
          <a:p>
            <a:pPr marL="800100" lvl="1" indent="-342900">
              <a:lnSpc>
                <a:spcPct val="90000"/>
              </a:lnSpc>
              <a:buFontTx/>
              <a:buChar char="-"/>
            </a:pPr>
            <a:r>
              <a:rPr lang="en-US" sz="2000" dirty="0"/>
              <a:t>Fast mode: 400 kbit/s</a:t>
            </a:r>
          </a:p>
          <a:p>
            <a:pPr marL="800100" lvl="1" indent="-342900">
              <a:lnSpc>
                <a:spcPct val="90000"/>
              </a:lnSpc>
              <a:buFontTx/>
              <a:buChar char="-"/>
            </a:pPr>
            <a:r>
              <a:rPr lang="en-US" sz="2000" dirty="0"/>
              <a:t>High speed: 3.4 Mbit/s</a:t>
            </a:r>
          </a:p>
          <a:p>
            <a:pPr>
              <a:lnSpc>
                <a:spcPct val="90000"/>
              </a:lnSpc>
            </a:pPr>
            <a:endParaRPr lang="en-US" sz="2000" dirty="0"/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Often some bits of the address will be set in hardware while others can be deﬁned by the PCB designer. </a:t>
            </a:r>
          </a:p>
          <a:p>
            <a:pPr>
              <a:lnSpc>
                <a:spcPct val="90000"/>
              </a:lnSpc>
            </a:pPr>
            <a:r>
              <a:rPr lang="en-US" sz="2000" dirty="0">
                <a:solidFill>
                  <a:schemeClr val="accent5">
                    <a:lumMod val="50000"/>
                  </a:schemeClr>
                </a:solidFill>
              </a:rPr>
              <a:t>e.g.:   A2, A1, A0 are held to ground in the PCB = '000’</a:t>
            </a:r>
          </a:p>
          <a:p>
            <a:pPr>
              <a:lnSpc>
                <a:spcPct val="90000"/>
              </a:lnSpc>
            </a:pPr>
            <a:r>
              <a:rPr lang="en-US" sz="2000" dirty="0">
                <a:solidFill>
                  <a:schemeClr val="accent5">
                    <a:lumMod val="50000"/>
                  </a:schemeClr>
                </a:solidFill>
              </a:rPr>
              <a:t>           A6, A5, A4, A3 are set in the IC device</a:t>
            </a:r>
            <a:endParaRPr lang="en-ZA" sz="2000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62190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9FB1A-7203-6695-FCCF-4F716CF09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Recap: Integrated Circuit Input/Outputs</a:t>
            </a:r>
            <a:endParaRPr lang="en-ZA"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CEDBDD-06F7-9D58-E443-414EB09F029F}"/>
              </a:ext>
            </a:extLst>
          </p:cNvPr>
          <p:cNvSpPr txBox="1"/>
          <p:nvPr/>
        </p:nvSpPr>
        <p:spPr>
          <a:xfrm>
            <a:off x="624075" y="1188206"/>
            <a:ext cx="7862013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sz="2400" dirty="0"/>
              <a:t>Digital logic can be High / Low / Floating (undeﬁned)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F543A8-7F5B-D93D-A6F8-6B3829F84FC9}"/>
              </a:ext>
            </a:extLst>
          </p:cNvPr>
          <p:cNvSpPr txBox="1"/>
          <p:nvPr/>
        </p:nvSpPr>
        <p:spPr>
          <a:xfrm>
            <a:off x="624075" y="1835548"/>
            <a:ext cx="386629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Pull up/down resistors remove the chance of ﬂoating/undeﬁned values by creating a default so the state of a pin is always known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Some ICs include these pull up/down resistors internally (check the datasheet)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Resistor value depends on pin impedance and leakage current</a:t>
            </a:r>
            <a:endParaRPr lang="en-ZA" sz="2000" dirty="0"/>
          </a:p>
        </p:txBody>
      </p:sp>
      <p:pic>
        <p:nvPicPr>
          <p:cNvPr id="6" name="Picture 5" descr="Diagram, schematic&#10;&#10;Description automatically generated">
            <a:extLst>
              <a:ext uri="{FF2B5EF4-FFF2-40B4-BE49-F238E27FC236}">
                <a16:creationId xmlns:a16="http://schemas.microsoft.com/office/drawing/2014/main" id="{0BC07179-0DE1-438D-9936-DB32BAF696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0115" y="1835548"/>
            <a:ext cx="3455973" cy="2910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1426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9E9C008-6DB9-D77C-CB2D-DC76FA3CC9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75676" y="1848322"/>
            <a:ext cx="3634893" cy="342606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6E9FB1A-7203-6695-FCCF-4F716CF09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I2C Hardware</a:t>
            </a:r>
            <a:endParaRPr lang="en-ZA"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CEDBDD-06F7-9D58-E443-414EB09F029F}"/>
              </a:ext>
            </a:extLst>
          </p:cNvPr>
          <p:cNvSpPr txBox="1"/>
          <p:nvPr/>
        </p:nvSpPr>
        <p:spPr>
          <a:xfrm>
            <a:off x="624075" y="1188206"/>
            <a:ext cx="7862013" cy="757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sz="2400" dirty="0"/>
              <a:t>I2C interface pins will have an open drain collector on both the clock and data pins.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F543A8-7F5B-D93D-A6F8-6B3829F84FC9}"/>
              </a:ext>
            </a:extLst>
          </p:cNvPr>
          <p:cNvSpPr txBox="1"/>
          <p:nvPr/>
        </p:nvSpPr>
        <p:spPr>
          <a:xfrm>
            <a:off x="624075" y="2130195"/>
            <a:ext cx="4242245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 4.7k is a standard recommendation for pull-up resistors to use.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Bus signals always default to logic high and so must be actively pulled low for operation</a:t>
            </a:r>
          </a:p>
          <a:p>
            <a:pPr marL="800100" lvl="1" indent="-342900">
              <a:lnSpc>
                <a:spcPct val="90000"/>
              </a:lnSpc>
              <a:buFontTx/>
              <a:buChar char="-"/>
            </a:pPr>
            <a:r>
              <a:rPr lang="en-US" sz="2000" dirty="0"/>
              <a:t>If a devices dies the lines will return high and be available for other devices to continue functioning</a:t>
            </a:r>
          </a:p>
          <a:p>
            <a:pPr marL="800100" lvl="1" indent="-342900">
              <a:lnSpc>
                <a:spcPct val="90000"/>
              </a:lnSpc>
              <a:buFontTx/>
              <a:buChar char="-"/>
            </a:pPr>
            <a:r>
              <a:rPr lang="en-US" sz="2000" dirty="0"/>
              <a:t>If needed a slave can hold the </a:t>
            </a:r>
            <a:r>
              <a:rPr lang="en-US" sz="2000" dirty="0" err="1"/>
              <a:t>clk</a:t>
            </a:r>
            <a:r>
              <a:rPr lang="en-US" sz="2000" dirty="0"/>
              <a:t> low to reduce frequency</a:t>
            </a:r>
          </a:p>
          <a:p>
            <a:pPr marL="800100" lvl="1" indent="-342900">
              <a:lnSpc>
                <a:spcPct val="90000"/>
              </a:lnSpc>
              <a:buFontTx/>
              <a:buChar char="-"/>
            </a:pPr>
            <a:r>
              <a:rPr lang="en-US" sz="2000" dirty="0"/>
              <a:t>Diﬀerent VCCs on the same lines can exist (provided other devices can tolerate higher V)</a:t>
            </a:r>
            <a:endParaRPr lang="en-ZA" sz="2000" dirty="0"/>
          </a:p>
        </p:txBody>
      </p:sp>
    </p:spTree>
    <p:extLst>
      <p:ext uri="{BB962C8B-B14F-4D97-AF65-F5344CB8AC3E}">
        <p14:creationId xmlns:p14="http://schemas.microsoft.com/office/powerpoint/2010/main" val="77949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9FB1A-7203-6695-FCCF-4F716CF09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I2C Protocol</a:t>
            </a:r>
            <a:endParaRPr lang="en-ZA"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CEDBDD-06F7-9D58-E443-414EB09F029F}"/>
              </a:ext>
            </a:extLst>
          </p:cNvPr>
          <p:cNvSpPr txBox="1"/>
          <p:nvPr/>
        </p:nvSpPr>
        <p:spPr>
          <a:xfrm>
            <a:off x="624075" y="1188206"/>
            <a:ext cx="7862013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sz="2400" dirty="0"/>
              <a:t>Sequence of actions performed when communicating via I2C: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0825FF-3ACF-D4E0-10A2-DCF5A75A6B37}"/>
              </a:ext>
            </a:extLst>
          </p:cNvPr>
          <p:cNvSpPr txBox="1"/>
          <p:nvPr/>
        </p:nvSpPr>
        <p:spPr>
          <a:xfrm>
            <a:off x="529319" y="1831589"/>
            <a:ext cx="7862013" cy="4413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90000"/>
              </a:lnSpc>
              <a:buFont typeface="+mj-lt"/>
              <a:buAutoNum type="arabicPeriod"/>
            </a:pPr>
            <a:r>
              <a:rPr lang="en-US" sz="2400" b="1" dirty="0"/>
              <a:t>Idle state:</a:t>
            </a:r>
            <a:r>
              <a:rPr lang="en-US" sz="2400" dirty="0"/>
              <a:t> SDA &amp; SCL Signals HIGH </a:t>
            </a:r>
            <a:r>
              <a:rPr lang="en-US" sz="2000" i="1" dirty="0"/>
              <a:t>//Default state for SCL and SDA is HIGH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</a:pPr>
            <a:r>
              <a:rPr lang="en-US" sz="2400" b="1" dirty="0"/>
              <a:t>Start command:</a:t>
            </a:r>
            <a:r>
              <a:rPr lang="en-US" sz="2400" dirty="0"/>
              <a:t> SDA transitions from HIGH to LOW while SCL is HIGH. </a:t>
            </a:r>
            <a:r>
              <a:rPr lang="en-US" sz="2000" i="1" dirty="0"/>
              <a:t>//Pulling low is an active action</a:t>
            </a:r>
            <a:endParaRPr lang="en-US" sz="2400" i="1" dirty="0"/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</a:pPr>
            <a:r>
              <a:rPr lang="en-US" sz="2400" b="1" dirty="0"/>
              <a:t>Stop command:</a:t>
            </a:r>
            <a:r>
              <a:rPr lang="en-US" sz="2400" dirty="0"/>
              <a:t> SDA transitions from LOW to HIGH while SCL is high </a:t>
            </a:r>
            <a:r>
              <a:rPr lang="en-US" sz="2000" i="1" dirty="0"/>
              <a:t>//Release control of line</a:t>
            </a:r>
            <a:endParaRPr lang="en-US" sz="2400" i="1" dirty="0"/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</a:pPr>
            <a:r>
              <a:rPr lang="en-US" sz="2400" b="1" dirty="0"/>
              <a:t>Read:</a:t>
            </a:r>
            <a:r>
              <a:rPr lang="en-US" sz="2400" dirty="0"/>
              <a:t> Transmitter leaves SDA to stay HIGH (logic 1) after an address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</a:pPr>
            <a:r>
              <a:rPr lang="en-US" sz="2400" b="1" dirty="0"/>
              <a:t>Write:</a:t>
            </a:r>
            <a:r>
              <a:rPr lang="en-US" sz="2400" dirty="0"/>
              <a:t> Transmitter pulls SDA LOW (logic 0) after an address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</a:pPr>
            <a:r>
              <a:rPr lang="en-US" sz="2400" b="1" dirty="0"/>
              <a:t>Acknowledge (ACK):</a:t>
            </a:r>
            <a:r>
              <a:rPr lang="en-US" sz="2400" dirty="0"/>
              <a:t> Receiver actively pulls SDA LOW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</a:pPr>
            <a:r>
              <a:rPr lang="en-US" sz="2400" b="1" dirty="0"/>
              <a:t>Not Acknowledge (NACK):</a:t>
            </a:r>
            <a:r>
              <a:rPr lang="en-US" sz="2400" dirty="0"/>
              <a:t> Receiver doesn’t pull SDA LOW, defaults to HIGH</a:t>
            </a:r>
          </a:p>
        </p:txBody>
      </p:sp>
    </p:spTree>
    <p:extLst>
      <p:ext uri="{BB962C8B-B14F-4D97-AF65-F5344CB8AC3E}">
        <p14:creationId xmlns:p14="http://schemas.microsoft.com/office/powerpoint/2010/main" val="1140668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1D996-2503-929A-B800-08EA17B20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/>
              <a:t>I2C Protocol: Master writes to Slave</a:t>
            </a:r>
            <a:endParaRPr lang="en-ZA" dirty="0"/>
          </a:p>
        </p:txBody>
      </p:sp>
      <p:pic>
        <p:nvPicPr>
          <p:cNvPr id="4" name="Picture 3" descr="Graphical user interface, diagram&#10;&#10;Description automatically generated">
            <a:extLst>
              <a:ext uri="{FF2B5EF4-FFF2-40B4-BE49-F238E27FC236}">
                <a16:creationId xmlns:a16="http://schemas.microsoft.com/office/drawing/2014/main" id="{A9C8E887-9474-B41F-606E-07BF995322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986" y="1080676"/>
            <a:ext cx="8104249" cy="129676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6013140-FE37-13AC-D336-34A7110B65DE}"/>
              </a:ext>
            </a:extLst>
          </p:cNvPr>
          <p:cNvSpPr txBox="1"/>
          <p:nvPr/>
        </p:nvSpPr>
        <p:spPr>
          <a:xfrm>
            <a:off x="510362" y="2218401"/>
            <a:ext cx="811365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Master writes to Slave: 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</a:pPr>
            <a:r>
              <a:rPr lang="en-US" sz="2000" dirty="0"/>
              <a:t>Both lines idle (HIGH)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</a:pPr>
            <a:r>
              <a:rPr lang="en-US" sz="2000" dirty="0">
                <a:solidFill>
                  <a:srgbClr val="FF0000"/>
                </a:solidFill>
              </a:rPr>
              <a:t>Master transmits </a:t>
            </a:r>
            <a:r>
              <a:rPr lang="en-US" sz="2000" dirty="0"/>
              <a:t>Start: SDA pulled LOW while SCL is high by master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</a:pPr>
            <a:r>
              <a:rPr lang="en-US" sz="2000" dirty="0">
                <a:solidFill>
                  <a:srgbClr val="FF0000"/>
                </a:solidFill>
              </a:rPr>
              <a:t>Master transmits</a:t>
            </a:r>
            <a:r>
              <a:rPr lang="en-US" sz="2000" dirty="0"/>
              <a:t> 7-bit Slave address to indicated which slave should listen to the data arriving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</a:pPr>
            <a:r>
              <a:rPr lang="en-US" sz="2000" dirty="0">
                <a:solidFill>
                  <a:srgbClr val="FF0000"/>
                </a:solidFill>
              </a:rPr>
              <a:t>Master transmits</a:t>
            </a:r>
            <a:r>
              <a:rPr lang="en-US" sz="2000" dirty="0"/>
              <a:t> Write bit: SDA pulled LOW for 1 bit by master or a read bit SDA pulled LOW for 1 bit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</a:pPr>
            <a:r>
              <a:rPr lang="en-US" sz="2000" dirty="0">
                <a:solidFill>
                  <a:srgbClr val="00B050"/>
                </a:solidFill>
              </a:rPr>
              <a:t>Receiving Slave</a:t>
            </a:r>
            <a:r>
              <a:rPr lang="en-US" sz="2000" dirty="0"/>
              <a:t> (who was addressed) transmits ACK (acknowledge) bit: SDA is actively pulled LOW for 1 bit by the addressed slave, all other slaves leave line high. </a:t>
            </a:r>
            <a:r>
              <a:rPr lang="en-US" sz="1400" dirty="0"/>
              <a:t>If address was invalid line is left high by all = NACK (not acknowledge)</a:t>
            </a:r>
            <a:endParaRPr lang="en-US" sz="2000" dirty="0"/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</a:pPr>
            <a:r>
              <a:rPr lang="en-US" sz="2000" dirty="0">
                <a:solidFill>
                  <a:srgbClr val="FF0000"/>
                </a:solidFill>
              </a:rPr>
              <a:t>Master transmits</a:t>
            </a:r>
            <a:r>
              <a:rPr lang="en-US" sz="2000" dirty="0"/>
              <a:t> 8-bits of data, this is usually the address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</a:pPr>
            <a:r>
              <a:rPr lang="en-US" sz="2000" dirty="0">
                <a:solidFill>
                  <a:srgbClr val="00B050"/>
                </a:solidFill>
              </a:rPr>
              <a:t>Receiving Slave</a:t>
            </a:r>
            <a:r>
              <a:rPr lang="en-US" sz="2000" dirty="0"/>
              <a:t> transmits ACK: SDA pulled LOW to acknowledge transmission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</a:pPr>
            <a:r>
              <a:rPr lang="en-US" sz="2000" dirty="0">
                <a:solidFill>
                  <a:srgbClr val="FF0000"/>
                </a:solidFill>
              </a:rPr>
              <a:t>Master transmits</a:t>
            </a:r>
            <a:r>
              <a:rPr lang="en-US" sz="2000" dirty="0"/>
              <a:t> next 8-bits of data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</a:pPr>
            <a:r>
              <a:rPr lang="en-US" sz="2000" dirty="0">
                <a:solidFill>
                  <a:srgbClr val="FF0000"/>
                </a:solidFill>
              </a:rPr>
              <a:t>Master transmits</a:t>
            </a:r>
            <a:r>
              <a:rPr lang="en-US" sz="2000" dirty="0"/>
              <a:t> Stop command to indicate end of communication with that slave (lets SDA stay high while SCL HIGH)</a:t>
            </a:r>
            <a:endParaRPr lang="en-ZA" sz="2000" dirty="0"/>
          </a:p>
        </p:txBody>
      </p:sp>
    </p:spTree>
    <p:extLst>
      <p:ext uri="{BB962C8B-B14F-4D97-AF65-F5344CB8AC3E}">
        <p14:creationId xmlns:p14="http://schemas.microsoft.com/office/powerpoint/2010/main" val="20351602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25E48-71F5-EDB4-7926-FA2037402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/>
              <a:t>I2C Protocol: Master writes to Slave</a:t>
            </a:r>
            <a:endParaRPr lang="en-ZA" dirty="0"/>
          </a:p>
        </p:txBody>
      </p:sp>
      <p:pic>
        <p:nvPicPr>
          <p:cNvPr id="4" name="Picture 3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E0C2828C-CB1B-5EE7-BFC9-F41A8805F3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044" y="1291130"/>
            <a:ext cx="8014521" cy="36357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98860BD-10A9-11CB-9C48-C9511D39227A}"/>
              </a:ext>
            </a:extLst>
          </p:cNvPr>
          <p:cNvSpPr txBox="1"/>
          <p:nvPr/>
        </p:nvSpPr>
        <p:spPr>
          <a:xfrm>
            <a:off x="598659" y="5541462"/>
            <a:ext cx="79466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Illustration showing sequence of bits sent on the I2C SDA line, which bits are driven by the master (gray block) and which are driven by slave (white blocks). 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4723623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BEBC8-D00F-506F-7DEB-F7763E3AC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/>
              <a:t>I2C Protocol: Master writes to Slave</a:t>
            </a:r>
            <a:endParaRPr lang="en-ZA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1EE97D-FE10-104E-772F-073EB5927A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362" y="2238324"/>
            <a:ext cx="8123276" cy="8302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0FF460E-ADE1-8946-031F-E3AC9AB16E8D}"/>
              </a:ext>
            </a:extLst>
          </p:cNvPr>
          <p:cNvSpPr txBox="1"/>
          <p:nvPr/>
        </p:nvSpPr>
        <p:spPr>
          <a:xfrm>
            <a:off x="598659" y="1291130"/>
            <a:ext cx="79466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Illustration of SCL (clock) and SDA (data) lines</a:t>
            </a:r>
          </a:p>
          <a:p>
            <a:r>
              <a:rPr lang="en-US" sz="1800" dirty="0"/>
              <a:t>SCL positive edge indicates SDA is </a:t>
            </a:r>
            <a:r>
              <a:rPr lang="en-US" dirty="0"/>
              <a:t>ready to </a:t>
            </a:r>
            <a:r>
              <a:rPr lang="en-US" sz="1800" dirty="0"/>
              <a:t>be read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6971819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6685A-0F8E-006C-4F6A-AF883A3DC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/>
              <a:t>I2C Arbitration and clock stretching</a:t>
            </a:r>
            <a:endParaRPr lang="en-Z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59AD3A-8A36-2A18-9F97-8DE0CA5BF4A3}"/>
              </a:ext>
            </a:extLst>
          </p:cNvPr>
          <p:cNvSpPr txBox="1"/>
          <p:nvPr/>
        </p:nvSpPr>
        <p:spPr>
          <a:xfrm>
            <a:off x="624075" y="1291130"/>
            <a:ext cx="7862013" cy="374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sz="2400" b="1" dirty="0"/>
              <a:t>Arbitration =</a:t>
            </a:r>
            <a:r>
              <a:rPr lang="en-US" sz="2400" dirty="0"/>
              <a:t> 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With multiple masters on a bus, each monitors for idle (both lines high) and only uses the bus when it is free.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If two masters attempt to use the bus simultaneously, the ﬁrst to pull SDA low while trying to transmit a '0' will 'win' and the other will back oﬀ.</a:t>
            </a:r>
          </a:p>
          <a:p>
            <a:pPr>
              <a:lnSpc>
                <a:spcPct val="90000"/>
              </a:lnSpc>
            </a:pPr>
            <a:endParaRPr lang="en-US" sz="2400" dirty="0"/>
          </a:p>
          <a:p>
            <a:pPr>
              <a:lnSpc>
                <a:spcPct val="90000"/>
              </a:lnSpc>
            </a:pPr>
            <a:r>
              <a:rPr lang="en-US" sz="2400" b="1" dirty="0"/>
              <a:t>Clock stretching =</a:t>
            </a:r>
            <a:r>
              <a:rPr lang="en-US" sz="2400" dirty="0"/>
              <a:t> 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Any device can hold SCL low, if a device wishes to slow the clock it can do so by simply holding SCL low longer than is otherwise anticipated.</a:t>
            </a:r>
          </a:p>
        </p:txBody>
      </p:sp>
    </p:spTree>
    <p:extLst>
      <p:ext uri="{BB962C8B-B14F-4D97-AF65-F5344CB8AC3E}">
        <p14:creationId xmlns:p14="http://schemas.microsoft.com/office/powerpoint/2010/main" val="40196706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02783-F644-0493-44EC-AC0FB4C58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ZA" dirty="0"/>
              <a:t>I2C in context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AE5753-0631-3B50-CF5E-43C429E37681}"/>
              </a:ext>
            </a:extLst>
          </p:cNvPr>
          <p:cNvSpPr txBox="1"/>
          <p:nvPr/>
        </p:nvSpPr>
        <p:spPr>
          <a:xfrm>
            <a:off x="624075" y="1291130"/>
            <a:ext cx="786201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sz="2400" b="1" dirty="0"/>
              <a:t>Key Disadvantage: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Frame overhead (address and ACK bits) costs time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Hardware complexity increases as master/slave devices are added</a:t>
            </a:r>
          </a:p>
          <a:p>
            <a:pPr>
              <a:lnSpc>
                <a:spcPct val="90000"/>
              </a:lnSpc>
            </a:pPr>
            <a:endParaRPr lang="en-US" sz="2400" dirty="0"/>
          </a:p>
          <a:p>
            <a:pPr>
              <a:lnSpc>
                <a:spcPct val="90000"/>
              </a:lnSpc>
            </a:pPr>
            <a:r>
              <a:rPr lang="en-US" sz="2400" b="1" dirty="0"/>
              <a:t>Key Advantages: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Only 2 wires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Ack facilitates reliable operation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Easy support for multiple </a:t>
            </a:r>
            <a:r>
              <a:rPr lang="en-US" sz="2400" dirty="0" err="1"/>
              <a:t>Vdd</a:t>
            </a:r>
            <a:r>
              <a:rPr lang="en-US" sz="2400" dirty="0"/>
              <a:t> levels (assuming all ICs can tolerate highest level)</a:t>
            </a:r>
          </a:p>
        </p:txBody>
      </p:sp>
    </p:spTree>
    <p:extLst>
      <p:ext uri="{BB962C8B-B14F-4D97-AF65-F5344CB8AC3E}">
        <p14:creationId xmlns:p14="http://schemas.microsoft.com/office/powerpoint/2010/main" val="3056380851"/>
      </p:ext>
    </p:extLst>
  </p:cSld>
  <p:clrMapOvr>
    <a:masterClrMapping/>
  </p:clrMapOvr>
</p:sld>
</file>

<file path=ppt/theme/theme1.xml><?xml version="1.0" encoding="utf-8"?>
<a:theme xmlns:a="http://schemas.openxmlformats.org/drawingml/2006/main" name="ES2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12502</TotalTime>
  <Words>1014</Words>
  <Application>Microsoft Office PowerPoint</Application>
  <PresentationFormat>On-screen Show (4:3)</PresentationFormat>
  <Paragraphs>107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Arial Black</vt:lpstr>
      <vt:lpstr>Calibri</vt:lpstr>
      <vt:lpstr>ES2 Theme</vt:lpstr>
      <vt:lpstr>Embedded Communications 2/3</vt:lpstr>
      <vt:lpstr>Outline of Lecture</vt:lpstr>
      <vt:lpstr>ES Communications Training Plan</vt:lpstr>
      <vt:lpstr>PowerPoint Presentation</vt:lpstr>
      <vt:lpstr>I2C Protocol Overview</vt:lpstr>
      <vt:lpstr>I2C Protocol Overview</vt:lpstr>
      <vt:lpstr>Recap: Integrated Circuit Input/Outputs</vt:lpstr>
      <vt:lpstr>I2C Hardware</vt:lpstr>
      <vt:lpstr>I2C Protocol</vt:lpstr>
      <vt:lpstr>I2C Protocol: Master writes to Slave</vt:lpstr>
      <vt:lpstr>I2C Protocol: Master writes to Slave</vt:lpstr>
      <vt:lpstr>I2C Protocol: Master writes to Slave</vt:lpstr>
      <vt:lpstr>I2C Arbitration and clock stretching</vt:lpstr>
      <vt:lpstr>I2C in context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Embedded Communications 2/3</dc:title>
  <dc:creator>simon.winberg@uct.ac.za</dc:creator>
  <cp:keywords>Embedded Systems</cp:keywords>
  <cp:lastModifiedBy>Best Nkhumeleni</cp:lastModifiedBy>
  <cp:revision>905</cp:revision>
  <dcterms:created xsi:type="dcterms:W3CDTF">2013-08-21T19:17:07Z</dcterms:created>
  <dcterms:modified xsi:type="dcterms:W3CDTF">2025-09-02T19:14:23Z</dcterms:modified>
  <cp:category>Computer Enigneering</cp:category>
</cp:coreProperties>
</file>